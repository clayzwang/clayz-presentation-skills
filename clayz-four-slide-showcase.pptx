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19d2a475b9044385" /><ns0:Relationship Type="http://schemas.openxmlformats.org/officeDocument/2006/relationships/extended-properties" Target="/docProps/app.xml" Id="Rd32ffea79e1a4cea" /><ns0:Relationship Type="http://schemas.openxmlformats.org/officeDocument/2006/relationships/officeDocument" Target="/ppt/presentation.xml" Id="R937023787ae24abb" /><ns0:Relationship Id="rId1" Type="http://schemas.openxmlformats.org/officeDocument/2006/relationships/custom-properties" Target="docProps/custom.xml" /></ns0: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6d471e2a94e35"/>
  </p:sldMasterIdLst>
  <p:notesMasterIdLst>
    <p:notesMasterId xmlns:r="http://schemas.openxmlformats.org/officeDocument/2006/relationships" r:id="R7ee4004290a946f0"/>
  </p:notesMasterIdLst>
  <p:sldIdLst>
    <p:sldId xmlns:r="http://schemas.openxmlformats.org/officeDocument/2006/relationships" id="256" r:id="R70308a86097e4ead"/>
    <p:sldId xmlns:r="http://schemas.openxmlformats.org/officeDocument/2006/relationships" id="257" r:id="R304da6bacccc4ee7"/>
    <p:sldId xmlns:r="http://schemas.openxmlformats.org/officeDocument/2006/relationships" id="258" r:id="Raf50014dea254f45"/>
    <p:sldId xmlns:r="http://schemas.openxmlformats.org/officeDocument/2006/relationships" id="259" r:id="Ref6f36bba0a24c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a9e062b6114ca2" /><Relationship Type="http://schemas.openxmlformats.org/officeDocument/2006/relationships/slideMaster" Target="/ppt/slideMasters/slideMaster1.xml" Id="Rb286d471e2a94e35" /><Relationship Type="http://schemas.openxmlformats.org/officeDocument/2006/relationships/notesMaster" Target="/ppt/notesMasters/notesMaster1.xml" Id="R7ee4004290a946f0" /><Relationship Type="http://schemas.openxmlformats.org/officeDocument/2006/relationships/presProps" Target="/ppt/presProps.xml" Id="R2bfa1d0bfa264ec3" /><Relationship Type="http://schemas.openxmlformats.org/officeDocument/2006/relationships/tableStyles" Target="/ppt/tableStyles.xml" Id="R542a6e8f3dab486c" /><Relationship Type="http://schemas.openxmlformats.org/officeDocument/2006/relationships/slide" Target="/ppt/slides/slide1.xml" Id="R70308a86097e4ead" /><Relationship Type="http://schemas.openxmlformats.org/officeDocument/2006/relationships/slide" Target="/ppt/slides/slide2.xml" Id="R304da6bacccc4ee7" /><Relationship Type="http://schemas.openxmlformats.org/officeDocument/2006/relationships/slide" Target="/ppt/slides/slide3.xml" Id="Raf50014dea254f45" /><Relationship Type="http://schemas.openxmlformats.org/officeDocument/2006/relationships/slide" Target="/ppt/slides/slide4.xml" Id="Ref6f36bba0a24c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d07d0d0bcf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0ac198b1814e8d" /><Relationship Type="http://schemas.openxmlformats.org/officeDocument/2006/relationships/notesMaster" Target="/ppt/notesMasters/notesMaster1.xml" Id="R21430c32bf914a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cce9ce573f4f4b" /><Relationship Type="http://schemas.openxmlformats.org/officeDocument/2006/relationships/notesMaster" Target="/ppt/notesMasters/notesMaster1.xml" Id="R68a81745a26941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c1f7fdbb9e46ba" /><Relationship Type="http://schemas.openxmlformats.org/officeDocument/2006/relationships/notesMaster" Target="/ppt/notesMasters/notesMaster1.xml" Id="Rb32da8b227514f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ce334a92a94f15" /><Relationship Type="http://schemas.openxmlformats.org/officeDocument/2006/relationships/notesMaster" Target="/ppt/notesMasters/notesMaster1.xml" Id="R3c97f7945daf4a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https://www.mckinsey.com/about-us/overview</a:t>
            </a:r>
          </a:p>
          <a:p xmlns:a="http://schemas.openxmlformats.org/drawingml/2006/main">
            <a:r>
              <a:t>- https://www.mckinsey.com/locations</a:t>
            </a:r>
          </a:p>
          <a:p xmlns:a="http://schemas.openxmlformats.org/drawingml/2006/main">
            <a:r>
              <a:t>- https://www.mckinsey.com/us/overview</a:t>
            </a:r>
          </a:p>
          <a:p xmlns:a="http://schemas.openxmlformats.org/drawingml/2006/main">
            <a:r>
              <a:t>- https://www.mckinsey.com/about-us/overview/our-purpose-mission-and-values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Palette is an interpretive presentation treatment based on McKinsey's public visual identity, not an official brand-guideline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https://www.bcg.com/about/overview</a:t>
            </a:r>
          </a:p>
          <a:p xmlns:a="http://schemas.openxmlformats.org/drawingml/2006/main">
            <a:r>
              <a:t>- https://www.bcg.com/press/23april2026-bcg-revenue-22nd-consecutive-year-growth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Palette is an interpretive presentation treatment based on BCG's public green identity, not an official brand-guideline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https://group.pingan.com/investor_relations/results_and_presentations/2026/26-interim-results.html</a:t>
            </a:r>
          </a:p>
          <a:p xmlns:a="http://schemas.openxmlformats.org/drawingml/2006/main">
            <a:r>
              <a:t>- https://group.pingan.com/resource/pingan/IR-Docs/2026/pingan-interim26-press-release.pdf</a:t>
            </a:r>
          </a:p>
          <a:p xmlns:a="http://schemas.openxmlformats.org/drawingml/2006/main">
            <a:r>
              <a:t>- https://group.pingan.com/resource/pingan/IR-Docs/2026/pingan-interim26-results-presentation.pdf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All financial and operating figures shown are official Ping An 1H 2026 results released on 20 August 2026. No uploaded internal Ping An materials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https://github.com/clayzwang/clayz-presentation-skills/releases/tag/v0.2.0</a:t>
            </a:r>
          </a:p>
          <a:p xmlns:a="http://schemas.openxmlformats.org/drawingml/2006/main">
            <a:r>
              <a:t>- https://github.com/clayzwang/clayz-presentation-skills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Architecture and claims are derived from the public v0.2.0 repository documentation. The five learning and navigation layers ship empty; users decide what domain knowledge or real cases to add.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369e20b104d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129b9e6919427c" /><Relationship Type="http://schemas.openxmlformats.org/officeDocument/2006/relationships/slideLayout" Target="/ppt/slideLayouts/slideLayout1.xml" Id="R5789945cd50941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9945cd50941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4538fbdca4348" /><Relationship Type="http://schemas.openxmlformats.org/officeDocument/2006/relationships/notesSlide" Target="/ppt/notesSlides/notesSlide1.xml" Id="R426b8fc6e38541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b51d24a094028" /><Relationship Type="http://schemas.openxmlformats.org/officeDocument/2006/relationships/notesSlide" Target="/ppt/notesSlides/notesSlide2.xml" Id="R66643bfe92864c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14fcf95974f12" /><Relationship Type="http://schemas.openxmlformats.org/officeDocument/2006/relationships/notesSlide" Target="/ppt/notesSlides/notesSlide3.xml" Id="Raee928fabd4848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badbc70504067" /><Relationship Type="http://schemas.openxmlformats.org/officeDocument/2006/relationships/notesSlide" Target="/ppt/notesSlides/notesSlide4.xml" Id="R34e58393b02748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1-left-rail">
            <a:extLst xmlns:a="http://schemas.openxmlformats.org/drawingml/2006/main">
              <a:ext uri="{FF2B5EF4-FFF2-40B4-BE49-F238E27FC236}">
                <a16:creationId xmlns:a16="http://schemas.microsoft.com/office/drawing/2014/main" id="{2304A63A-643F-4ACC-8639-60D07D7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-top-accent">
            <a:extLst xmlns:a="http://schemas.openxmlformats.org/drawingml/2006/main">
              <a:ext uri="{FF2B5EF4-FFF2-40B4-BE49-F238E27FC236}">
                <a16:creationId xmlns:a16="http://schemas.microsoft.com/office/drawing/2014/main" id="{30E27A95-5E21-4005-AEAF-9AA7AF54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1198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1-brand">
            <a:extLst xmlns:a="http://schemas.openxmlformats.org/drawingml/2006/main">
              <a:ext uri="{FF2B5EF4-FFF2-40B4-BE49-F238E27FC236}">
                <a16:creationId xmlns:a16="http://schemas.microsoft.com/office/drawing/2014/main" id="{FFD63E27-4601-4D86-857B-4706C10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McKINSEY &amp; COMPANY</a:t>
            </a:r>
          </a:p>
        </p:txBody>
      </p:sp>
      <p:sp>
        <p:nvSpPr>
          <p:cNvPr id="4" name="s1-kicker">
            <a:extLst xmlns:a="http://schemas.openxmlformats.org/drawingml/2006/main">
              <a:ext uri="{FF2B5EF4-FFF2-40B4-BE49-F238E27FC236}">
                <a16:creationId xmlns:a16="http://schemas.microsoft.com/office/drawing/2014/main" id="{159DE195-B446-4796-A23A-7F315FFE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771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718A"/>
                </a:solidFill>
                <a:latin typeface="Aptos"/>
                <a:ea typeface="Aptos"/>
                <a:cs typeface="Aptos"/>
              </a:rPr>
              <a:t>1926—2026  |  100 YEARS OF MANAGEMENT COUNSEL</a:t>
            </a:r>
          </a:p>
        </p:txBody>
      </p:sp>
      <p:sp>
        <p:nvSpPr>
          <p:cNvPr id="5" name="s1-title-a">
            <a:extLst xmlns:a="http://schemas.openxmlformats.org/drawingml/2006/main">
              <a:ext uri="{FF2B5EF4-FFF2-40B4-BE49-F238E27FC236}">
                <a16:creationId xmlns:a16="http://schemas.microsoft.com/office/drawing/2014/main" id="{BF9D3ABB-B649-470A-9A43-C525BE2C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Compress complexity into</a:t>
            </a:r>
          </a:p>
        </p:txBody>
      </p:sp>
      <p:sp>
        <p:nvSpPr>
          <p:cNvPr id="6" name="s1-title-b">
            <a:extLst xmlns:a="http://schemas.openxmlformats.org/drawingml/2006/main">
              <a:ext uri="{FF2B5EF4-FFF2-40B4-BE49-F238E27FC236}">
                <a16:creationId xmlns:a16="http://schemas.microsoft.com/office/drawing/2014/main" id="{5E8A0FA0-0629-447A-885F-D9AF1BEF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77A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77A7"/>
                </a:solidFill>
                <a:latin typeface="Aptos Display"/>
                <a:ea typeface="Aptos Display"/>
                <a:cs typeface="Aptos Display"/>
              </a:rPr>
              <a:t>executable management choices</a:t>
            </a:r>
          </a:p>
        </p:txBody>
      </p:sp>
      <p:sp>
        <p:nvSpPr>
          <p:cNvPr id="7" name="s1-deck-message">
            <a:extLst xmlns:a="http://schemas.openxmlformats.org/drawingml/2006/main">
              <a:ext uri="{FF2B5EF4-FFF2-40B4-BE49-F238E27FC236}">
                <a16:creationId xmlns:a16="http://schemas.microsoft.com/office/drawing/2014/main" id="{6924B11C-D5BE-41CB-947D-28C75F73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74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3958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586A"/>
                </a:solidFill>
                <a:latin typeface="Aptos"/>
                <a:ea typeface="Aptos"/>
                <a:cs typeface="Aptos"/>
              </a:rPr>
              <a:t>Not a report—one value chain from judgment to design to execution.</a:t>
            </a:r>
          </a:p>
        </p:txBody>
      </p:sp>
      <p:sp>
        <p:nvSpPr>
          <p:cNvPr id="8" name="s1-lane-0-rule">
            <a:extLst xmlns:a="http://schemas.openxmlformats.org/drawingml/2006/main">
              <a:ext uri="{FF2B5EF4-FFF2-40B4-BE49-F238E27FC236}">
                <a16:creationId xmlns:a16="http://schemas.microsoft.com/office/drawing/2014/main" id="{0383E313-6CB6-4DE8-AE7F-2DC675D9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A6D9"/>
            </a:solidFill>
            <a:prstDash val="solid"/>
          </a:ln>
        </p:spPr>
      </p:sp>
      <p:sp>
        <p:nvSpPr>
          <p:cNvPr id="9" name="s1-lane-0-num">
            <a:extLst xmlns:a="http://schemas.openxmlformats.org/drawingml/2006/main">
              <a:ext uri="{FF2B5EF4-FFF2-40B4-BE49-F238E27FC236}">
                <a16:creationId xmlns:a16="http://schemas.microsoft.com/office/drawing/2014/main" id="{EBCC00D3-4570-4D2A-BC68-53CF511C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0A6D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A6D9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s1-lane-0-cn">
            <a:extLst xmlns:a="http://schemas.openxmlformats.org/drawingml/2006/main">
              <a:ext uri="{FF2B5EF4-FFF2-40B4-BE49-F238E27FC236}">
                <a16:creationId xmlns:a16="http://schemas.microsoft.com/office/drawing/2014/main" id="{EECD1C68-02EA-451C-A5BB-2E92A9B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622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JUDGMENT</a:t>
            </a:r>
          </a:p>
        </p:txBody>
      </p:sp>
      <p:sp>
        <p:nvSpPr>
          <p:cNvPr id="11" name="s1-lane-0-en">
            <a:extLst xmlns:a="http://schemas.openxmlformats.org/drawingml/2006/main">
              <a:ext uri="{FF2B5EF4-FFF2-40B4-BE49-F238E27FC236}">
                <a16:creationId xmlns:a16="http://schemas.microsoft.com/office/drawing/2014/main" id="{BC2FE0A2-54CE-4526-9B1B-7621BA74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03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771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718A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2" name="s1-lane-0-desc">
            <a:extLst xmlns:a="http://schemas.openxmlformats.org/drawingml/2006/main">
              <a:ext uri="{FF2B5EF4-FFF2-40B4-BE49-F238E27FC236}">
                <a16:creationId xmlns:a16="http://schemas.microsoft.com/office/drawing/2014/main" id="{63DC2D6A-E4DE-4F92-89B1-7BC53505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4322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3958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9586A"/>
                </a:solidFill>
                <a:latin typeface="Aptos"/>
                <a:ea typeface="Aptos"/>
                <a:cs typeface="Aptos"/>
              </a:rPr>
              <a:t>Frame the real problem; clarify trade-offs and sources of value</a:t>
            </a:r>
          </a:p>
        </p:txBody>
      </p:sp>
      <p:sp>
        <p:nvSpPr>
          <p:cNvPr id="13" name="s1-lane-1-rule">
            <a:extLst xmlns:a="http://schemas.openxmlformats.org/drawingml/2006/main">
              <a:ext uri="{FF2B5EF4-FFF2-40B4-BE49-F238E27FC236}">
                <a16:creationId xmlns:a16="http://schemas.microsoft.com/office/drawing/2014/main" id="{1526E700-6BAD-4FD5-B73E-4EAC9021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2DD"/>
            </a:solidFill>
            <a:prstDash val="solid"/>
          </a:ln>
        </p:spPr>
      </p:sp>
      <p:sp>
        <p:nvSpPr>
          <p:cNvPr id="14" name="s1-lane-1-num">
            <a:extLst xmlns:a="http://schemas.openxmlformats.org/drawingml/2006/main">
              <a:ext uri="{FF2B5EF4-FFF2-40B4-BE49-F238E27FC236}">
                <a16:creationId xmlns:a16="http://schemas.microsoft.com/office/drawing/2014/main" id="{D99BB160-9ACD-49A2-89E4-2C03361F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7C9AA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7C9AA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s1-lane-1-cn">
            <a:extLst xmlns:a="http://schemas.openxmlformats.org/drawingml/2006/main">
              <a:ext uri="{FF2B5EF4-FFF2-40B4-BE49-F238E27FC236}">
                <a16:creationId xmlns:a16="http://schemas.microsoft.com/office/drawing/2014/main" id="{15D046F8-C482-41E4-9636-577187EC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DESIGN</a:t>
            </a:r>
          </a:p>
        </p:txBody>
      </p:sp>
      <p:sp>
        <p:nvSpPr>
          <p:cNvPr id="16" name="s1-lane-1-en">
            <a:extLst xmlns:a="http://schemas.openxmlformats.org/drawingml/2006/main">
              <a:ext uri="{FF2B5EF4-FFF2-40B4-BE49-F238E27FC236}">
                <a16:creationId xmlns:a16="http://schemas.microsoft.com/office/drawing/2014/main" id="{F7FCD285-5FDE-43F0-821B-E765BC30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957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771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718A"/>
                </a:solidFill>
                <a:latin typeface="Aptos"/>
                <a:ea typeface="Aptos"/>
                <a:cs typeface="Aptos"/>
              </a:rPr>
              <a:t>TRANSFORMATION</a:t>
            </a:r>
          </a:p>
        </p:txBody>
      </p:sp>
      <p:sp>
        <p:nvSpPr>
          <p:cNvPr id="17" name="s1-lane-1-desc">
            <a:extLst xmlns:a="http://schemas.openxmlformats.org/drawingml/2006/main">
              <a:ext uri="{FF2B5EF4-FFF2-40B4-BE49-F238E27FC236}">
                <a16:creationId xmlns:a16="http://schemas.microsoft.com/office/drawing/2014/main" id="{2177B6EA-32D1-41B8-B4F0-524788B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3857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3958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9586A"/>
                </a:solidFill>
                <a:latin typeface="Aptos"/>
                <a:ea typeface="Aptos"/>
                <a:cs typeface="Aptos"/>
              </a:rPr>
              <a:t>Translate ambition into organization, process, and capability</a:t>
            </a:r>
          </a:p>
        </p:txBody>
      </p:sp>
      <p:sp>
        <p:nvSpPr>
          <p:cNvPr id="18" name="s1-lane-2-rule">
            <a:extLst xmlns:a="http://schemas.openxmlformats.org/drawingml/2006/main">
              <a:ext uri="{FF2B5EF4-FFF2-40B4-BE49-F238E27FC236}">
                <a16:creationId xmlns:a16="http://schemas.microsoft.com/office/drawing/2014/main" id="{A1E42C72-C083-418A-913F-B37F723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2DD"/>
            </a:solidFill>
            <a:prstDash val="solid"/>
          </a:ln>
        </p:spPr>
      </p:sp>
      <p:sp>
        <p:nvSpPr>
          <p:cNvPr id="19" name="s1-lane-2-num">
            <a:extLst xmlns:a="http://schemas.openxmlformats.org/drawingml/2006/main">
              <a:ext uri="{FF2B5EF4-FFF2-40B4-BE49-F238E27FC236}">
                <a16:creationId xmlns:a16="http://schemas.microsoft.com/office/drawing/2014/main" id="{C7EE3663-6C58-4E7A-B756-50B54DF4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7C9AA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7C9AA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s1-lane-2-cn">
            <a:extLst xmlns:a="http://schemas.openxmlformats.org/drawingml/2006/main">
              <a:ext uri="{FF2B5EF4-FFF2-40B4-BE49-F238E27FC236}">
                <a16:creationId xmlns:a16="http://schemas.microsoft.com/office/drawing/2014/main" id="{B5A43BEA-F335-42CE-B737-EC8D526E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529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EXECUTION</a:t>
            </a:r>
          </a:p>
        </p:txBody>
      </p:sp>
      <p:sp>
        <p:nvSpPr>
          <p:cNvPr id="21" name="s1-lane-2-en">
            <a:extLst xmlns:a="http://schemas.openxmlformats.org/drawingml/2006/main">
              <a:ext uri="{FF2B5EF4-FFF2-40B4-BE49-F238E27FC236}">
                <a16:creationId xmlns:a16="http://schemas.microsoft.com/office/drawing/2014/main" id="{E469E576-A81D-44BE-8578-49D80E7C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910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771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718A"/>
                </a:solidFill>
                <a:latin typeface="Aptos"/>
                <a:ea typeface="Aptos"/>
                <a:cs typeface="Aptos"/>
              </a:rPr>
              <a:t>TECH &amp; AI</a:t>
            </a:r>
          </a:p>
        </p:txBody>
      </p:sp>
      <p:sp>
        <p:nvSpPr>
          <p:cNvPr id="22" name="s1-lane-2-desc">
            <a:extLst xmlns:a="http://schemas.openxmlformats.org/drawingml/2006/main">
              <a:ext uri="{FF2B5EF4-FFF2-40B4-BE49-F238E27FC236}">
                <a16:creationId xmlns:a16="http://schemas.microsoft.com/office/drawing/2014/main" id="{1C4960ED-845E-432D-8AAC-A5D6FC00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3392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3958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9586A"/>
                </a:solidFill>
                <a:latin typeface="Aptos"/>
                <a:ea typeface="Aptos"/>
                <a:cs typeface="Aptos"/>
              </a:rPr>
              <a:t>Embed technology, talent, and operating mechanisms at the front line</a:t>
            </a:r>
          </a:p>
        </p:txBody>
      </p:sp>
      <p:sp>
        <p:nvSpPr>
          <p:cNvPr id="23" name="s1-orbit-outer">
            <a:extLst xmlns:a="http://schemas.openxmlformats.org/drawingml/2006/main">
              <a:ext uri="{FF2B5EF4-FFF2-40B4-BE49-F238E27FC236}">
                <a16:creationId xmlns:a16="http://schemas.microsoft.com/office/drawing/2014/main" id="{B449D521-F1DD-4337-ADB4-D49BA302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2382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9050">
            <a:solidFill>
              <a:srgbClr val="BCD2DD"/>
            </a:solidFill>
            <a:prstDash val="solid"/>
          </a:ln>
        </p:spPr>
      </p:sp>
      <p:sp>
        <p:nvSpPr>
          <p:cNvPr id="24" name="s1-orbit-mid">
            <a:extLst xmlns:a="http://schemas.openxmlformats.org/drawingml/2006/main">
              <a:ext uri="{FF2B5EF4-FFF2-40B4-BE49-F238E27FC236}">
                <a16:creationId xmlns:a16="http://schemas.microsoft.com/office/drawing/2014/main" id="{DF1749D2-6C3D-4904-9059-8ACA6BE0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F7"/>
          </a:solidFill>
          <a:ln xmlns:a="http://schemas.openxmlformats.org/drawingml/2006/main" w="9525">
            <a:solidFill>
              <a:srgbClr val="8DB8C9"/>
            </a:solidFill>
            <a:prstDash val="solid"/>
          </a:ln>
        </p:spPr>
      </p:sp>
      <p:sp>
        <p:nvSpPr>
          <p:cNvPr id="25" name="s1-orbit-core">
            <a:extLst xmlns:a="http://schemas.openxmlformats.org/drawingml/2006/main">
              <a:ext uri="{FF2B5EF4-FFF2-40B4-BE49-F238E27FC236}">
                <a16:creationId xmlns:a16="http://schemas.microsoft.com/office/drawing/2014/main" id="{32519C3A-E77A-4BC1-B9F4-D0B4472B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6695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-one-firm">
            <a:extLst xmlns:a="http://schemas.openxmlformats.org/drawingml/2006/main">
              <a:ext uri="{FF2B5EF4-FFF2-40B4-BE49-F238E27FC236}">
                <a16:creationId xmlns:a16="http://schemas.microsoft.com/office/drawing/2014/main" id="{6FFCE611-DED9-494C-9C9B-5F2C315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118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FIRM</a:t>
            </a:r>
          </a:p>
        </p:txBody>
      </p:sp>
      <p:sp>
        <p:nvSpPr>
          <p:cNvPr id="27" name="s1-metric-city-value">
            <a:extLst xmlns:a="http://schemas.openxmlformats.org/drawingml/2006/main">
              <a:ext uri="{FF2B5EF4-FFF2-40B4-BE49-F238E27FC236}">
                <a16:creationId xmlns:a16="http://schemas.microsoft.com/office/drawing/2014/main" id="{D28F1513-8C7C-4652-9EC8-B4955FFA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049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67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77A7"/>
                </a:solidFill>
                <a:latin typeface="Noto Sans CJK SC"/>
                <a:ea typeface="Noto Sans CJK SC"/>
                <a:cs typeface="Noto Sans CJK SC"/>
              </a:rPr>
              <a:t>130+</a:t>
            </a:r>
          </a:p>
        </p:txBody>
      </p:sp>
      <p:sp>
        <p:nvSpPr>
          <p:cNvPr id="28" name="s1-metric-city-label">
            <a:extLst xmlns:a="http://schemas.openxmlformats.org/drawingml/2006/main">
              <a:ext uri="{FF2B5EF4-FFF2-40B4-BE49-F238E27FC236}">
                <a16:creationId xmlns:a16="http://schemas.microsoft.com/office/drawing/2014/main" id="{9609516F-D23A-45E4-9564-7631DF5E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4771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7718A"/>
                </a:solidFill>
                <a:latin typeface="Noto Sans CJK SC"/>
                <a:ea typeface="Noto Sans CJK SC"/>
                <a:cs typeface="Noto Sans CJK SC"/>
              </a:rPr>
              <a:t>GLOBAL CITIES</a:t>
            </a:r>
          </a:p>
        </p:txBody>
      </p:sp>
      <p:sp>
        <p:nvSpPr>
          <p:cNvPr id="29" name="s1-metric-country-value">
            <a:extLst xmlns:a="http://schemas.openxmlformats.org/drawingml/2006/main">
              <a:ext uri="{FF2B5EF4-FFF2-40B4-BE49-F238E27FC236}">
                <a16:creationId xmlns:a16="http://schemas.microsoft.com/office/drawing/2014/main" id="{DF0D4BCA-E47A-46D0-BC80-336E18FE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954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67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77A7"/>
                </a:solidFill>
                <a:latin typeface="Noto Sans CJK SC"/>
                <a:ea typeface="Noto Sans CJK SC"/>
                <a:cs typeface="Noto Sans CJK SC"/>
              </a:rPr>
              <a:t>65+</a:t>
            </a:r>
          </a:p>
        </p:txBody>
      </p:sp>
      <p:sp>
        <p:nvSpPr>
          <p:cNvPr id="30" name="s1-metric-country-label">
            <a:extLst xmlns:a="http://schemas.openxmlformats.org/drawingml/2006/main">
              <a:ext uri="{FF2B5EF4-FFF2-40B4-BE49-F238E27FC236}">
                <a16:creationId xmlns:a16="http://schemas.microsoft.com/office/drawing/2014/main" id="{67A92CDD-A5E5-4C67-A797-76CBB49C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4771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7718A"/>
                </a:solidFill>
                <a:latin typeface="Noto Sans CJK SC"/>
                <a:ea typeface="Noto Sans CJK SC"/>
                <a:cs typeface="Noto Sans CJK SC"/>
              </a:rPr>
              <a:t>COUNTRIES</a:t>
            </a:r>
          </a:p>
        </p:txBody>
      </p:sp>
      <p:sp>
        <p:nvSpPr>
          <p:cNvPr id="31" name="s1-metric-alumni-value">
            <a:extLst xmlns:a="http://schemas.openxmlformats.org/drawingml/2006/main">
              <a:ext uri="{FF2B5EF4-FFF2-40B4-BE49-F238E27FC236}">
                <a16:creationId xmlns:a16="http://schemas.microsoft.com/office/drawing/2014/main" id="{6C5C3B49-D00A-4F34-82AA-D232E78B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909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67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77A7"/>
                </a:solidFill>
                <a:latin typeface="Noto Sans CJK SC"/>
                <a:ea typeface="Noto Sans CJK SC"/>
                <a:cs typeface="Noto Sans CJK SC"/>
              </a:rPr>
              <a:t>50k+</a:t>
            </a:r>
          </a:p>
        </p:txBody>
      </p:sp>
      <p:sp>
        <p:nvSpPr>
          <p:cNvPr id="32" name="s1-metric-alumni-label">
            <a:extLst xmlns:a="http://schemas.openxmlformats.org/drawingml/2006/main">
              <a:ext uri="{FF2B5EF4-FFF2-40B4-BE49-F238E27FC236}">
                <a16:creationId xmlns:a16="http://schemas.microsoft.com/office/drawing/2014/main" id="{722880E8-5798-4F61-8D00-8F3B4CF2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910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4771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7718A"/>
                </a:solidFill>
                <a:latin typeface="Noto Sans CJK SC"/>
                <a:ea typeface="Noto Sans CJK SC"/>
                <a:cs typeface="Noto Sans CJK SC"/>
              </a:rPr>
              <a:t>GLOBAL ALUMNI</a:t>
            </a:r>
          </a:p>
        </p:txBody>
      </p:sp>
      <p:sp>
        <p:nvSpPr>
          <p:cNvPr id="33" name="s1-metric-year-value">
            <a:extLst xmlns:a="http://schemas.openxmlformats.org/drawingml/2006/main">
              <a:ext uri="{FF2B5EF4-FFF2-40B4-BE49-F238E27FC236}">
                <a16:creationId xmlns:a16="http://schemas.microsoft.com/office/drawing/2014/main" id="{AFABE45F-C2CD-4A89-AF89-88FF2F34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38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67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77A7"/>
                </a:solidFill>
                <a:latin typeface="Noto Sans CJK SC"/>
                <a:ea typeface="Noto Sans CJK SC"/>
                <a:cs typeface="Noto Sans CJK SC"/>
              </a:rPr>
              <a:t>1926</a:t>
            </a:r>
          </a:p>
        </p:txBody>
      </p:sp>
      <p:sp>
        <p:nvSpPr>
          <p:cNvPr id="34" name="s1-metric-year-label">
            <a:extLst xmlns:a="http://schemas.openxmlformats.org/drawingml/2006/main">
              <a:ext uri="{FF2B5EF4-FFF2-40B4-BE49-F238E27FC236}">
                <a16:creationId xmlns:a16="http://schemas.microsoft.com/office/drawing/2014/main" id="{C763E3DF-BAF6-4511-BBB5-5B4B0FB2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387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4771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7718A"/>
                </a:solidFill>
                <a:latin typeface="Noto Sans CJK SC"/>
                <a:ea typeface="Noto Sans CJK SC"/>
                <a:cs typeface="Noto Sans CJK SC"/>
              </a:rPr>
              <a:t>FOUNDED IN CHICAGO</a:t>
            </a:r>
          </a:p>
        </p:txBody>
      </p:sp>
      <p:sp>
        <p:nvSpPr>
          <p:cNvPr id="35" name="s1-aspiration">
            <a:extLst xmlns:a="http://schemas.openxmlformats.org/drawingml/2006/main">
              <a:ext uri="{FF2B5EF4-FFF2-40B4-BE49-F238E27FC236}">
                <a16:creationId xmlns:a16="http://schemas.microsoft.com/office/drawing/2014/main" id="{9D0E784C-665C-4E17-ADF8-52AD85DC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Sustainability × Inclusion × Growth</a:t>
            </a:r>
          </a:p>
        </p:txBody>
      </p:sp>
      <p:sp>
        <p:nvSpPr>
          <p:cNvPr id="36" name="s1-aspiration-sub">
            <a:extLst xmlns:a="http://schemas.openxmlformats.org/drawingml/2006/main">
              <a:ext uri="{FF2B5EF4-FFF2-40B4-BE49-F238E27FC236}">
                <a16:creationId xmlns:a16="http://schemas.microsoft.com/office/drawing/2014/main" id="{C77347E0-4E77-4BD7-A8D0-C02AD5DB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531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4771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718A"/>
                </a:solidFill>
                <a:latin typeface="Aptos"/>
                <a:ea typeface="Aptos"/>
                <a:cs typeface="Aptos"/>
              </a:rPr>
              <a:t>One global partnership brings the right capabilities to every local problem.</a:t>
            </a:r>
          </a:p>
        </p:txBody>
      </p:sp>
      <p:sp>
        <p:nvSpPr>
          <p:cNvPr id="37" name="01 / McKINSEY-footer-rule">
            <a:extLst xmlns:a="http://schemas.openxmlformats.org/drawingml/2006/main">
              <a:ext uri="{FF2B5EF4-FFF2-40B4-BE49-F238E27FC236}">
                <a16:creationId xmlns:a16="http://schemas.microsoft.com/office/drawing/2014/main" id="{583753D4-D5CD-4952-9DA8-14440F3F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A7B6"/>
            </a:solidFill>
            <a:prstDash val="solid"/>
          </a:ln>
        </p:spPr>
      </p:sp>
      <p:sp>
        <p:nvSpPr>
          <p:cNvPr id="38" name="01 / McKINSEY-footer-left">
            <a:extLst xmlns:a="http://schemas.openxmlformats.org/drawingml/2006/main">
              <a:ext uri="{FF2B5EF4-FFF2-40B4-BE49-F238E27FC236}">
                <a16:creationId xmlns:a16="http://schemas.microsoft.com/office/drawing/2014/main" id="{4077E32F-C5B2-4B57-9BEF-14141403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BA7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8BA7B6"/>
                </a:solidFill>
                <a:latin typeface="Noto Sans CJK SC"/>
                <a:ea typeface="Noto Sans CJK SC"/>
                <a:cs typeface="Noto Sans CJK SC"/>
              </a:rPr>
              <a:t>PUBLIC OFFICIAL SOURCES • DETAILS IN SPEAKER NOTES</a:t>
            </a:r>
          </a:p>
        </p:txBody>
      </p:sp>
      <p:sp>
        <p:nvSpPr>
          <p:cNvPr id="39" name="01 / McKINSEY-footer-right">
            <a:extLst xmlns:a="http://schemas.openxmlformats.org/drawingml/2006/main">
              <a:ext uri="{FF2B5EF4-FFF2-40B4-BE49-F238E27FC236}">
                <a16:creationId xmlns:a16="http://schemas.microsoft.com/office/drawing/2014/main" id="{BDFD8AC0-B960-4999-833B-5768F347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8177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01 / McKINSEY</a:t>
            </a:r>
          </a:p>
        </p:txBody>
      </p:sp>
    </p:spTree>
    <p:extLst>
      <p:ext uri="{BB962C8B-B14F-4D97-AF65-F5344CB8AC3E}">
        <p14:creationId xmlns:p14="http://schemas.microsoft.com/office/powerpoint/2010/main" val="392180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2-edge">
            <a:extLst xmlns:a="http://schemas.openxmlformats.org/drawingml/2006/main">
              <a:ext uri="{FF2B5EF4-FFF2-40B4-BE49-F238E27FC236}">
                <a16:creationId xmlns:a16="http://schemas.microsoft.com/office/drawing/2014/main" id="{2B61B1EF-F87B-403A-87F8-68B5F279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2-brand">
            <a:extLst xmlns:a="http://schemas.openxmlformats.org/drawingml/2006/main">
              <a:ext uri="{FF2B5EF4-FFF2-40B4-BE49-F238E27FC236}">
                <a16:creationId xmlns:a16="http://schemas.microsoft.com/office/drawing/2014/main" id="{3D4AABAA-ED74-46B6-9C7F-DAE896B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DEBD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CDEBD8"/>
                </a:solidFill>
                <a:latin typeface="Aptos Display"/>
                <a:ea typeface="Aptos Display"/>
                <a:cs typeface="Aptos Display"/>
              </a:rPr>
              <a:t>BOSTON CONSULTING GROUP</a:t>
            </a:r>
          </a:p>
        </p:txBody>
      </p:sp>
      <p:sp>
        <p:nvSpPr>
          <p:cNvPr id="3" name="s2-snapshot">
            <a:extLst xmlns:a="http://schemas.openxmlformats.org/drawingml/2006/main">
              <a:ext uri="{FF2B5EF4-FFF2-40B4-BE49-F238E27FC236}">
                <a16:creationId xmlns:a16="http://schemas.microsoft.com/office/drawing/2014/main" id="{A921094E-00D4-4E34-8DC8-66E0C8F6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82B9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2B99D"/>
                </a:solidFill>
                <a:latin typeface="Aptos"/>
                <a:ea typeface="Aptos"/>
                <a:cs typeface="Aptos"/>
              </a:rPr>
              <a:t>2025 SNAPSHOT  |  LATEST OFFICIAL FACTS</a:t>
            </a:r>
          </a:p>
        </p:txBody>
      </p:sp>
      <p:sp>
        <p:nvSpPr>
          <p:cNvPr id="4" name="s2-title-a">
            <a:extLst xmlns:a="http://schemas.openxmlformats.org/drawingml/2006/main">
              <a:ext uri="{FF2B5EF4-FFF2-40B4-BE49-F238E27FC236}">
                <a16:creationId xmlns:a16="http://schemas.microsoft.com/office/drawing/2014/main" id="{05AF58C8-1964-4119-8741-4A2F842C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Strategic clarity × Applied AI</a:t>
            </a:r>
          </a:p>
        </p:txBody>
      </p:sp>
      <p:sp>
        <p:nvSpPr>
          <p:cNvPr id="5" name="s2-title-b">
            <a:extLst xmlns:a="http://schemas.openxmlformats.org/drawingml/2006/main">
              <a:ext uri="{FF2B5EF4-FFF2-40B4-BE49-F238E27FC236}">
                <a16:creationId xmlns:a16="http://schemas.microsoft.com/office/drawing/2014/main" id="{19500086-AC5E-4F52-A7B7-397F4173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A7E17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A7E17A"/>
                </a:solidFill>
                <a:latin typeface="Aptos Display"/>
                <a:ea typeface="Aptos Display"/>
                <a:cs typeface="Aptos Display"/>
              </a:rPr>
              <a:t>Turning ambition into outcomes</a:t>
            </a:r>
          </a:p>
        </p:txBody>
      </p:sp>
      <p:sp>
        <p:nvSpPr>
          <p:cNvPr id="6" name="s2-thesis">
            <a:extLst xmlns:a="http://schemas.openxmlformats.org/drawingml/2006/main">
              <a:ext uri="{FF2B5EF4-FFF2-40B4-BE49-F238E27FC236}">
                <a16:creationId xmlns:a16="http://schemas.microsoft.com/office/drawing/2014/main" id="{438B2CCC-CDF7-4355-B2C0-A63500B2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DEBD8"/>
                </a:solidFill>
                <a:latin typeface="Aptos"/>
                <a:ea typeface="Aptos"/>
                <a:cs typeface="Aptos"/>
              </a:rPr>
              <a:t>BCG combines strategy, technology, and change in one delivery model—answering not only what to do, but how to scale it.</a:t>
            </a:r>
          </a:p>
        </p:txBody>
      </p:sp>
      <p:sp>
        <p:nvSpPr>
          <p:cNvPr id="7" name="s2-metric-top">
            <a:extLst xmlns:a="http://schemas.openxmlformats.org/drawingml/2006/main">
              <a:ext uri="{FF2B5EF4-FFF2-40B4-BE49-F238E27FC236}">
                <a16:creationId xmlns:a16="http://schemas.microsoft.com/office/drawing/2014/main" id="{46DCE0D0-43CE-402C-9A13-4B721260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B59"/>
            </a:solidFill>
            <a:prstDash val="solid"/>
          </a:ln>
        </p:spPr>
      </p:sp>
      <p:sp>
        <p:nvSpPr>
          <p:cNvPr id="8" name="s2-metric-0-v">
            <a:extLst xmlns:a="http://schemas.openxmlformats.org/drawingml/2006/main">
              <a:ext uri="{FF2B5EF4-FFF2-40B4-BE49-F238E27FC236}">
                <a16:creationId xmlns:a16="http://schemas.microsoft.com/office/drawing/2014/main" id="{E14D3A6F-1483-4DB9-B68A-7F8A0B75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$14.4B</a:t>
            </a:r>
          </a:p>
        </p:txBody>
      </p:sp>
      <p:sp>
        <p:nvSpPr>
          <p:cNvPr id="9" name="s2-metric-0-l">
            <a:extLst xmlns:a="http://schemas.openxmlformats.org/drawingml/2006/main">
              <a:ext uri="{FF2B5EF4-FFF2-40B4-BE49-F238E27FC236}">
                <a16:creationId xmlns:a16="http://schemas.microsoft.com/office/drawing/2014/main" id="{77C16E78-8DCC-4E2F-8994-8FDBBCED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DC8B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C8B3"/>
                </a:solidFill>
                <a:latin typeface="Aptos"/>
                <a:ea typeface="Aptos"/>
                <a:cs typeface="Aptos"/>
              </a:rPr>
              <a:t>2025 GLOBAL REVENUE</a:t>
            </a:r>
          </a:p>
        </p:txBody>
      </p:sp>
      <p:sp>
        <p:nvSpPr>
          <p:cNvPr id="10" name="s2-metric-1-v">
            <a:extLst xmlns:a="http://schemas.openxmlformats.org/drawingml/2006/main">
              <a:ext uri="{FF2B5EF4-FFF2-40B4-BE49-F238E27FC236}">
                <a16:creationId xmlns:a16="http://schemas.microsoft.com/office/drawing/2014/main" id="{2CE04444-3A52-4671-BF4C-3EB61EED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289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+7%</a:t>
            </a:r>
          </a:p>
        </p:txBody>
      </p:sp>
      <p:sp>
        <p:nvSpPr>
          <p:cNvPr id="11" name="s2-metric-1-l">
            <a:extLst xmlns:a="http://schemas.openxmlformats.org/drawingml/2006/main">
              <a:ext uri="{FF2B5EF4-FFF2-40B4-BE49-F238E27FC236}">
                <a16:creationId xmlns:a16="http://schemas.microsoft.com/office/drawing/2014/main" id="{1F68689F-8C35-442A-AC65-620F7136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DC8B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C8B3"/>
                </a:solidFill>
                <a:latin typeface="Aptos"/>
                <a:ea typeface="Aptos"/>
                <a:cs typeface="Aptos"/>
              </a:rPr>
              <a:t>GLOBAL REVENUE GROWTH</a:t>
            </a:r>
          </a:p>
        </p:txBody>
      </p:sp>
      <p:sp>
        <p:nvSpPr>
          <p:cNvPr id="12" name="s2-metric-2-v">
            <a:extLst xmlns:a="http://schemas.openxmlformats.org/drawingml/2006/main">
              <a:ext uri="{FF2B5EF4-FFF2-40B4-BE49-F238E27FC236}">
                <a16:creationId xmlns:a16="http://schemas.microsoft.com/office/drawing/2014/main" id="{92F1B236-8A64-4A99-B257-F880E88A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289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33.5K</a:t>
            </a:r>
          </a:p>
        </p:txBody>
      </p:sp>
      <p:sp>
        <p:nvSpPr>
          <p:cNvPr id="13" name="s2-metric-2-l">
            <a:extLst xmlns:a="http://schemas.openxmlformats.org/drawingml/2006/main">
              <a:ext uri="{FF2B5EF4-FFF2-40B4-BE49-F238E27FC236}">
                <a16:creationId xmlns:a16="http://schemas.microsoft.com/office/drawing/2014/main" id="{5A7580FA-E9F3-4F0A-952A-93EF3D4F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DC8B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C8B3"/>
                </a:solidFill>
                <a:latin typeface="Aptos"/>
                <a:ea typeface="Aptos"/>
                <a:cs typeface="Aptos"/>
              </a:rPr>
              <a:t>GLOBAL EMPLOYEES</a:t>
            </a:r>
          </a:p>
        </p:txBody>
      </p:sp>
      <p:sp>
        <p:nvSpPr>
          <p:cNvPr id="14" name="s2-metric-3-v">
            <a:extLst xmlns:a="http://schemas.openxmlformats.org/drawingml/2006/main">
              <a:ext uri="{FF2B5EF4-FFF2-40B4-BE49-F238E27FC236}">
                <a16:creationId xmlns:a16="http://schemas.microsoft.com/office/drawing/2014/main" id="{5D1E50B8-3838-41ED-9AD5-325672D8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289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A7E17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A7E17A"/>
                </a:solidFill>
                <a:latin typeface="Aptos Display"/>
                <a:ea typeface="Aptos Display"/>
                <a:cs typeface="Aptos Display"/>
              </a:rPr>
              <a:t>&gt;40%</a:t>
            </a:r>
          </a:p>
        </p:txBody>
      </p:sp>
      <p:sp>
        <p:nvSpPr>
          <p:cNvPr id="15" name="s2-metric-3-l">
            <a:extLst xmlns:a="http://schemas.openxmlformats.org/drawingml/2006/main">
              <a:ext uri="{FF2B5EF4-FFF2-40B4-BE49-F238E27FC236}">
                <a16:creationId xmlns:a16="http://schemas.microsoft.com/office/drawing/2014/main" id="{10BD79EB-4983-418B-ACD7-9E7FEA48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DC8B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C8B3"/>
                </a:solidFill>
                <a:latin typeface="Aptos"/>
                <a:ea typeface="Aptos"/>
                <a:cs typeface="Aptos"/>
              </a:rPr>
              <a:t>REVENUE FROM TECH &amp; AI</a:t>
            </a:r>
          </a:p>
        </p:txBody>
      </p:sp>
      <p:sp>
        <p:nvSpPr>
          <p:cNvPr id="16" name="s2-ramp-left">
            <a:extLst xmlns:a="http://schemas.openxmlformats.org/drawingml/2006/main">
              <a:ext uri="{FF2B5EF4-FFF2-40B4-BE49-F238E27FC236}">
                <a16:creationId xmlns:a16="http://schemas.microsoft.com/office/drawing/2014/main" id="{8626669C-D054-4D8D-B6B0-314674FF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2B9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2B99D"/>
                </a:solidFill>
                <a:latin typeface="Aptos"/>
                <a:ea typeface="Aptos"/>
                <a:cs typeface="Aptos"/>
              </a:rPr>
              <a:t>AMBITION</a:t>
            </a:r>
          </a:p>
        </p:txBody>
      </p:sp>
      <p:sp>
        <p:nvSpPr>
          <p:cNvPr id="17" name="s2-ramp-right">
            <a:extLst xmlns:a="http://schemas.openxmlformats.org/drawingml/2006/main">
              <a:ext uri="{FF2B5EF4-FFF2-40B4-BE49-F238E27FC236}">
                <a16:creationId xmlns:a16="http://schemas.microsoft.com/office/drawing/2014/main" id="{28C6EC2C-81D0-4079-8E49-5F51C090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719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A7E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E17A"/>
                </a:solidFill>
                <a:latin typeface="Aptos"/>
                <a:ea typeface="Aptos"/>
                <a:cs typeface="Aptos"/>
              </a:rPr>
              <a:t>OUTCOMES</a:t>
            </a:r>
          </a:p>
        </p:txBody>
      </p:sp>
      <p:sp>
        <p:nvSpPr>
          <p:cNvPr id="18" name="s2-step-0">
            <a:extLst xmlns:a="http://schemas.openxmlformats.org/drawingml/2006/main">
              <a:ext uri="{FF2B5EF4-FFF2-40B4-BE49-F238E27FC236}">
                <a16:creationId xmlns:a16="http://schemas.microsoft.com/office/drawing/2014/main" id="{D3D75350-BCFB-42FE-A893-595DB550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52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2-step-0-t">
            <a:extLst xmlns:a="http://schemas.openxmlformats.org/drawingml/2006/main">
              <a:ext uri="{FF2B5EF4-FFF2-40B4-BE49-F238E27FC236}">
                <a16:creationId xmlns:a16="http://schemas.microsoft.com/office/drawing/2014/main" id="{052E21B9-4803-4112-A76F-A50D403C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STRATEGY</a:t>
            </a:r>
          </a:p>
        </p:txBody>
      </p:sp>
      <p:sp>
        <p:nvSpPr>
          <p:cNvPr id="20" name="s2-step-0-s">
            <a:extLst xmlns:a="http://schemas.openxmlformats.org/drawingml/2006/main">
              <a:ext uri="{FF2B5EF4-FFF2-40B4-BE49-F238E27FC236}">
                <a16:creationId xmlns:a16="http://schemas.microsoft.com/office/drawing/2014/main" id="{323A1BB0-3E92-4FBB-8C75-20699527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DEBD8"/>
                </a:solidFill>
                <a:latin typeface="Aptos"/>
                <a:ea typeface="Aptos"/>
                <a:cs typeface="Aptos"/>
              </a:rPr>
              <a:t>RIGHT CHOICES</a:t>
            </a:r>
          </a:p>
        </p:txBody>
      </p:sp>
      <p:sp>
        <p:nvSpPr>
          <p:cNvPr id="21" name="s2-step-1">
            <a:extLst xmlns:a="http://schemas.openxmlformats.org/drawingml/2006/main">
              <a:ext uri="{FF2B5EF4-FFF2-40B4-BE49-F238E27FC236}">
                <a16:creationId xmlns:a16="http://schemas.microsoft.com/office/drawing/2014/main" id="{614696BF-F4CD-4226-AC00-2BBFCCE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2-step-1-t">
            <a:extLst xmlns:a="http://schemas.openxmlformats.org/drawingml/2006/main">
              <a:ext uri="{FF2B5EF4-FFF2-40B4-BE49-F238E27FC236}">
                <a16:creationId xmlns:a16="http://schemas.microsoft.com/office/drawing/2014/main" id="{E170168F-E367-40F9-813A-16AEE6BE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00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</p:txBody>
      </p:sp>
      <p:sp>
        <p:nvSpPr>
          <p:cNvPr id="23" name="s2-step-1-s">
            <a:extLst xmlns:a="http://schemas.openxmlformats.org/drawingml/2006/main">
              <a:ext uri="{FF2B5EF4-FFF2-40B4-BE49-F238E27FC236}">
                <a16:creationId xmlns:a16="http://schemas.microsoft.com/office/drawing/2014/main" id="{179008AA-7D71-4B98-A106-9B6CA26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76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DEBD8"/>
                </a:solidFill>
                <a:latin typeface="Aptos"/>
                <a:ea typeface="Aptos"/>
                <a:cs typeface="Aptos"/>
              </a:rPr>
              <a:t>EMBED IN BUSINESS</a:t>
            </a:r>
          </a:p>
        </p:txBody>
      </p:sp>
      <p:sp>
        <p:nvSpPr>
          <p:cNvPr id="24" name="s2-step-2">
            <a:extLst xmlns:a="http://schemas.openxmlformats.org/drawingml/2006/main">
              <a:ext uri="{FF2B5EF4-FFF2-40B4-BE49-F238E27FC236}">
                <a16:creationId xmlns:a16="http://schemas.microsoft.com/office/drawing/2014/main" id="{82E197E9-883B-46D8-8FAB-866FCCA6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577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2-step-2-t">
            <a:extLst xmlns:a="http://schemas.openxmlformats.org/drawingml/2006/main">
              <a:ext uri="{FF2B5EF4-FFF2-40B4-BE49-F238E27FC236}">
                <a16:creationId xmlns:a16="http://schemas.microsoft.com/office/drawing/2014/main" id="{B7ADFE18-6449-4CA0-AD01-22012A28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ORGANIZATION</a:t>
            </a:r>
          </a:p>
        </p:txBody>
      </p:sp>
      <p:sp>
        <p:nvSpPr>
          <p:cNvPr id="26" name="s2-step-2-s">
            <a:extLst xmlns:a="http://schemas.openxmlformats.org/drawingml/2006/main">
              <a:ext uri="{FF2B5EF4-FFF2-40B4-BE49-F238E27FC236}">
                <a16:creationId xmlns:a16="http://schemas.microsoft.com/office/drawing/2014/main" id="{914849AE-E310-48DD-865B-D0EBFD3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76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DEBD8"/>
                </a:solidFill>
                <a:latin typeface="Aptos"/>
                <a:ea typeface="Aptos"/>
                <a:cs typeface="Aptos"/>
              </a:rPr>
              <a:t>CHANGE CAPABILITY</a:t>
            </a:r>
          </a:p>
        </p:txBody>
      </p:sp>
      <p:sp>
        <p:nvSpPr>
          <p:cNvPr id="27" name="s2-step-3">
            <a:extLst xmlns:a="http://schemas.openxmlformats.org/drawingml/2006/main">
              <a:ext uri="{FF2B5EF4-FFF2-40B4-BE49-F238E27FC236}">
                <a16:creationId xmlns:a16="http://schemas.microsoft.com/office/drawing/2014/main" id="{C5EF181D-F8DF-4C39-A730-FE4E80F7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1752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9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2-step-3-t">
            <a:extLst xmlns:a="http://schemas.openxmlformats.org/drawingml/2006/main">
              <a:ext uri="{FF2B5EF4-FFF2-40B4-BE49-F238E27FC236}">
                <a16:creationId xmlns:a16="http://schemas.microsoft.com/office/drawing/2014/main" id="{691DD673-F2BD-4D00-97B9-223A2F9B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624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EXECUTION</a:t>
            </a:r>
          </a:p>
        </p:txBody>
      </p:sp>
      <p:sp>
        <p:nvSpPr>
          <p:cNvPr id="29" name="s2-step-3-s">
            <a:extLst xmlns:a="http://schemas.openxmlformats.org/drawingml/2006/main">
              <a:ext uri="{FF2B5EF4-FFF2-40B4-BE49-F238E27FC236}">
                <a16:creationId xmlns:a16="http://schemas.microsoft.com/office/drawing/2014/main" id="{B5BFC646-1D7A-4D5D-9089-2A7D9A03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76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DEBD8"/>
                </a:solidFill>
                <a:latin typeface="Aptos"/>
                <a:ea typeface="Aptos"/>
                <a:cs typeface="Aptos"/>
              </a:rPr>
              <a:t>SCALE RESULTS</a:t>
            </a:r>
          </a:p>
        </p:txBody>
      </p:sp>
      <p:sp>
        <p:nvSpPr>
          <p:cNvPr id="30" name="s2-outcome-arrow">
            <a:extLst xmlns:a="http://schemas.openxmlformats.org/drawingml/2006/main">
              <a:ext uri="{FF2B5EF4-FFF2-40B4-BE49-F238E27FC236}">
                <a16:creationId xmlns:a16="http://schemas.microsoft.com/office/drawing/2014/main" id="{38A7F4E9-456F-43B9-BDD8-253967B8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2476500" cy="1619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E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2-outcome-word">
            <a:extLst xmlns:a="http://schemas.openxmlformats.org/drawingml/2006/main">
              <a:ext uri="{FF2B5EF4-FFF2-40B4-BE49-F238E27FC236}">
                <a16:creationId xmlns:a16="http://schemas.microsoft.com/office/drawing/2014/main" id="{CF34733B-666D-4315-9032-DA4EF16D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2175" b="1">
                <a:solidFill>
                  <a:srgbClr val="003E3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03E32"/>
                </a:solidFill>
                <a:latin typeface="Aptos Display"/>
                <a:ea typeface="Aptos Display"/>
                <a:cs typeface="Aptos Display"/>
              </a:rPr>
              <a:t>SCALED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2175" b="1">
                <a:solidFill>
                  <a:srgbClr val="003E3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03E32"/>
                </a:solidFill>
                <a:latin typeface="Aptos Display"/>
                <a:ea typeface="Aptos Display"/>
                <a:cs typeface="Aptos Display"/>
              </a:rPr>
              <a:t>IMPACT</a:t>
            </a:r>
          </a:p>
        </p:txBody>
      </p:sp>
      <p:sp>
        <p:nvSpPr>
          <p:cNvPr id="32" name="s2-coverage">
            <a:extLst xmlns:a="http://schemas.openxmlformats.org/drawingml/2006/main">
              <a:ext uri="{FF2B5EF4-FFF2-40B4-BE49-F238E27FC236}">
                <a16:creationId xmlns:a16="http://schemas.microsoft.com/office/drawing/2014/main" id="{69C9D728-2BFB-4F4C-BB6E-2FBA0257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67050"/>
            <a:ext cx="13144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1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BD8"/>
                </a:solidFill>
                <a:latin typeface="Aptos"/>
                <a:ea typeface="Aptos"/>
                <a:cs typeface="Aptos"/>
              </a:rPr>
              <a:t>100+ CITIES</a:t>
            </a:r>
          </a:p>
          <a:p xmlns:a="http://schemas.openxmlformats.org/drawingml/2006/main">
            <a:pPr algn="r">
              <a:lnSpc>
                <a:spcPct val="122000"/>
              </a:lnSpc>
              <a:buNone/>
              <a:defRPr sz="975" b="1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BD8"/>
                </a:solidFill>
                <a:latin typeface="Aptos"/>
                <a:ea typeface="Aptos"/>
                <a:cs typeface="Aptos"/>
              </a:rPr>
              <a:t>50+ COUNTRIES</a:t>
            </a:r>
          </a:p>
          <a:p xmlns:a="http://schemas.openxmlformats.org/drawingml/2006/main">
            <a:pPr algn="r">
              <a:lnSpc>
                <a:spcPct val="122000"/>
              </a:lnSpc>
              <a:buNone/>
              <a:defRPr sz="975" b="1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BD8"/>
                </a:solidFill>
                <a:latin typeface="Aptos"/>
                <a:ea typeface="Aptos"/>
                <a:cs typeface="Aptos"/>
              </a:rPr>
              <a:t>16 INDUSTRIES × 20 CAPABILITIES</a:t>
            </a:r>
          </a:p>
          <a:p xmlns:a="http://schemas.openxmlformats.org/drawingml/2006/main">
            <a:pPr algn="r">
              <a:lnSpc>
                <a:spcPct val="122000"/>
              </a:lnSpc>
              <a:buNone/>
              <a:defRPr sz="975" b="1">
                <a:solidFill>
                  <a:srgbClr val="CDEB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BD8"/>
                </a:solidFill>
                <a:latin typeface="Aptos"/>
                <a:ea typeface="Aptos"/>
                <a:cs typeface="Aptos"/>
              </a:rPr>
              <a:t>9 SPECIALTY BUSINESSES</a:t>
            </a:r>
          </a:p>
        </p:txBody>
      </p:sp>
      <p:sp>
        <p:nvSpPr>
          <p:cNvPr id="33" name="s2-conclusion">
            <a:extLst xmlns:a="http://schemas.openxmlformats.org/drawingml/2006/main">
              <a:ext uri="{FF2B5EF4-FFF2-40B4-BE49-F238E27FC236}">
                <a16:creationId xmlns:a16="http://schemas.microsoft.com/office/drawing/2014/main" id="{89F9B30D-EAF7-4777-BCDD-44D4416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difference is cross-capability integration—not three disconnected reports on strategy, digital, and organization.</a:t>
            </a:r>
          </a:p>
        </p:txBody>
      </p:sp>
      <p:sp>
        <p:nvSpPr>
          <p:cNvPr id="34" name="02 / BCG-footer-rule">
            <a:extLst xmlns:a="http://schemas.openxmlformats.org/drawingml/2006/main">
              <a:ext uri="{FF2B5EF4-FFF2-40B4-BE49-F238E27FC236}">
                <a16:creationId xmlns:a16="http://schemas.microsoft.com/office/drawing/2014/main" id="{66003D61-CB87-4578-A368-D682053F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7E6D"/>
            </a:solidFill>
            <a:prstDash val="solid"/>
          </a:ln>
        </p:spPr>
      </p:sp>
      <p:sp>
        <p:nvSpPr>
          <p:cNvPr id="35" name="02 / BCG-footer-left">
            <a:extLst xmlns:a="http://schemas.openxmlformats.org/drawingml/2006/main">
              <a:ext uri="{FF2B5EF4-FFF2-40B4-BE49-F238E27FC236}">
                <a16:creationId xmlns:a16="http://schemas.microsoft.com/office/drawing/2014/main" id="{694C57DA-A63F-4559-B292-6475A3D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D7E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4D7E6D"/>
                </a:solidFill>
                <a:latin typeface="Noto Sans CJK SC"/>
                <a:ea typeface="Noto Sans CJK SC"/>
                <a:cs typeface="Noto Sans CJK SC"/>
              </a:rPr>
              <a:t>PUBLIC OFFICIAL SOURCES • DETAILS IN SPEAKER NOTES</a:t>
            </a:r>
          </a:p>
        </p:txBody>
      </p:sp>
      <p:sp>
        <p:nvSpPr>
          <p:cNvPr id="36" name="02 / BCG-footer-right">
            <a:extLst xmlns:a="http://schemas.openxmlformats.org/drawingml/2006/main">
              <a:ext uri="{FF2B5EF4-FFF2-40B4-BE49-F238E27FC236}">
                <a16:creationId xmlns:a16="http://schemas.microsoft.com/office/drawing/2014/main" id="{7B8A136F-BA57-49A2-9FB7-39C002FE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8177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/ BCG</a:t>
            </a:r>
          </a:p>
        </p:txBody>
      </p:sp>
    </p:spTree>
    <p:extLst>
      <p:ext uri="{BB962C8B-B14F-4D97-AF65-F5344CB8AC3E}">
        <p14:creationId xmlns:p14="http://schemas.microsoft.com/office/powerpoint/2010/main" val="932301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3-top">
            <a:extLst xmlns:a="http://schemas.openxmlformats.org/drawingml/2006/main">
              <a:ext uri="{FF2B5EF4-FFF2-40B4-BE49-F238E27FC236}">
                <a16:creationId xmlns:a16="http://schemas.microsoft.com/office/drawing/2014/main" id="{98A99A69-2654-4E25-9022-0BF44425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3-brand">
            <a:extLst xmlns:a="http://schemas.openxmlformats.org/drawingml/2006/main">
              <a:ext uri="{FF2B5EF4-FFF2-40B4-BE49-F238E27FC236}">
                <a16:creationId xmlns:a16="http://schemas.microsoft.com/office/drawing/2014/main" id="{1BBEEE61-D085-4AF0-8C39-702273C5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8B3C1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8B3C17"/>
                </a:solidFill>
                <a:latin typeface="Aptos Display"/>
                <a:ea typeface="Aptos Display"/>
                <a:cs typeface="Aptos Display"/>
              </a:rPr>
              <a:t>PING AN  |  OFFICIAL 1H 2026 RESULTS</a:t>
            </a:r>
          </a:p>
        </p:txBody>
      </p:sp>
      <p:sp>
        <p:nvSpPr>
          <p:cNvPr id="3" name="s3-tag">
            <a:extLst xmlns:a="http://schemas.openxmlformats.org/drawingml/2006/main">
              <a:ext uri="{FF2B5EF4-FFF2-40B4-BE49-F238E27FC236}">
                <a16:creationId xmlns:a16="http://schemas.microsoft.com/office/drawing/2014/main" id="{84DE0792-C03F-4672-95C8-F145F80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3-tag-text">
            <a:extLst xmlns:a="http://schemas.openxmlformats.org/drawingml/2006/main">
              <a:ext uri="{FF2B5EF4-FFF2-40B4-BE49-F238E27FC236}">
                <a16:creationId xmlns:a16="http://schemas.microsoft.com/office/drawing/2014/main" id="{107E15C3-AAAF-41B7-9147-35173362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91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RELEASED 2026-08-20</a:t>
            </a:r>
          </a:p>
        </p:txBody>
      </p:sp>
      <p:sp>
        <p:nvSpPr>
          <p:cNvPr id="5" name="s3-title-a">
            <a:extLst xmlns:a="http://schemas.openxmlformats.org/drawingml/2006/main">
              <a:ext uri="{FF2B5EF4-FFF2-40B4-BE49-F238E27FC236}">
                <a16:creationId xmlns:a16="http://schemas.microsoft.com/office/drawing/2014/main" id="{A46536F4-5EE7-47BF-BA6A-9DFA8B71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26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rPr>
              <a:t>平安 2026 H1：利润、价值、分红</a:t>
            </a:r>
          </a:p>
        </p:txBody>
      </p:sp>
      <p:sp>
        <p:nvSpPr>
          <p:cNvPr id="6" name="s3-title-b">
            <a:extLst xmlns:a="http://schemas.openxmlformats.org/drawingml/2006/main">
              <a:ext uri="{FF2B5EF4-FFF2-40B4-BE49-F238E27FC236}">
                <a16:creationId xmlns:a16="http://schemas.microsoft.com/office/drawing/2014/main" id="{35B98F32-0315-4B4D-B001-544D7BB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26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26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26A21"/>
                </a:solidFill>
                <a:latin typeface="Noto Sans CJK SC"/>
                <a:ea typeface="Noto Sans CJK SC"/>
                <a:cs typeface="Noto Sans CJK SC"/>
              </a:rPr>
              <a:t>同步提升，AI进入规模化调用</a:t>
            </a:r>
          </a:p>
        </p:txBody>
      </p:sp>
      <p:sp>
        <p:nvSpPr>
          <p:cNvPr id="7" name="s3-integrity">
            <a:extLst xmlns:a="http://schemas.openxmlformats.org/drawingml/2006/main">
              <a:ext uri="{FF2B5EF4-FFF2-40B4-BE49-F238E27FC236}">
                <a16:creationId xmlns:a16="http://schemas.microsoft.com/office/drawing/2014/main" id="{1FF47367-35C7-4CA5-837C-E87B88D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813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rPr>
              <a:t>营收同比+12.6%；归母营运利润同比+8.3%，寿险及健康险新业务价值同比+11.2%。</a:t>
            </a:r>
          </a:p>
        </p:txBody>
      </p:sp>
      <p:sp>
        <p:nvSpPr>
          <p:cNvPr id="8" name="s3-row-0-label">
            <a:extLst xmlns:a="http://schemas.openxmlformats.org/drawingml/2006/main">
              <a:ext uri="{FF2B5EF4-FFF2-40B4-BE49-F238E27FC236}">
                <a16:creationId xmlns:a16="http://schemas.microsoft.com/office/drawing/2014/main" id="{0DECACB2-CB22-4D62-B231-6F2A2DF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rPr>
              <a:t>归母营运利润</a:t>
            </a:r>
          </a:p>
        </p:txBody>
      </p:sp>
      <p:sp>
        <p:nvSpPr>
          <p:cNvPr id="9" name="s3-row-0-value">
            <a:extLst xmlns:a="http://schemas.openxmlformats.org/drawingml/2006/main">
              <a:ext uri="{FF2B5EF4-FFF2-40B4-BE49-F238E27FC236}">
                <a16:creationId xmlns:a16="http://schemas.microsoft.com/office/drawing/2014/main" id="{5C0E213E-6F82-49A4-9C90-13C75872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rPr>
              <a:t>841.96亿元</a:t>
            </a:r>
          </a:p>
        </p:txBody>
      </p:sp>
      <p:sp>
        <p:nvSpPr>
          <p:cNvPr id="10" name="s3-row-0-bar-bg">
            <a:extLst xmlns:a="http://schemas.openxmlformats.org/drawingml/2006/main">
              <a:ext uri="{FF2B5EF4-FFF2-40B4-BE49-F238E27FC236}">
                <a16:creationId xmlns:a16="http://schemas.microsoft.com/office/drawing/2014/main" id="{4513EF42-C86B-4EAC-B708-E9729643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3638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row-0-bar">
            <a:extLst xmlns:a="http://schemas.openxmlformats.org/drawingml/2006/main">
              <a:ext uri="{FF2B5EF4-FFF2-40B4-BE49-F238E27FC236}">
                <a16:creationId xmlns:a16="http://schemas.microsoft.com/office/drawing/2014/main" id="{CE0B1BEA-B4D3-4997-A314-352EEA2C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836867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3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3-row-0-growth">
            <a:extLst xmlns:a="http://schemas.openxmlformats.org/drawingml/2006/main">
              <a:ext uri="{FF2B5EF4-FFF2-40B4-BE49-F238E27FC236}">
                <a16:creationId xmlns:a16="http://schemas.microsoft.com/office/drawing/2014/main" id="{9898A0D4-4396-4A64-9DA0-15DDF81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rPr>
              <a:t>+8.3%</a:t>
            </a:r>
          </a:p>
        </p:txBody>
      </p:sp>
      <p:sp>
        <p:nvSpPr>
          <p:cNvPr id="13" name="s3-row-0-growth-label">
            <a:extLst xmlns:a="http://schemas.openxmlformats.org/drawingml/2006/main">
              <a:ext uri="{FF2B5EF4-FFF2-40B4-BE49-F238E27FC236}">
                <a16:creationId xmlns:a16="http://schemas.microsoft.com/office/drawing/2014/main" id="{979EEC04-805F-493D-BEAA-D8C6F73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A75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7562"/>
                </a:solidFill>
                <a:latin typeface="Noto Sans CJK SC"/>
                <a:ea typeface="Noto Sans CJK SC"/>
                <a:cs typeface="Noto Sans CJK SC"/>
              </a:rPr>
              <a:t>同比</a:t>
            </a:r>
          </a:p>
        </p:txBody>
      </p:sp>
      <p:sp>
        <p:nvSpPr>
          <p:cNvPr id="14" name="s3-row-0-rule">
            <a:extLst xmlns:a="http://schemas.openxmlformats.org/drawingml/2006/main">
              <a:ext uri="{FF2B5EF4-FFF2-40B4-BE49-F238E27FC236}">
                <a16:creationId xmlns:a16="http://schemas.microsoft.com/office/drawing/2014/main" id="{19D9A5D5-0E68-44B7-8EC6-21BBA477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720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C9B9"/>
            </a:solidFill>
            <a:prstDash val="solid"/>
          </a:ln>
        </p:spPr>
      </p:sp>
      <p:sp>
        <p:nvSpPr>
          <p:cNvPr id="15" name="s3-row-1-label">
            <a:extLst xmlns:a="http://schemas.openxmlformats.org/drawingml/2006/main">
              <a:ext uri="{FF2B5EF4-FFF2-40B4-BE49-F238E27FC236}">
                <a16:creationId xmlns:a16="http://schemas.microsoft.com/office/drawing/2014/main" id="{D91756A4-4399-4413-90B2-6EEBB952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rPr>
              <a:t>归母净利润</a:t>
            </a:r>
          </a:p>
        </p:txBody>
      </p:sp>
      <p:sp>
        <p:nvSpPr>
          <p:cNvPr id="16" name="s3-row-1-value">
            <a:extLst xmlns:a="http://schemas.openxmlformats.org/drawingml/2006/main">
              <a:ext uri="{FF2B5EF4-FFF2-40B4-BE49-F238E27FC236}">
                <a16:creationId xmlns:a16="http://schemas.microsoft.com/office/drawing/2014/main" id="{18A9930B-13ED-4AA7-908E-87B791F3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rPr>
              <a:t>925.85亿元</a:t>
            </a:r>
          </a:p>
        </p:txBody>
      </p:sp>
      <p:sp>
        <p:nvSpPr>
          <p:cNvPr id="17" name="s3-row-1-bar-bg">
            <a:extLst xmlns:a="http://schemas.openxmlformats.org/drawingml/2006/main">
              <a:ext uri="{FF2B5EF4-FFF2-40B4-BE49-F238E27FC236}">
                <a16:creationId xmlns:a16="http://schemas.microsoft.com/office/drawing/2014/main" id="{A3DAE5DA-43F8-46B4-BBAE-A6BE31F0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43350"/>
            <a:ext cx="3638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-row-1-bar">
            <a:extLst xmlns:a="http://schemas.openxmlformats.org/drawingml/2006/main">
              <a:ext uri="{FF2B5EF4-FFF2-40B4-BE49-F238E27FC236}">
                <a16:creationId xmlns:a16="http://schemas.microsoft.com/office/drawing/2014/main" id="{B270E05C-8FD7-435F-8AE9-F953E1CB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43350"/>
            <a:ext cx="3638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3-row-1-growth">
            <a:extLst xmlns:a="http://schemas.openxmlformats.org/drawingml/2006/main">
              <a:ext uri="{FF2B5EF4-FFF2-40B4-BE49-F238E27FC236}">
                <a16:creationId xmlns:a16="http://schemas.microsoft.com/office/drawing/2014/main" id="{0A579545-D037-4CD5-97F3-814C4AE1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rPr>
              <a:t>+36.1%</a:t>
            </a:r>
          </a:p>
        </p:txBody>
      </p:sp>
      <p:sp>
        <p:nvSpPr>
          <p:cNvPr id="20" name="s3-row-1-growth-label">
            <a:extLst xmlns:a="http://schemas.openxmlformats.org/drawingml/2006/main">
              <a:ext uri="{FF2B5EF4-FFF2-40B4-BE49-F238E27FC236}">
                <a16:creationId xmlns:a16="http://schemas.microsoft.com/office/drawing/2014/main" id="{63C58C9A-8F76-4F8C-8E5C-3D584483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00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A75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7562"/>
                </a:solidFill>
                <a:latin typeface="Noto Sans CJK SC"/>
                <a:ea typeface="Noto Sans CJK SC"/>
                <a:cs typeface="Noto Sans CJK SC"/>
              </a:rPr>
              <a:t>同比</a:t>
            </a:r>
          </a:p>
        </p:txBody>
      </p:sp>
      <p:sp>
        <p:nvSpPr>
          <p:cNvPr id="21" name="s3-row-1-rule">
            <a:extLst xmlns:a="http://schemas.openxmlformats.org/drawingml/2006/main">
              <a:ext uri="{FF2B5EF4-FFF2-40B4-BE49-F238E27FC236}">
                <a16:creationId xmlns:a16="http://schemas.microsoft.com/office/drawing/2014/main" id="{8E8082A7-0AFE-4775-9113-BFD1BD4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20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C9B9"/>
            </a:solidFill>
            <a:prstDash val="solid"/>
          </a:ln>
        </p:spPr>
      </p:sp>
      <p:sp>
        <p:nvSpPr>
          <p:cNvPr id="22" name="s3-row-2-label">
            <a:extLst xmlns:a="http://schemas.openxmlformats.org/drawingml/2006/main">
              <a:ext uri="{FF2B5EF4-FFF2-40B4-BE49-F238E27FC236}">
                <a16:creationId xmlns:a16="http://schemas.microsoft.com/office/drawing/2014/main" id="{0632859D-7CF6-4979-99CE-26CDA322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rPr>
              <a:t>寿险及健康险NBV</a:t>
            </a:r>
          </a:p>
        </p:txBody>
      </p:sp>
      <p:sp>
        <p:nvSpPr>
          <p:cNvPr id="23" name="s3-row-2-value">
            <a:extLst xmlns:a="http://schemas.openxmlformats.org/drawingml/2006/main">
              <a:ext uri="{FF2B5EF4-FFF2-40B4-BE49-F238E27FC236}">
                <a16:creationId xmlns:a16="http://schemas.microsoft.com/office/drawing/2014/main" id="{C6901113-541B-4CBA-B5BB-B4F1AF7D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rPr>
              <a:t>248.47亿元</a:t>
            </a:r>
          </a:p>
        </p:txBody>
      </p:sp>
      <p:sp>
        <p:nvSpPr>
          <p:cNvPr id="24" name="s3-row-2-bar-bg">
            <a:extLst xmlns:a="http://schemas.openxmlformats.org/drawingml/2006/main">
              <a:ext uri="{FF2B5EF4-FFF2-40B4-BE49-F238E27FC236}">
                <a16:creationId xmlns:a16="http://schemas.microsoft.com/office/drawing/2014/main" id="{39933131-8BC8-4659-A547-0A178A44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3638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3-row-2-bar">
            <a:extLst xmlns:a="http://schemas.openxmlformats.org/drawingml/2006/main">
              <a:ext uri="{FF2B5EF4-FFF2-40B4-BE49-F238E27FC236}">
                <a16:creationId xmlns:a16="http://schemas.microsoft.com/office/drawing/2014/main" id="{A07C6932-0A9B-4FC5-9210-55C180FD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1127951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3-row-2-growth">
            <a:extLst xmlns:a="http://schemas.openxmlformats.org/drawingml/2006/main">
              <a:ext uri="{FF2B5EF4-FFF2-40B4-BE49-F238E27FC236}">
                <a16:creationId xmlns:a16="http://schemas.microsoft.com/office/drawing/2014/main" id="{036B09CE-9C03-41F9-AB03-A695AF24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625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rPr>
              <a:t>+11.2%</a:t>
            </a:r>
          </a:p>
        </p:txBody>
      </p:sp>
      <p:sp>
        <p:nvSpPr>
          <p:cNvPr id="27" name="s3-row-2-growth-label">
            <a:extLst xmlns:a="http://schemas.openxmlformats.org/drawingml/2006/main">
              <a:ext uri="{FF2B5EF4-FFF2-40B4-BE49-F238E27FC236}">
                <a16:creationId xmlns:a16="http://schemas.microsoft.com/office/drawing/2014/main" id="{F8B106E0-4265-4C14-A56D-B3CC14DF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435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A75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7562"/>
                </a:solidFill>
                <a:latin typeface="Noto Sans CJK SC"/>
                <a:ea typeface="Noto Sans CJK SC"/>
                <a:cs typeface="Noto Sans CJK SC"/>
              </a:rPr>
              <a:t>同比</a:t>
            </a:r>
          </a:p>
        </p:txBody>
      </p:sp>
      <p:sp>
        <p:nvSpPr>
          <p:cNvPr id="28" name="s3-row-2-rule">
            <a:extLst xmlns:a="http://schemas.openxmlformats.org/drawingml/2006/main">
              <a:ext uri="{FF2B5EF4-FFF2-40B4-BE49-F238E27FC236}">
                <a16:creationId xmlns:a16="http://schemas.microsoft.com/office/drawing/2014/main" id="{37C13EA1-0277-4206-B244-096B79E2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720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C9B9"/>
            </a:solidFill>
            <a:prstDash val="solid"/>
          </a:ln>
        </p:spPr>
      </p:sp>
      <p:sp>
        <p:nvSpPr>
          <p:cNvPr id="29" name="s3-scale-rule">
            <a:extLst xmlns:a="http://schemas.openxmlformats.org/drawingml/2006/main">
              <a:ext uri="{FF2B5EF4-FFF2-40B4-BE49-F238E27FC236}">
                <a16:creationId xmlns:a16="http://schemas.microsoft.com/office/drawing/2014/main" id="{550E539E-660B-449E-B06A-FAB92091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720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A996"/>
            </a:solidFill>
            <a:prstDash val="solid"/>
          </a:ln>
        </p:spPr>
      </p:sp>
      <p:sp>
        <p:nvSpPr>
          <p:cNvPr id="30" name="s3-assets-value">
            <a:extLst xmlns:a="http://schemas.openxmlformats.org/drawingml/2006/main">
              <a:ext uri="{FF2B5EF4-FFF2-40B4-BE49-F238E27FC236}">
                <a16:creationId xmlns:a16="http://schemas.microsoft.com/office/drawing/2014/main" id="{EB3C0D5B-5EFD-4758-80EE-761B091A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rPr>
              <a:t>6153.51亿元</a:t>
            </a:r>
          </a:p>
        </p:txBody>
      </p:sp>
      <p:sp>
        <p:nvSpPr>
          <p:cNvPr id="31" name="s3-assets-label">
            <a:extLst xmlns:a="http://schemas.openxmlformats.org/drawingml/2006/main">
              <a:ext uri="{FF2B5EF4-FFF2-40B4-BE49-F238E27FC236}">
                <a16:creationId xmlns:a16="http://schemas.microsoft.com/office/drawing/2014/main" id="{CAFF1DE5-8EBF-4423-982A-9D2155F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8A69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8A6958"/>
                </a:solidFill>
                <a:latin typeface="Noto Sans CJK SC"/>
                <a:ea typeface="Noto Sans CJK SC"/>
                <a:cs typeface="Noto Sans CJK SC"/>
              </a:rPr>
              <a:t>营业收入 / 同比+12.6%</a:t>
            </a:r>
          </a:p>
        </p:txBody>
      </p:sp>
      <p:sp>
        <p:nvSpPr>
          <p:cNvPr id="32" name="s3-customer-value">
            <a:extLst xmlns:a="http://schemas.openxmlformats.org/drawingml/2006/main">
              <a:ext uri="{FF2B5EF4-FFF2-40B4-BE49-F238E27FC236}">
                <a16:creationId xmlns:a16="http://schemas.microsoft.com/office/drawing/2014/main" id="{92C4AAB0-5753-4CD0-8566-03DB897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86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rPr>
              <a:t>2.53亿</a:t>
            </a:r>
          </a:p>
        </p:txBody>
      </p:sp>
      <p:sp>
        <p:nvSpPr>
          <p:cNvPr id="33" name="s3-customer-label">
            <a:extLst xmlns:a="http://schemas.openxmlformats.org/drawingml/2006/main">
              <a:ext uri="{FF2B5EF4-FFF2-40B4-BE49-F238E27FC236}">
                <a16:creationId xmlns:a16="http://schemas.microsoft.com/office/drawing/2014/main" id="{E3351168-BD9C-42E0-ADDD-A4D54591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286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8A69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8A6958"/>
                </a:solidFill>
                <a:latin typeface="Noto Sans CJK SC"/>
                <a:ea typeface="Noto Sans CJK SC"/>
                <a:cs typeface="Noto Sans CJK SC"/>
              </a:rPr>
              <a:t>零售客户 / 较年初+0.9%</a:t>
            </a:r>
          </a:p>
        </p:txBody>
      </p:sp>
      <p:sp>
        <p:nvSpPr>
          <p:cNvPr id="34" name="s3-mau-value">
            <a:extLst xmlns:a="http://schemas.openxmlformats.org/drawingml/2006/main">
              <a:ext uri="{FF2B5EF4-FFF2-40B4-BE49-F238E27FC236}">
                <a16:creationId xmlns:a16="http://schemas.microsoft.com/office/drawing/2014/main" id="{62BED50F-0AD5-4130-8021-D0373778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86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rPr>
              <a:t>0.98元/股</a:t>
            </a:r>
          </a:p>
        </p:txBody>
      </p:sp>
      <p:sp>
        <p:nvSpPr>
          <p:cNvPr id="35" name="s3-mau-label">
            <a:extLst xmlns:a="http://schemas.openxmlformats.org/drawingml/2006/main">
              <a:ext uri="{FF2B5EF4-FFF2-40B4-BE49-F238E27FC236}">
                <a16:creationId xmlns:a16="http://schemas.microsoft.com/office/drawing/2014/main" id="{F8BD4015-A8B4-44A5-B6D5-C9B0AF7D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8A69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8A6958"/>
                </a:solidFill>
                <a:latin typeface="Noto Sans CJK SC"/>
                <a:ea typeface="Noto Sans CJK SC"/>
                <a:cs typeface="Noto Sans CJK SC"/>
              </a:rPr>
              <a:t>中期股息 / 同比+3.2%</a:t>
            </a:r>
          </a:p>
        </p:txBody>
      </p:sp>
      <p:sp>
        <p:nvSpPr>
          <p:cNvPr id="36" name="s3-release-panel">
            <a:extLst xmlns:a="http://schemas.openxmlformats.org/drawingml/2006/main">
              <a:ext uri="{FF2B5EF4-FFF2-40B4-BE49-F238E27FC236}">
                <a16:creationId xmlns:a16="http://schemas.microsoft.com/office/drawing/2014/main" id="{F23AB7A9-12EF-45EA-B036-1D310C5A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3314700" cy="3600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6A21"/>
            </a:solidFill>
            <a:prstDash val="solid"/>
          </a:ln>
        </p:spPr>
      </p:sp>
      <p:sp>
        <p:nvSpPr>
          <p:cNvPr id="37" name="s3-date-ring">
            <a:extLst xmlns:a="http://schemas.openxmlformats.org/drawingml/2006/main">
              <a:ext uri="{FF2B5EF4-FFF2-40B4-BE49-F238E27FC236}">
                <a16:creationId xmlns:a16="http://schemas.microsoft.com/office/drawing/2014/main" id="{72254053-6563-4E78-97DF-D20137C7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81300"/>
            <a:ext cx="24384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F26A21"/>
            </a:solidFill>
            <a:prstDash val="solid"/>
          </a:ln>
        </p:spPr>
      </p:sp>
      <p:sp>
        <p:nvSpPr>
          <p:cNvPr id="38" name="s3-date">
            <a:extLst xmlns:a="http://schemas.openxmlformats.org/drawingml/2006/main">
              <a:ext uri="{FF2B5EF4-FFF2-40B4-BE49-F238E27FC236}">
                <a16:creationId xmlns:a16="http://schemas.microsoft.com/office/drawing/2014/main" id="{3B3870FE-69AE-4526-A1F7-D8A94E42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rPr>
              <a:t>+36.1%</a:t>
            </a:r>
          </a:p>
        </p:txBody>
      </p:sp>
      <p:sp>
        <p:nvSpPr>
          <p:cNvPr id="39" name="s3-date-label">
            <a:extLst xmlns:a="http://schemas.openxmlformats.org/drawingml/2006/main">
              <a:ext uri="{FF2B5EF4-FFF2-40B4-BE49-F238E27FC236}">
                <a16:creationId xmlns:a16="http://schemas.microsoft.com/office/drawing/2014/main" id="{95A775EB-6783-4D98-B861-262159AB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8B3C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3C17"/>
                </a:solidFill>
                <a:latin typeface="Aptos"/>
                <a:ea typeface="Aptos"/>
                <a:cs typeface="Aptos"/>
              </a:rPr>
              <a:t>NET PROFIT YOY</a:t>
            </a:r>
          </a:p>
        </p:txBody>
      </p:sp>
      <p:sp>
        <p:nvSpPr>
          <p:cNvPr id="40" name="s3-release-title">
            <a:extLst xmlns:a="http://schemas.openxmlformats.org/drawingml/2006/main">
              <a:ext uri="{FF2B5EF4-FFF2-40B4-BE49-F238E27FC236}">
                <a16:creationId xmlns:a16="http://schemas.microsoft.com/office/drawing/2014/main" id="{825AE07E-7617-4A95-BE49-C65348E8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29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62626"/>
                </a:solidFill>
                <a:latin typeface="Noto Sans CJK SC"/>
                <a:ea typeface="Noto Sans CJK SC"/>
                <a:cs typeface="Noto Sans CJK SC"/>
              </a:rPr>
              <a:t>利润弹性背后的三个支点</a:t>
            </a:r>
          </a:p>
        </p:txBody>
      </p:sp>
      <p:sp>
        <p:nvSpPr>
          <p:cNvPr id="41" name="s3-field-0">
            <a:extLst xmlns:a="http://schemas.openxmlformats.org/drawingml/2006/main">
              <a:ext uri="{FF2B5EF4-FFF2-40B4-BE49-F238E27FC236}">
                <a16:creationId xmlns:a16="http://schemas.microsoft.com/office/drawing/2014/main" id="{16CF224C-4D7B-4894-BAE8-52055048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054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rPr>
              <a:t>寿险NBV</a:t>
            </a:r>
          </a:p>
        </p:txBody>
      </p:sp>
      <p:sp>
        <p:nvSpPr>
          <p:cNvPr id="42" name="s3-field-0-value">
            <a:extLst xmlns:a="http://schemas.openxmlformats.org/drawingml/2006/main">
              <a:ext uri="{FF2B5EF4-FFF2-40B4-BE49-F238E27FC236}">
                <a16:creationId xmlns:a16="http://schemas.microsoft.com/office/drawing/2014/main" id="{7AAD79A1-67EB-41A9-80AC-2C5E5C09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86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rPr>
              <a:t>+11.2%</a:t>
            </a:r>
          </a:p>
        </p:txBody>
      </p:sp>
      <p:sp>
        <p:nvSpPr>
          <p:cNvPr id="43" name="s3-field-0-blank">
            <a:extLst xmlns:a="http://schemas.openxmlformats.org/drawingml/2006/main">
              <a:ext uri="{FF2B5EF4-FFF2-40B4-BE49-F238E27FC236}">
                <a16:creationId xmlns:a16="http://schemas.microsoft.com/office/drawing/2014/main" id="{63672D9E-EAE3-491F-9548-37BA7407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530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C9B9"/>
            </a:solidFill>
            <a:prstDash val="solid"/>
          </a:ln>
        </p:spPr>
      </p:sp>
      <p:sp>
        <p:nvSpPr>
          <p:cNvPr id="44" name="s3-field-1">
            <a:extLst xmlns:a="http://schemas.openxmlformats.org/drawingml/2006/main">
              <a:ext uri="{FF2B5EF4-FFF2-40B4-BE49-F238E27FC236}">
                <a16:creationId xmlns:a16="http://schemas.microsoft.com/office/drawing/2014/main" id="{B2566561-192E-4860-B31F-222AF7E7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292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rPr>
              <a:t>产险COR</a:t>
            </a:r>
          </a:p>
        </p:txBody>
      </p:sp>
      <p:sp>
        <p:nvSpPr>
          <p:cNvPr id="45" name="s3-field-1-value">
            <a:extLst xmlns:a="http://schemas.openxmlformats.org/drawingml/2006/main">
              <a:ext uri="{FF2B5EF4-FFF2-40B4-BE49-F238E27FC236}">
                <a16:creationId xmlns:a16="http://schemas.microsoft.com/office/drawing/2014/main" id="{38FBEEBE-317A-4997-B4C9-D35DB841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10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rPr>
              <a:t>95.1%</a:t>
            </a:r>
          </a:p>
        </p:txBody>
      </p:sp>
      <p:sp>
        <p:nvSpPr>
          <p:cNvPr id="46" name="s3-field-1-blank">
            <a:extLst xmlns:a="http://schemas.openxmlformats.org/drawingml/2006/main">
              <a:ext uri="{FF2B5EF4-FFF2-40B4-BE49-F238E27FC236}">
                <a16:creationId xmlns:a16="http://schemas.microsoft.com/office/drawing/2014/main" id="{A25FFB2F-E657-4935-BE3C-66B7A3AA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76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C9B9"/>
            </a:solidFill>
            <a:prstDash val="solid"/>
          </a:ln>
        </p:spPr>
      </p:sp>
      <p:sp>
        <p:nvSpPr>
          <p:cNvPr id="47" name="s3-field-2">
            <a:extLst xmlns:a="http://schemas.openxmlformats.org/drawingml/2006/main">
              <a:ext uri="{FF2B5EF4-FFF2-40B4-BE49-F238E27FC236}">
                <a16:creationId xmlns:a16="http://schemas.microsoft.com/office/drawing/2014/main" id="{383384ED-E278-4D83-9B13-F6E94AC7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53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E5447"/>
                </a:solidFill>
                <a:latin typeface="Noto Sans CJK SC"/>
                <a:ea typeface="Noto Sans CJK SC"/>
                <a:cs typeface="Noto Sans CJK SC"/>
              </a:rPr>
              <a:t>AI场景覆盖</a:t>
            </a:r>
          </a:p>
        </p:txBody>
      </p:sp>
      <p:sp>
        <p:nvSpPr>
          <p:cNvPr id="48" name="s3-field-2-value">
            <a:extLst xmlns:a="http://schemas.openxmlformats.org/drawingml/2006/main">
              <a:ext uri="{FF2B5EF4-FFF2-40B4-BE49-F238E27FC236}">
                <a16:creationId xmlns:a16="http://schemas.microsoft.com/office/drawing/2014/main" id="{C316075F-3D86-4F31-B6B1-F07793CC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734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6A21"/>
                </a:solidFill>
                <a:latin typeface="Aptos Display"/>
                <a:ea typeface="Aptos Display"/>
                <a:cs typeface="Aptos Display"/>
              </a:rPr>
              <a:t>88%</a:t>
            </a:r>
          </a:p>
        </p:txBody>
      </p:sp>
      <p:sp>
        <p:nvSpPr>
          <p:cNvPr id="49" name="s3-field-2-blank">
            <a:extLst xmlns:a="http://schemas.openxmlformats.org/drawingml/2006/main">
              <a:ext uri="{FF2B5EF4-FFF2-40B4-BE49-F238E27FC236}">
                <a16:creationId xmlns:a16="http://schemas.microsoft.com/office/drawing/2014/main" id="{D54BA1BC-D2F5-47E4-B8C4-18D8A4D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000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C9B9"/>
            </a:solidFill>
            <a:prstDash val="solid"/>
          </a:ln>
        </p:spPr>
      </p:sp>
      <p:sp>
        <p:nvSpPr>
          <p:cNvPr id="50" name="s3-release-note">
            <a:extLst xmlns:a="http://schemas.openxmlformats.org/drawingml/2006/main">
              <a:ext uri="{FF2B5EF4-FFF2-40B4-BE49-F238E27FC236}">
                <a16:creationId xmlns:a16="http://schemas.microsoft.com/office/drawing/2014/main" id="{C23F76B1-1CB1-4BDE-9B94-3A3DDEB4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6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26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26A21"/>
                </a:solidFill>
                <a:latin typeface="Noto Sans CJK SC"/>
                <a:ea typeface="Noto Sans CJK SC"/>
                <a:cs typeface="Noto Sans CJK SC"/>
              </a:rPr>
              <a:t>高价值增长 × 服务创新 × 科技驱动</a:t>
            </a:r>
          </a:p>
        </p:txBody>
      </p:sp>
      <p:sp>
        <p:nvSpPr>
          <p:cNvPr id="51" name="03 / PING AN-footer-rule">
            <a:extLst xmlns:a="http://schemas.openxmlformats.org/drawingml/2006/main">
              <a:ext uri="{FF2B5EF4-FFF2-40B4-BE49-F238E27FC236}">
                <a16:creationId xmlns:a16="http://schemas.microsoft.com/office/drawing/2014/main" id="{C99E91D9-98DE-43EB-AAB9-F303EA47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996"/>
            </a:solidFill>
            <a:prstDash val="solid"/>
          </a:ln>
        </p:spPr>
      </p:sp>
      <p:sp>
        <p:nvSpPr>
          <p:cNvPr id="52" name="03 / PING AN-footer-left">
            <a:extLst xmlns:a="http://schemas.openxmlformats.org/drawingml/2006/main">
              <a:ext uri="{FF2B5EF4-FFF2-40B4-BE49-F238E27FC236}">
                <a16:creationId xmlns:a16="http://schemas.microsoft.com/office/drawing/2014/main" id="{714F76BA-2180-44F5-B6DA-7F39D448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9A9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C9A996"/>
                </a:solidFill>
                <a:latin typeface="Noto Sans CJK SC"/>
                <a:ea typeface="Noto Sans CJK SC"/>
                <a:cs typeface="Noto Sans CJK SC"/>
              </a:rPr>
              <a:t>PUBLIC OFFICIAL SOURCES • DETAILS IN SPEAKER NOTES</a:t>
            </a:r>
          </a:p>
        </p:txBody>
      </p:sp>
      <p:sp>
        <p:nvSpPr>
          <p:cNvPr id="53" name="03 / PING AN-footer-right">
            <a:extLst xmlns:a="http://schemas.openxmlformats.org/drawingml/2006/main">
              <a:ext uri="{FF2B5EF4-FFF2-40B4-BE49-F238E27FC236}">
                <a16:creationId xmlns:a16="http://schemas.microsoft.com/office/drawing/2014/main" id="{1F9DB9B7-22F1-4EFF-9008-C0E1F851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8177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B3C1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8B3C17"/>
                </a:solidFill>
                <a:latin typeface="Noto Sans CJK SC"/>
                <a:ea typeface="Noto Sans CJK SC"/>
                <a:cs typeface="Noto Sans CJK SC"/>
              </a:rPr>
              <a:t>03 / PING AN</a:t>
            </a:r>
          </a:p>
        </p:txBody>
      </p:sp>
    </p:spTree>
    <p:extLst>
      <p:ext uri="{BB962C8B-B14F-4D97-AF65-F5344CB8AC3E}">
        <p14:creationId xmlns:p14="http://schemas.microsoft.com/office/powerpoint/2010/main" val="2077519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4-edge">
            <a:extLst xmlns:a="http://schemas.openxmlformats.org/drawingml/2006/main">
              <a:ext uri="{FF2B5EF4-FFF2-40B4-BE49-F238E27FC236}">
                <a16:creationId xmlns:a16="http://schemas.microsoft.com/office/drawing/2014/main" id="{258593D2-C2C2-4BE3-BC77-D460B291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4-brand">
            <a:extLst xmlns:a="http://schemas.openxmlformats.org/drawingml/2006/main">
              <a:ext uri="{FF2B5EF4-FFF2-40B4-BE49-F238E27FC236}">
                <a16:creationId xmlns:a16="http://schemas.microsoft.com/office/drawing/2014/main" id="{B41D57F1-C630-4BD9-BE9E-38C5B13C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9B5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9B5FF"/>
                </a:solidFill>
                <a:latin typeface="Aptos Display"/>
                <a:ea typeface="Aptos Display"/>
                <a:cs typeface="Aptos Display"/>
              </a:rPr>
              <a:t>CLAYZ PRESENTATION SKILLS  v0.2.0</a:t>
            </a:r>
          </a:p>
        </p:txBody>
      </p:sp>
      <p:sp>
        <p:nvSpPr>
          <p:cNvPr id="3" name="s4-release">
            <a:extLst xmlns:a="http://schemas.openxmlformats.org/drawingml/2006/main">
              <a:ext uri="{FF2B5EF4-FFF2-40B4-BE49-F238E27FC236}">
                <a16:creationId xmlns:a16="http://schemas.microsoft.com/office/drawing/2014/main" id="{1C9446DE-950C-4544-985D-25E7A3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774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774A8"/>
                </a:solidFill>
                <a:latin typeface="Aptos"/>
                <a:ea typeface="Aptos"/>
                <a:cs typeface="Aptos"/>
              </a:rPr>
              <a:t>OPEN SOURCE • MODEL-AGNOSTIC • EMPTY LEARNING LAYERS</a:t>
            </a:r>
          </a:p>
        </p:txBody>
      </p:sp>
      <p:sp>
        <p:nvSpPr>
          <p:cNvPr id="4" name="s4-title-a">
            <a:extLst xmlns:a="http://schemas.openxmlformats.org/drawingml/2006/main">
              <a:ext uri="{FF2B5EF4-FFF2-40B4-BE49-F238E27FC236}">
                <a16:creationId xmlns:a16="http://schemas.microsoft.com/office/drawing/2014/main" id="{9D78158A-A29F-4AEE-AECB-F496C113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把一堆材料，压成一页</a:t>
            </a:r>
          </a:p>
        </p:txBody>
      </p:sp>
      <p:sp>
        <p:nvSpPr>
          <p:cNvPr id="5" name="s4-title-b">
            <a:extLst xmlns:a="http://schemas.openxmlformats.org/drawingml/2006/main">
              <a:ext uri="{FF2B5EF4-FFF2-40B4-BE49-F238E27FC236}">
                <a16:creationId xmlns:a16="http://schemas.microsoft.com/office/drawing/2014/main" id="{BB5A7271-93AF-49D7-A54F-3004403F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43E7B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43E7B3"/>
                </a:solidFill>
                <a:latin typeface="Noto Sans CJK SC"/>
                <a:ea typeface="Noto Sans CJK SC"/>
                <a:cs typeface="Noto Sans CJK SC"/>
              </a:rPr>
              <a:t>能做决定的东西</a:t>
            </a:r>
          </a:p>
        </p:txBody>
      </p:sp>
      <p:sp>
        <p:nvSpPr>
          <p:cNvPr id="6" name="s4-thesis">
            <a:extLst xmlns:a="http://schemas.openxmlformats.org/drawingml/2006/main">
              <a:ext uri="{FF2B5EF4-FFF2-40B4-BE49-F238E27FC236}">
                <a16:creationId xmlns:a16="http://schemas.microsoft.com/office/drawing/2014/main" id="{4C94048C-F269-42A8-AB5D-00E15914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C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9C7E5"/>
                </a:solidFill>
                <a:latin typeface="Noto Sans CJK SC"/>
                <a:ea typeface="Noto Sans CJK SC"/>
                <a:cs typeface="Noto Sans CJK SC"/>
              </a:rPr>
              <a:t>高信息密度 ≠ 缩小字体；真正的压缩，是保留事实、关系、判断和行动，同时删除重复与装饰。</a:t>
            </a:r>
          </a:p>
        </p:txBody>
      </p:sp>
      <p:sp>
        <p:nvSpPr>
          <p:cNvPr id="7" name="s4-input-label">
            <a:extLst xmlns:a="http://schemas.openxmlformats.org/drawingml/2006/main">
              <a:ext uri="{FF2B5EF4-FFF2-40B4-BE49-F238E27FC236}">
                <a16:creationId xmlns:a16="http://schemas.microsoft.com/office/drawing/2014/main" id="{6DADD55F-C021-4057-A164-2449EC0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774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4A8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8" name="s4-input-0">
            <a:extLst xmlns:a="http://schemas.openxmlformats.org/drawingml/2006/main">
              <a:ext uri="{FF2B5EF4-FFF2-40B4-BE49-F238E27FC236}">
                <a16:creationId xmlns:a16="http://schemas.microsoft.com/office/drawing/2014/main" id="{B114D76B-32D8-401E-8236-08DE794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4-input-0-t">
            <a:extLst xmlns:a="http://schemas.openxmlformats.org/drawingml/2006/main">
              <a:ext uri="{FF2B5EF4-FFF2-40B4-BE49-F238E27FC236}">
                <a16:creationId xmlns:a16="http://schemas.microsoft.com/office/drawing/2014/main" id="{EC799AE8-FB39-49D4-85C1-D37E8451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LINK</a:t>
            </a:r>
          </a:p>
        </p:txBody>
      </p:sp>
      <p:sp>
        <p:nvSpPr>
          <p:cNvPr id="10" name="s4-input-1">
            <a:extLst xmlns:a="http://schemas.openxmlformats.org/drawingml/2006/main">
              <a:ext uri="{FF2B5EF4-FFF2-40B4-BE49-F238E27FC236}">
                <a16:creationId xmlns:a16="http://schemas.microsoft.com/office/drawing/2014/main" id="{63A45400-41A7-4772-8C40-6C66822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input-1-t">
            <a:extLst xmlns:a="http://schemas.openxmlformats.org/drawingml/2006/main">
              <a:ext uri="{FF2B5EF4-FFF2-40B4-BE49-F238E27FC236}">
                <a16:creationId xmlns:a16="http://schemas.microsoft.com/office/drawing/2014/main" id="{4EC4A02D-41EA-4D43-B181-2262A2B0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2" name="s4-input-2">
            <a:extLst xmlns:a="http://schemas.openxmlformats.org/drawingml/2006/main">
              <a:ext uri="{FF2B5EF4-FFF2-40B4-BE49-F238E27FC236}">
                <a16:creationId xmlns:a16="http://schemas.microsoft.com/office/drawing/2014/main" id="{20FFE4ED-D9C6-4E7F-B426-EEDAD93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E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4-input-2-t">
            <a:extLst xmlns:a="http://schemas.openxmlformats.org/drawingml/2006/main">
              <a:ext uri="{FF2B5EF4-FFF2-40B4-BE49-F238E27FC236}">
                <a16:creationId xmlns:a16="http://schemas.microsoft.com/office/drawing/2014/main" id="{1D12D743-8DD8-41D8-9887-1EF9490C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414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42A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4" name="s4-input-3">
            <a:extLst xmlns:a="http://schemas.openxmlformats.org/drawingml/2006/main">
              <a:ext uri="{FF2B5EF4-FFF2-40B4-BE49-F238E27FC236}">
                <a16:creationId xmlns:a16="http://schemas.microsoft.com/office/drawing/2014/main" id="{ECD1A9E0-3EE3-4375-9B56-AF3E2AAD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D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4-input-3-t">
            <a:extLst xmlns:a="http://schemas.openxmlformats.org/drawingml/2006/main">
              <a:ext uri="{FF2B5EF4-FFF2-40B4-BE49-F238E27FC236}">
                <a16:creationId xmlns:a16="http://schemas.microsoft.com/office/drawing/2014/main" id="{0472FA04-7466-4509-9C6F-F1EFEA03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414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42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6" name="s4-input-flow">
            <a:extLst xmlns:a="http://schemas.openxmlformats.org/drawingml/2006/main">
              <a:ext uri="{FF2B5EF4-FFF2-40B4-BE49-F238E27FC236}">
                <a16:creationId xmlns:a16="http://schemas.microsoft.com/office/drawing/2014/main" id="{391907C0-2F2B-4D6D-8F42-0C0A4E20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4A8"/>
            </a:solidFill>
            <a:prstDash val="solid"/>
          </a:ln>
        </p:spPr>
      </p:sp>
      <p:sp>
        <p:nvSpPr>
          <p:cNvPr id="17" name="s4-input-node">
            <a:extLst xmlns:a="http://schemas.openxmlformats.org/drawingml/2006/main">
              <a:ext uri="{FF2B5EF4-FFF2-40B4-BE49-F238E27FC236}">
                <a16:creationId xmlns:a16="http://schemas.microsoft.com/office/drawing/2014/main" id="{E8CB09B8-5ED9-46C4-B5EC-098B585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14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E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4-link-0">
            <a:extLst xmlns:a="http://schemas.openxmlformats.org/drawingml/2006/main">
              <a:ext uri="{FF2B5EF4-FFF2-40B4-BE49-F238E27FC236}">
                <a16:creationId xmlns:a16="http://schemas.microsoft.com/office/drawing/2014/main" id="{872C9BAE-1DD0-44F3-BF88-D1F787A3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496D"/>
            </a:solidFill>
            <a:prstDash val="solid"/>
          </a:ln>
        </p:spPr>
      </p:sp>
      <p:sp>
        <p:nvSpPr>
          <p:cNvPr id="19" name="s4-link-1">
            <a:extLst xmlns:a="http://schemas.openxmlformats.org/drawingml/2006/main">
              <a:ext uri="{FF2B5EF4-FFF2-40B4-BE49-F238E27FC236}">
                <a16:creationId xmlns:a16="http://schemas.microsoft.com/office/drawing/2014/main" id="{C331F4CF-B8FA-4B8C-B88A-676DBD9D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496D"/>
            </a:solidFill>
            <a:prstDash val="solid"/>
          </a:ln>
        </p:spPr>
      </p:sp>
      <p:sp>
        <p:nvSpPr>
          <p:cNvPr id="20" name="s4-link-2">
            <a:extLst xmlns:a="http://schemas.openxmlformats.org/drawingml/2006/main">
              <a:ext uri="{FF2B5EF4-FFF2-40B4-BE49-F238E27FC236}">
                <a16:creationId xmlns:a16="http://schemas.microsoft.com/office/drawing/2014/main" id="{FF3F7677-A73F-403B-AADC-314A0B73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496D"/>
            </a:solidFill>
            <a:prstDash val="solid"/>
          </a:ln>
        </p:spPr>
      </p:sp>
      <p:sp>
        <p:nvSpPr>
          <p:cNvPr id="21" name="s4-link-3">
            <a:extLst xmlns:a="http://schemas.openxmlformats.org/drawingml/2006/main">
              <a:ext uri="{FF2B5EF4-FFF2-40B4-BE49-F238E27FC236}">
                <a16:creationId xmlns:a16="http://schemas.microsoft.com/office/drawing/2014/main" id="{E6E605ED-DD23-4434-9C77-E3238E90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496D"/>
            </a:solidFill>
            <a:prstDash val="solid"/>
          </a:ln>
        </p:spPr>
      </p:sp>
      <p:sp>
        <p:nvSpPr>
          <p:cNvPr id="22" name="s4-stage-0-circle">
            <a:extLst xmlns:a="http://schemas.openxmlformats.org/drawingml/2006/main">
              <a:ext uri="{FF2B5EF4-FFF2-40B4-BE49-F238E27FC236}">
                <a16:creationId xmlns:a16="http://schemas.microsoft.com/office/drawing/2014/main" id="{901F38B0-6E01-4078-957B-B2BF6787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4-stage-0-letter">
            <a:extLst xmlns:a="http://schemas.openxmlformats.org/drawingml/2006/main">
              <a:ext uri="{FF2B5EF4-FFF2-40B4-BE49-F238E27FC236}">
                <a16:creationId xmlns:a16="http://schemas.microsoft.com/office/drawing/2014/main" id="{DB86F9FE-5C89-43EE-B046-44275215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004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</a:t>
            </a:r>
          </a:p>
        </p:txBody>
      </p:sp>
      <p:sp>
        <p:nvSpPr>
          <p:cNvPr id="24" name="s4-stage-0-sub">
            <a:extLst xmlns:a="http://schemas.openxmlformats.org/drawingml/2006/main">
              <a:ext uri="{FF2B5EF4-FFF2-40B4-BE49-F238E27FC236}">
                <a16:creationId xmlns:a16="http://schemas.microsoft.com/office/drawing/2014/main" id="{FF8D3978-F2D4-410B-ABA6-C44E8107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96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rPr>
              <a:t>逻辑</a:t>
            </a:r>
          </a:p>
        </p:txBody>
      </p:sp>
      <p:sp>
        <p:nvSpPr>
          <p:cNvPr id="25" name="s4-stage-0-desc">
            <a:extLst xmlns:a="http://schemas.openxmlformats.org/drawingml/2006/main">
              <a:ext uri="{FF2B5EF4-FFF2-40B4-BE49-F238E27FC236}">
                <a16:creationId xmlns:a16="http://schemas.microsoft.com/office/drawing/2014/main" id="{497133C4-3CE1-42AE-A139-501A8A52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24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rPr>
              <a:t>问题链 / 关系 / 证据</a:t>
            </a:r>
          </a:p>
        </p:txBody>
      </p:sp>
      <p:sp>
        <p:nvSpPr>
          <p:cNvPr id="26" name="s4-stage-1-circle">
            <a:extLst xmlns:a="http://schemas.openxmlformats.org/drawingml/2006/main">
              <a:ext uri="{FF2B5EF4-FFF2-40B4-BE49-F238E27FC236}">
                <a16:creationId xmlns:a16="http://schemas.microsoft.com/office/drawing/2014/main" id="{4166E959-2EC6-4E6E-9F13-58D34FDD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4-stage-1-letter">
            <a:extLst xmlns:a="http://schemas.openxmlformats.org/drawingml/2006/main">
              <a:ext uri="{FF2B5EF4-FFF2-40B4-BE49-F238E27FC236}">
                <a16:creationId xmlns:a16="http://schemas.microsoft.com/office/drawing/2014/main" id="{17CDA155-F7F2-43B1-8BE5-AA204A5D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004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28" name="s4-stage-1-sub">
            <a:extLst xmlns:a="http://schemas.openxmlformats.org/drawingml/2006/main">
              <a:ext uri="{FF2B5EF4-FFF2-40B4-BE49-F238E27FC236}">
                <a16:creationId xmlns:a16="http://schemas.microsoft.com/office/drawing/2014/main" id="{49051066-F099-4936-9131-766981FA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rPr>
              <a:t>文案</a:t>
            </a:r>
          </a:p>
        </p:txBody>
      </p:sp>
      <p:sp>
        <p:nvSpPr>
          <p:cNvPr id="29" name="s4-stage-1-desc">
            <a:extLst xmlns:a="http://schemas.openxmlformats.org/drawingml/2006/main">
              <a:ext uri="{FF2B5EF4-FFF2-40B4-BE49-F238E27FC236}">
                <a16:creationId xmlns:a16="http://schemas.microsoft.com/office/drawing/2014/main" id="{A7D9D92F-A317-41B8-8893-B892A04F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24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rPr>
              <a:t>原子化 / 层级 / 断句</a:t>
            </a:r>
          </a:p>
        </p:txBody>
      </p:sp>
      <p:sp>
        <p:nvSpPr>
          <p:cNvPr id="30" name="s4-stage-2-circle">
            <a:extLst xmlns:a="http://schemas.openxmlformats.org/drawingml/2006/main">
              <a:ext uri="{FF2B5EF4-FFF2-40B4-BE49-F238E27FC236}">
                <a16:creationId xmlns:a16="http://schemas.microsoft.com/office/drawing/2014/main" id="{AE96C2B5-E9CD-4B4A-8077-95BE9006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33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7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4-stage-2-letter">
            <a:extLst xmlns:a="http://schemas.openxmlformats.org/drawingml/2006/main">
              <a:ext uri="{FF2B5EF4-FFF2-40B4-BE49-F238E27FC236}">
                <a16:creationId xmlns:a16="http://schemas.microsoft.com/office/drawing/2014/main" id="{53AC1B2B-CAE6-4772-81B4-129E4316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004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32" name="s4-stage-2-sub">
            <a:extLst xmlns:a="http://schemas.openxmlformats.org/drawingml/2006/main">
              <a:ext uri="{FF2B5EF4-FFF2-40B4-BE49-F238E27FC236}">
                <a16:creationId xmlns:a16="http://schemas.microsoft.com/office/drawing/2014/main" id="{5DCA3931-3EC0-4FC8-BC15-050BAFBA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196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rPr>
              <a:t>艺术指导</a:t>
            </a:r>
          </a:p>
        </p:txBody>
      </p:sp>
      <p:sp>
        <p:nvSpPr>
          <p:cNvPr id="33" name="s4-stage-2-desc">
            <a:extLst xmlns:a="http://schemas.openxmlformats.org/drawingml/2006/main">
              <a:ext uri="{FF2B5EF4-FFF2-40B4-BE49-F238E27FC236}">
                <a16:creationId xmlns:a16="http://schemas.microsoft.com/office/drawing/2014/main" id="{75E0C238-1E23-45DE-B67D-097DA9F3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rPr>
              <a:t>构图 / 注意力 / 节奏</a:t>
            </a:r>
          </a:p>
        </p:txBody>
      </p:sp>
      <p:sp>
        <p:nvSpPr>
          <p:cNvPr id="34" name="s4-stage-3-circle">
            <a:extLst xmlns:a="http://schemas.openxmlformats.org/drawingml/2006/main">
              <a:ext uri="{FF2B5EF4-FFF2-40B4-BE49-F238E27FC236}">
                <a16:creationId xmlns:a16="http://schemas.microsoft.com/office/drawing/2014/main" id="{433E7E73-A653-4736-B5A7-134F7436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33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4-stage-3-letter">
            <a:extLst xmlns:a="http://schemas.openxmlformats.org/drawingml/2006/main">
              <a:ext uri="{FF2B5EF4-FFF2-40B4-BE49-F238E27FC236}">
                <a16:creationId xmlns:a16="http://schemas.microsoft.com/office/drawing/2014/main" id="{D0DD67A7-F2A0-4BAE-9A1A-EF214E8C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004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</a:t>
            </a:r>
          </a:p>
        </p:txBody>
      </p:sp>
      <p:sp>
        <p:nvSpPr>
          <p:cNvPr id="36" name="s4-stage-3-sub">
            <a:extLst xmlns:a="http://schemas.openxmlformats.org/drawingml/2006/main">
              <a:ext uri="{FF2B5EF4-FFF2-40B4-BE49-F238E27FC236}">
                <a16:creationId xmlns:a16="http://schemas.microsoft.com/office/drawing/2014/main" id="{868193C6-FA81-419C-BD6A-D3886F73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196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37" name="s4-stage-3-desc">
            <a:extLst xmlns:a="http://schemas.openxmlformats.org/drawingml/2006/main">
              <a:ext uri="{FF2B5EF4-FFF2-40B4-BE49-F238E27FC236}">
                <a16:creationId xmlns:a16="http://schemas.microsoft.com/office/drawing/2014/main" id="{48B6997F-116C-4A5F-ABC7-592157C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24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rPr>
              <a:t>可编辑对象 / 兼容 / QA</a:t>
            </a:r>
          </a:p>
        </p:txBody>
      </p:sp>
      <p:sp>
        <p:nvSpPr>
          <p:cNvPr id="38" name="s4-stage-4-circle">
            <a:extLst xmlns:a="http://schemas.openxmlformats.org/drawingml/2006/main">
              <a:ext uri="{FF2B5EF4-FFF2-40B4-BE49-F238E27FC236}">
                <a16:creationId xmlns:a16="http://schemas.microsoft.com/office/drawing/2014/main" id="{069574E5-68B7-4FD9-913A-D951D6C0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E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4-stage-4-letter">
            <a:extLst xmlns:a="http://schemas.openxmlformats.org/drawingml/2006/main">
              <a:ext uri="{FF2B5EF4-FFF2-40B4-BE49-F238E27FC236}">
                <a16:creationId xmlns:a16="http://schemas.microsoft.com/office/drawing/2014/main" id="{7EA42B3E-960C-4CAD-9295-11737AB9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004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</a:t>
            </a:r>
          </a:p>
        </p:txBody>
      </p:sp>
      <p:sp>
        <p:nvSpPr>
          <p:cNvPr id="40" name="s4-stage-4-sub">
            <a:extLst xmlns:a="http://schemas.openxmlformats.org/drawingml/2006/main">
              <a:ext uri="{FF2B5EF4-FFF2-40B4-BE49-F238E27FC236}">
                <a16:creationId xmlns:a16="http://schemas.microsoft.com/office/drawing/2014/main" id="{6AE73E9E-7520-4F26-AA54-F7024ECD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rPr>
              <a:t>监督</a:t>
            </a:r>
          </a:p>
        </p:txBody>
      </p:sp>
      <p:sp>
        <p:nvSpPr>
          <p:cNvPr id="41" name="s4-stage-4-desc">
            <a:extLst xmlns:a="http://schemas.openxmlformats.org/drawingml/2006/main">
              <a:ext uri="{FF2B5EF4-FFF2-40B4-BE49-F238E27FC236}">
                <a16:creationId xmlns:a16="http://schemas.microsoft.com/office/drawing/2014/main" id="{81379CE1-5073-4B79-B46C-A8119E6B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24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A9A7C7"/>
                </a:solidFill>
                <a:latin typeface="Noto Sans CJK SC"/>
                <a:ea typeface="Noto Sans CJK SC"/>
                <a:cs typeface="Noto Sans CJK SC"/>
              </a:rPr>
              <a:t>漂移诊断 / 证据闭环</a:t>
            </a:r>
          </a:p>
        </p:txBody>
      </p:sp>
      <p:sp>
        <p:nvSpPr>
          <p:cNvPr id="42" name="s4-output">
            <a:extLst xmlns:a="http://schemas.openxmlformats.org/drawingml/2006/main">
              <a:ext uri="{FF2B5EF4-FFF2-40B4-BE49-F238E27FC236}">
                <a16:creationId xmlns:a16="http://schemas.microsoft.com/office/drawing/2014/main" id="{B290F2BA-0F96-4665-A551-BBDCB873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295400" cy="226695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4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4-output-label">
            <a:extLst xmlns:a="http://schemas.openxmlformats.org/drawingml/2006/main">
              <a:ext uri="{FF2B5EF4-FFF2-40B4-BE49-F238E27FC236}">
                <a16:creationId xmlns:a16="http://schemas.microsoft.com/office/drawing/2014/main" id="{8EF94600-11E1-416E-AF12-CAEEF361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57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F6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C9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44" name="s4-pptx">
            <a:extLst xmlns:a="http://schemas.openxmlformats.org/drawingml/2006/main">
              <a:ext uri="{FF2B5EF4-FFF2-40B4-BE49-F238E27FC236}">
                <a16:creationId xmlns:a16="http://schemas.microsoft.com/office/drawing/2014/main" id="{30675B6C-62E2-4B01-8880-FB936EA3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3855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5B5BD6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5B5BD6"/>
                </a:solidFill>
                <a:latin typeface="Aptos Display"/>
                <a:ea typeface="Aptos Display"/>
                <a:cs typeface="Aptos Display"/>
              </a:rPr>
              <a:t>PPTX</a:t>
            </a:r>
          </a:p>
        </p:txBody>
      </p:sp>
      <p:sp>
        <p:nvSpPr>
          <p:cNvPr id="45" name="s4-output-rule">
            <a:extLst xmlns:a="http://schemas.openxmlformats.org/drawingml/2006/main">
              <a:ext uri="{FF2B5EF4-FFF2-40B4-BE49-F238E27FC236}">
                <a16:creationId xmlns:a16="http://schemas.microsoft.com/office/drawing/2014/main" id="{B6E0395B-2F5B-4139-97C0-B5261058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672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6EA"/>
            </a:solidFill>
            <a:prstDash val="solid"/>
          </a:ln>
        </p:spPr>
      </p:sp>
      <p:sp>
        <p:nvSpPr>
          <p:cNvPr id="46" name="s4-output-list">
            <a:extLst xmlns:a="http://schemas.openxmlformats.org/drawingml/2006/main">
              <a:ext uri="{FF2B5EF4-FFF2-40B4-BE49-F238E27FC236}">
                <a16:creationId xmlns:a16="http://schemas.microsoft.com/office/drawing/2014/main" id="{236CC319-2402-4DA1-903F-ADA5F9D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38650"/>
            <a:ext cx="1104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1">
                <a:solidFill>
                  <a:srgbClr val="3936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3654"/>
                </a:solidFill>
                <a:latin typeface="Noto Sans CJK SC"/>
                <a:ea typeface="Noto Sans CJK SC"/>
                <a:cs typeface="Noto Sans CJK SC"/>
              </a:rPr>
              <a:t>可编辑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125" b="1">
                <a:solidFill>
                  <a:srgbClr val="3936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3654"/>
                </a:solidFill>
                <a:latin typeface="Noto Sans CJK SC"/>
                <a:ea typeface="Noto Sans CJK SC"/>
                <a:cs typeface="Noto Sans CJK SC"/>
              </a:rPr>
              <a:t>有来源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125" b="1">
                <a:solidFill>
                  <a:srgbClr val="3936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3654"/>
                </a:solidFill>
                <a:latin typeface="Noto Sans CJK SC"/>
                <a:ea typeface="Noto Sans CJK SC"/>
                <a:cs typeface="Noto Sans CJK SC"/>
              </a:rPr>
              <a:t>可重开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1125" b="1">
                <a:solidFill>
                  <a:srgbClr val="3936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3654"/>
                </a:solidFill>
                <a:latin typeface="Noto Sans CJK SC"/>
                <a:ea typeface="Noto Sans CJK SC"/>
                <a:cs typeface="Noto Sans CJK SC"/>
              </a:rPr>
              <a:t>可复用</a:t>
            </a:r>
          </a:p>
        </p:txBody>
      </p:sp>
      <p:sp>
        <p:nvSpPr>
          <p:cNvPr id="47" name="s4-proof-ring">
            <a:extLst xmlns:a="http://schemas.openxmlformats.org/drawingml/2006/main">
              <a:ext uri="{FF2B5EF4-FFF2-40B4-BE49-F238E27FC236}">
                <a16:creationId xmlns:a16="http://schemas.microsoft.com/office/drawing/2014/main" id="{D3D0766F-C7D0-4772-90D6-41922448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76550"/>
            <a:ext cx="1638300" cy="2609850"/>
          </a:xfrm>
          <a:prstGeom xmlns:a="http://schemas.openxmlformats.org/drawingml/2006/main" prst="roundRect">
            <a:avLst>
              <a:gd name="adj" fmla="val 15116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43E7B3"/>
            </a:solidFill>
            <a:prstDash val="solid"/>
          </a:ln>
        </p:spPr>
      </p:sp>
      <p:sp>
        <p:nvSpPr>
          <p:cNvPr id="48" name="s4-bottom-rule">
            <a:extLst xmlns:a="http://schemas.openxmlformats.org/drawingml/2006/main">
              <a:ext uri="{FF2B5EF4-FFF2-40B4-BE49-F238E27FC236}">
                <a16:creationId xmlns:a16="http://schemas.microsoft.com/office/drawing/2014/main" id="{0388DD89-1FAA-4EF5-A068-F4DF52C4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251"/>
            </a:solidFill>
            <a:prstDash val="solid"/>
          </a:ln>
        </p:spPr>
      </p:sp>
      <p:sp>
        <p:nvSpPr>
          <p:cNvPr id="49" name="s4-how">
            <a:extLst xmlns:a="http://schemas.openxmlformats.org/drawingml/2006/main">
              <a:ext uri="{FF2B5EF4-FFF2-40B4-BE49-F238E27FC236}">
                <a16:creationId xmlns:a16="http://schemas.microsoft.com/office/drawing/2014/main" id="{CE78FF75-9507-4050-8352-86ADDC8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774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4A8"/>
                </a:solidFill>
                <a:latin typeface="Aptos"/>
                <a:ea typeface="Aptos"/>
                <a:cs typeface="Aptos"/>
              </a:rPr>
              <a:t>HOW TO USE</a:t>
            </a:r>
          </a:p>
        </p:txBody>
      </p:sp>
      <p:sp>
        <p:nvSpPr>
          <p:cNvPr id="50" name="s4-how-0-num">
            <a:extLst xmlns:a="http://schemas.openxmlformats.org/drawingml/2006/main">
              <a:ext uri="{FF2B5EF4-FFF2-40B4-BE49-F238E27FC236}">
                <a16:creationId xmlns:a16="http://schemas.microsoft.com/office/drawing/2014/main" id="{A2C74CD8-F48B-4E00-A0A0-3AF1FE4F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4-how-0-n">
            <a:extLst xmlns:a="http://schemas.openxmlformats.org/drawingml/2006/main">
              <a:ext uri="{FF2B5EF4-FFF2-40B4-BE49-F238E27FC236}">
                <a16:creationId xmlns:a16="http://schemas.microsoft.com/office/drawing/2014/main" id="{5564052C-BC4B-4D7A-BB00-CD320D6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67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2" name="s4-how-0-title">
            <a:extLst xmlns:a="http://schemas.openxmlformats.org/drawingml/2006/main">
              <a:ext uri="{FF2B5EF4-FFF2-40B4-BE49-F238E27FC236}">
                <a16:creationId xmlns:a16="http://schemas.microsoft.com/office/drawing/2014/main" id="{AAA75D7D-B0ED-4040-BA1E-87E2701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91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给材料 + 目标</a:t>
            </a:r>
          </a:p>
        </p:txBody>
      </p:sp>
      <p:sp>
        <p:nvSpPr>
          <p:cNvPr id="53" name="s4-how-0-desc">
            <a:extLst xmlns:a="http://schemas.openxmlformats.org/drawingml/2006/main">
              <a:ext uri="{FF2B5EF4-FFF2-40B4-BE49-F238E27FC236}">
                <a16:creationId xmlns:a16="http://schemas.microsoft.com/office/drawing/2014/main" id="{38FE96E3-40B8-47ED-A6E2-7C789101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0579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0">
                <a:solidFill>
                  <a:srgbClr val="9C99B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C99BF"/>
                </a:solidFill>
                <a:latin typeface="Noto Sans CJK SC"/>
                <a:ea typeface="Noto Sans CJK SC"/>
                <a:cs typeface="Noto Sans CJK SC"/>
              </a:rPr>
              <a:t>链接、PDF、数据、已有PPT</a:t>
            </a:r>
          </a:p>
        </p:txBody>
      </p:sp>
      <p:sp>
        <p:nvSpPr>
          <p:cNvPr id="54" name="s4-how-1-num">
            <a:extLst xmlns:a="http://schemas.openxmlformats.org/drawingml/2006/main">
              <a:ext uri="{FF2B5EF4-FFF2-40B4-BE49-F238E27FC236}">
                <a16:creationId xmlns:a16="http://schemas.microsoft.com/office/drawing/2014/main" id="{11CCFDEA-0747-4860-BFD4-953DA77F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81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4-how-1-n">
            <a:extLst xmlns:a="http://schemas.openxmlformats.org/drawingml/2006/main">
              <a:ext uri="{FF2B5EF4-FFF2-40B4-BE49-F238E27FC236}">
                <a16:creationId xmlns:a16="http://schemas.microsoft.com/office/drawing/2014/main" id="{47E022EE-99BD-4D2C-9367-AE37CD2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867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6" name="s4-how-1-title">
            <a:extLst xmlns:a="http://schemas.openxmlformats.org/drawingml/2006/main">
              <a:ext uri="{FF2B5EF4-FFF2-40B4-BE49-F238E27FC236}">
                <a16:creationId xmlns:a16="http://schemas.microsoft.com/office/drawing/2014/main" id="{ECADCE90-DC75-4B6A-853E-85646A2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791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自动研究 + 压缩</a:t>
            </a:r>
          </a:p>
        </p:txBody>
      </p:sp>
      <p:sp>
        <p:nvSpPr>
          <p:cNvPr id="57" name="s4-how-1-desc">
            <a:extLst xmlns:a="http://schemas.openxmlformats.org/drawingml/2006/main">
              <a:ext uri="{FF2B5EF4-FFF2-40B4-BE49-F238E27FC236}">
                <a16:creationId xmlns:a16="http://schemas.microsoft.com/office/drawing/2014/main" id="{6857A18F-A38A-4F51-9B3A-6C053BF7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60579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0">
                <a:solidFill>
                  <a:srgbClr val="9C99B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C99BF"/>
                </a:solidFill>
                <a:latin typeface="Noto Sans CJK SC"/>
                <a:ea typeface="Noto Sans CJK SC"/>
                <a:cs typeface="Noto Sans CJK SC"/>
              </a:rPr>
              <a:t>先找真问题，再决定文字与版式</a:t>
            </a:r>
          </a:p>
        </p:txBody>
      </p:sp>
      <p:sp>
        <p:nvSpPr>
          <p:cNvPr id="58" name="s4-how-2-num">
            <a:extLst xmlns:a="http://schemas.openxmlformats.org/drawingml/2006/main">
              <a:ext uri="{FF2B5EF4-FFF2-40B4-BE49-F238E27FC236}">
                <a16:creationId xmlns:a16="http://schemas.microsoft.com/office/drawing/2014/main" id="{7567FEA3-E99C-4BCA-B7AF-14FE8B3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1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E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4-how-2-n">
            <a:extLst xmlns:a="http://schemas.openxmlformats.org/drawingml/2006/main">
              <a:ext uri="{FF2B5EF4-FFF2-40B4-BE49-F238E27FC236}">
                <a16:creationId xmlns:a16="http://schemas.microsoft.com/office/drawing/2014/main" id="{391791E6-CAAC-4051-81E9-EBEBE6DF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67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414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142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0" name="s4-how-2-title">
            <a:extLst xmlns:a="http://schemas.openxmlformats.org/drawingml/2006/main">
              <a:ext uri="{FF2B5EF4-FFF2-40B4-BE49-F238E27FC236}">
                <a16:creationId xmlns:a16="http://schemas.microsoft.com/office/drawing/2014/main" id="{DC15713E-4AB3-4834-9DC4-571417EB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791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返回PPTX + 证据</a:t>
            </a:r>
          </a:p>
        </p:txBody>
      </p:sp>
      <p:sp>
        <p:nvSpPr>
          <p:cNvPr id="61" name="s4-how-2-desc">
            <a:extLst xmlns:a="http://schemas.openxmlformats.org/drawingml/2006/main">
              <a:ext uri="{FF2B5EF4-FFF2-40B4-BE49-F238E27FC236}">
                <a16:creationId xmlns:a16="http://schemas.microsoft.com/office/drawing/2014/main" id="{58B6E9DE-FC54-4C28-9F8F-C9CBF803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579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0">
                <a:solidFill>
                  <a:srgbClr val="9C99B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C99BF"/>
                </a:solidFill>
                <a:latin typeface="Noto Sans CJK SC"/>
                <a:ea typeface="Noto Sans CJK SC"/>
                <a:cs typeface="Noto Sans CJK SC"/>
              </a:rPr>
              <a:t>逐页来源、可编辑对象、最终重开QA</a:t>
            </a:r>
          </a:p>
        </p:txBody>
      </p:sp>
      <p:sp>
        <p:nvSpPr>
          <p:cNvPr id="62" name="04 / CLAYZ-footer-rule">
            <a:extLst xmlns:a="http://schemas.openxmlformats.org/drawingml/2006/main">
              <a:ext uri="{FF2B5EF4-FFF2-40B4-BE49-F238E27FC236}">
                <a16:creationId xmlns:a16="http://schemas.microsoft.com/office/drawing/2014/main" id="{B2F55DC8-531A-47AE-9E3D-430C026E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96D"/>
            </a:solidFill>
            <a:prstDash val="solid"/>
          </a:ln>
        </p:spPr>
      </p:sp>
      <p:sp>
        <p:nvSpPr>
          <p:cNvPr id="63" name="04 / CLAYZ-footer-left">
            <a:extLst xmlns:a="http://schemas.openxmlformats.org/drawingml/2006/main">
              <a:ext uri="{FF2B5EF4-FFF2-40B4-BE49-F238E27FC236}">
                <a16:creationId xmlns:a16="http://schemas.microsoft.com/office/drawing/2014/main" id="{D21D8711-A5B0-4A48-B647-68CFAE2E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B49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4B496D"/>
                </a:solidFill>
                <a:latin typeface="Noto Sans CJK SC"/>
                <a:ea typeface="Noto Sans CJK SC"/>
                <a:cs typeface="Noto Sans CJK SC"/>
              </a:rPr>
              <a:t>PUBLIC OFFICIAL SOURCES • DETAILS IN SPEAKER NOTES</a:t>
            </a:r>
          </a:p>
        </p:txBody>
      </p:sp>
      <p:sp>
        <p:nvSpPr>
          <p:cNvPr id="64" name="04 / CLAYZ-footer-right">
            <a:extLst xmlns:a="http://schemas.openxmlformats.org/drawingml/2006/main">
              <a:ext uri="{FF2B5EF4-FFF2-40B4-BE49-F238E27FC236}">
                <a16:creationId xmlns:a16="http://schemas.microsoft.com/office/drawing/2014/main" id="{BDAFEC83-86C0-4CD0-A749-083B10FD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8177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4F2FF"/>
                </a:solidFill>
                <a:latin typeface="Noto Sans CJK SC"/>
                <a:ea typeface="Noto Sans CJK SC"/>
                <a:cs typeface="Noto Sans CJK SC"/>
              </a:rPr>
              <a:t>04 / CLAYZ</a:t>
            </a:r>
          </a:p>
        </p:txBody>
      </p:sp>
    </p:spTree>
    <p:extLst>
      <p:ext uri="{BB962C8B-B14F-4D97-AF65-F5344CB8AC3E}">
        <p14:creationId xmlns:p14="http://schemas.microsoft.com/office/powerpoint/2010/main" val="1759274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2026-08-20T16:16:18.1340000Z</dcterms:created>
  <dcterms:modified xsi:type="dcterms:W3CDTF">2026-08-20T16:16:18.1340000Z</dcterms:modified>
</coreProperties>
</file>

<file path=docProps/custom.xml><?xml version="1.0" encoding="utf-8"?>
<ns0:Properties xmlns:ns0="http://schemas.openxmlformats.org/officeDocument/2006/custom-properties" xmlns:vt="http://schemas.openxmlformats.org/officeDocument/2006/docPropsVTypes">
  <ns0:property fmtid="{D5CDD505-2E9C-101B-9397-08002B2CF9AE}" pid="2" name="ClayzGenerator">
    <vt:lpwstr>clayz-presentation-skills</vt:lpwstr>
  </ns0:property>
  <ns0:property fmtid="{D5CDD505-2E9C-101B-9397-08002B2CF9AE}" pid="3" name="ClayzVersion">
    <vt:lpwstr>0.2.0</vt:lpwstr>
  </ns0:property>
  <ns0:property fmtid="{D5CDD505-2E9C-101B-9397-08002B2CF9AE}" pid="4" name="ClayzOriginalArchitecture">
    <vt:lpwstr>clayz</vt:lpwstr>
  </ns0:property>
  <ns0:property fmtid="{D5CDD505-2E9C-101B-9397-08002B2CF9AE}" pid="5" name="ClayzBrand">
    <vt:lpwstr>clayz</vt:lpwstr>
  </ns0:property>
  <ns0:property fmtid="{D5CDD505-2E9C-101B-9397-08002B2CF9AE}" pid="6" name="ClayzNamespace">
    <vt:lpwstr>io.clayz.presentation</vt:lpwstr>
  </ns0:property>
</ns0:Properties>
</file>