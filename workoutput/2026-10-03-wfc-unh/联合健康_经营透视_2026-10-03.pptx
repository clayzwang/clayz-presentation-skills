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2025Q2</c:v>
                </c:pt>
              </c:strCache>
            </c:strRef>
          </c:tx>
          <c:spPr>
            <a:solidFill>
              <a:srgbClr val="005CA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收入</c:v>
                </c:pt>
                <c:pt idx="1">
                  <c:v>营业利润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111.6</c:v>
                </c:pt>
                <c:pt idx="1">
                  <c:v>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2026Q2</c:v>
                </c:pt>
              </c:strCache>
            </c:strRef>
          </c:tx>
          <c:spPr>
            <a:solidFill>
              <a:srgbClr val="15354B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收入</c:v>
                </c:pt>
                <c:pt idx="1">
                  <c:v>营业利润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112.0</c:v>
                </c:pt>
                <c:pt idx="1">
                  <c:v>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STKait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.0"/>
          <c:min val="0.0"/>
        </c:scaling>
        <c:delete val="0"/>
        <c:axPos val="l"/>
        <c:majorGridlines>
          <c:spPr>
            <a:ln>
              <a:solidFill>
                <a:srgbClr val="D9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STKait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2026Q2 营业利润</c:v>
                </c:pt>
              </c:strCache>
            </c:strRef>
          </c:tx>
          <c:spPr>
            <a:solidFill>
              <a:srgbClr val="005CA9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UHC</c:v>
                </c:pt>
                <c:pt idx="1">
                  <c:v>Optum Health</c:v>
                </c:pt>
                <c:pt idx="2">
                  <c:v>Optum Insight</c:v>
                </c:pt>
                <c:pt idx="3">
                  <c:v>Optum Rx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3.94</c:v>
                </c:pt>
                <c:pt idx="1">
                  <c:v>1.19</c:v>
                </c:pt>
                <c:pt idx="2">
                  <c:v>1.37</c:v>
                </c:pt>
                <c:pt idx="3">
                  <c:v>1.49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STKait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2"/>
          <c:min val="0.0"/>
        </c:scaling>
        <c:delete val="0"/>
        <c:axPos val="l"/>
        <c:majorGridlines>
          <c:spPr>
            <a:ln>
              <a:solidFill>
                <a:srgbClr val="D9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独立研究材料；经营数据以2026年第二季度披露为主。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54B"/>
          </a:solidFill>
          <a:ln>
            <a:solidFill>
              <a:srgbClr val="15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1234440"/>
            <a:ext cx="91440" cy="4206240"/>
          </a:xfrm>
          <a:prstGeom prst="rect">
            <a:avLst/>
          </a:prstGeom>
          <a:solidFill>
            <a:srgbClr val="005CA9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005CA9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0" y="420624"/>
            <a:ext cx="2496312" cy="6016752"/>
          </a:xfrm>
          <a:prstGeom prst="rect">
            <a:avLst/>
          </a:prstGeom>
          <a:solidFill>
            <a:srgbClr val="15354B"/>
          </a:solidFill>
          <a:ln>
            <a:solidFill>
              <a:srgbClr val="15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380744"/>
            <a:ext cx="7360920" cy="3566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5CA9"/>
                </a:solidFill>
                <a:latin typeface="STKaiti"/>
                <a:ea typeface="STKaiti"/>
              </a:rPr>
              <a:t>COMPANY DEEP DIVE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011680"/>
            <a:ext cx="7680960" cy="7680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STKaiti"/>
                <a:ea typeface="STKaiti"/>
              </a:rPr>
              <a:t>联合健康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889504"/>
            <a:ext cx="7680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TKaiti"/>
                <a:ea typeface="STKaiti"/>
              </a:rPr>
              <a:t>经营透视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05656"/>
            <a:ext cx="7242048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TKaiti"/>
                <a:ea typeface="STKaiti"/>
              </a:rPr>
              <a:t>利润修复与会员收缩同时发生：检验一体化模式的长期价值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7242048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8D5DD"/>
                </a:solidFill>
                <a:latin typeface="STKaiti"/>
                <a:ea typeface="STKaiti"/>
              </a:rPr>
              <a:t>UNITEDHEALTH GROUP  ·  截至 2026-10-03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5354B"/>
                </a:solidFill>
                <a:latin typeface="STKaiti"/>
                <a:ea typeface="STKaiti"/>
              </a:rPr>
              <a:t>核心判断：盈利回升真实，增长引擎仍在重新校准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二季度利润改善明显；会员、风险医疗患者和药房处方量同步承压。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来源：U1、U2、U3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90472"/>
            <a:ext cx="3447288" cy="3913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90472"/>
            <a:ext cx="64008" cy="3913632"/>
          </a:xfrm>
          <a:prstGeom prst="rect">
            <a:avLst/>
          </a:prstGeom>
          <a:solidFill>
            <a:srgbClr val="167E68"/>
          </a:solidFill>
          <a:ln>
            <a:solidFill>
              <a:srgbClr val="167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636775"/>
            <a:ext cx="3090672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7E68"/>
                </a:solidFill>
                <a:latin typeface="STKaiti"/>
                <a:ea typeface="STKaiti"/>
              </a:rPr>
              <a:t>利润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39"/>
            <a:ext cx="309067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5354B"/>
                </a:solidFill>
                <a:latin typeface="STKaiti"/>
                <a:ea typeface="STKaiti"/>
              </a:rPr>
              <a:t>80 亿美元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23160"/>
            <a:ext cx="3054096" cy="2834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2026Q2 营业利润同比从 52 亿美元升至 80 亿美元；医疗成本率从 89.4% 降至 86.7%。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490472"/>
            <a:ext cx="3447288" cy="3913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490472"/>
            <a:ext cx="64008" cy="3913632"/>
          </a:xfrm>
          <a:prstGeom prst="rect">
            <a:avLst/>
          </a:prstGeom>
          <a:solidFill>
            <a:srgbClr val="005CA9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1636775"/>
            <a:ext cx="3090672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5CA9"/>
                </a:solidFill>
                <a:latin typeface="STKaiti"/>
                <a:ea typeface="STKaiti"/>
              </a:rPr>
              <a:t>规模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1920239"/>
            <a:ext cx="309067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5354B"/>
                </a:solidFill>
                <a:latin typeface="STKaiti"/>
                <a:ea typeface="STKaiti"/>
              </a:rPr>
              <a:t>会员 4850 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2423160"/>
            <a:ext cx="3054096" cy="2834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联合医疗服务人数环比减少 52.5 万；Medicare Advantage 年初以来约减少 96.5 万。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90472"/>
            <a:ext cx="3447288" cy="3913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90472"/>
            <a:ext cx="64008" cy="3913632"/>
          </a:xfrm>
          <a:prstGeom prst="rect">
            <a:avLst/>
          </a:prstGeom>
          <a:solidFill>
            <a:srgbClr val="B5474B"/>
          </a:solidFill>
          <a:ln>
            <a:solidFill>
              <a:srgbClr val="B54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636775"/>
            <a:ext cx="3090672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5474B"/>
                </a:solidFill>
                <a:latin typeface="STKaiti"/>
                <a:ea typeface="STKaiti"/>
              </a:rPr>
              <a:t>质量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920239"/>
            <a:ext cx="309067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5354B"/>
                </a:solidFill>
                <a:latin typeface="STKaiti"/>
                <a:ea typeface="STKaiti"/>
              </a:rPr>
              <a:t>储备释放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423160"/>
            <a:ext cx="3054096" cy="2834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本季有 8.6 亿美元有利历史准备金发展；不能把单季改善全部年化。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5354B"/>
                </a:solidFill>
                <a:latin typeface="STKaiti"/>
                <a:ea typeface="STKaiti"/>
              </a:rPr>
              <a:t>商业模式：保险、医疗、数据和药品的闭环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UnitedHealthcare 承保与行政服务；Optum 对内外客户提供医疗、技术和药房服务。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来源：U1、U2、U6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1618488"/>
            <a:ext cx="3657600" cy="3483864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837943"/>
            <a:ext cx="3090672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5354B"/>
                </a:solidFill>
                <a:latin typeface="STKaiti"/>
                <a:ea typeface="STKaiti"/>
              </a:rPr>
              <a:t>UnitedHealthcare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459736"/>
            <a:ext cx="3035808" cy="22128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4333F"/>
                </a:solidFill>
                <a:latin typeface="STKaiti"/>
                <a:ea typeface="STKaiti"/>
              </a:rPr>
              <a:t>雇主与个人：保费／行政服务费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4333F"/>
                </a:solidFill>
                <a:latin typeface="STKaiti"/>
                <a:ea typeface="STKaiti"/>
              </a:rPr>
              <a:t>Medicare：政府付费 + 补充保费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4333F"/>
                </a:solidFill>
                <a:latin typeface="STKaiti"/>
                <a:ea typeface="STKaiti"/>
              </a:rPr>
              <a:t>Medicaid：州政府管理式医疗支付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07408" y="3218688"/>
            <a:ext cx="640080" cy="0"/>
          </a:xfrm>
          <a:prstGeom prst="line">
            <a:avLst/>
          </a:prstGeom>
          <a:ln w="38100">
            <a:solidFill>
              <a:srgbClr val="005C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1609344"/>
            <a:ext cx="6391656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1764792"/>
            <a:ext cx="2240280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5354B"/>
                </a:solidFill>
                <a:latin typeface="STKaiti"/>
                <a:ea typeface="STKaiti"/>
              </a:rPr>
              <a:t>Optum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1792224"/>
            <a:ext cx="3456432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诊疗、护理与风险共担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2816352"/>
            <a:ext cx="6391656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2971800"/>
            <a:ext cx="2240280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5354B"/>
                </a:solidFill>
                <a:latin typeface="STKaiti"/>
                <a:ea typeface="STKaiti"/>
              </a:rPr>
              <a:t>Optum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999232"/>
            <a:ext cx="3456432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技术、数据与支付流程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4023360"/>
            <a:ext cx="6391656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8" y="4178808"/>
            <a:ext cx="2240280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5354B"/>
                </a:solidFill>
                <a:latin typeface="STKaiti"/>
                <a:ea typeface="STKaiti"/>
              </a:rPr>
              <a:t>Optum Rx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4206240"/>
            <a:ext cx="3456432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药品福利管理与药房服务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340096"/>
            <a:ext cx="1056132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5CA9"/>
                </a:solidFill>
                <a:latin typeface="STKaiti"/>
                <a:ea typeface="STKaiti"/>
              </a:rPr>
              <a:t>内部交易在合并报表抵销。模式价值取决于更好的医疗结果、成本和体验，而非仅靠垂直整合规模。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5354B"/>
                </a:solidFill>
                <a:latin typeface="STKaiti"/>
                <a:ea typeface="STKaiti"/>
              </a:rPr>
              <a:t>二季度利润弹回，但收入几乎没有增长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成本率改善与产品重定价形成利润弹性；成交量与会员规模并未同步恢复。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来源：U1、U2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86384" y="1545336"/>
          <a:ext cx="65836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7824" y="5824728"/>
            <a:ext cx="621792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0717D"/>
                </a:solidFill>
                <a:latin typeface="STKaiti"/>
                <a:ea typeface="STKaiti"/>
              </a:rPr>
              <a:t>单位：十亿美元；收入含各分部内部抵销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53527" y="1636776"/>
            <a:ext cx="3749039" cy="1417320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0416" y="1828800"/>
            <a:ext cx="3246120" cy="40233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05CA9"/>
                </a:solidFill>
                <a:latin typeface="STKaiti"/>
                <a:ea typeface="STKaiti"/>
              </a:rPr>
              <a:t>MCR 86.7%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0416" y="2359152"/>
            <a:ext cx="324612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同比下降 2.7 个百分点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53527" y="3374136"/>
            <a:ext cx="3749039" cy="1417320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416" y="3575304"/>
            <a:ext cx="3246120" cy="40233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5354B"/>
                </a:solidFill>
                <a:latin typeface="STKaiti"/>
                <a:ea typeface="STKaiti"/>
              </a:rPr>
              <a:t>收入 +0.4%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0416" y="4105656"/>
            <a:ext cx="324612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利润增速高于收入增速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5129784"/>
            <a:ext cx="3666744" cy="6675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474B"/>
                </a:solidFill>
                <a:latin typeface="STKaiti"/>
                <a:ea typeface="STKaiti"/>
              </a:rPr>
              <a:t>推论：当前是成本与组合修复，尚非全面增长复苏。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5354B"/>
                </a:solidFill>
                <a:latin typeface="STKaiti"/>
                <a:ea typeface="STKaiti"/>
              </a:rPr>
              <a:t>分部利润结构：保险恢复，Optum 表现分化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Optum Health 回升最明显；Insight 高利润率，Rx 仍受量和监管约束。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分部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来源：U1、U2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9808" y="1517904"/>
          <a:ext cx="690372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32688" y="6016752"/>
            <a:ext cx="59893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0717D"/>
                </a:solidFill>
                <a:latin typeface="STKaiti"/>
                <a:ea typeface="STKaiti"/>
              </a:rPr>
              <a:t>单位：十亿美元；四分部之和等于集团营业利润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18704" y="1645920"/>
            <a:ext cx="3502152" cy="3621024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1837943"/>
            <a:ext cx="2926080" cy="3566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5354B"/>
                </a:solidFill>
                <a:latin typeface="STKaiti"/>
                <a:ea typeface="STKaiti"/>
              </a:rPr>
              <a:t>利润率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86584"/>
            <a:ext cx="2898648" cy="23225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4333F"/>
                </a:solidFill>
                <a:latin typeface="STKaiti"/>
                <a:ea typeface="STKaiti"/>
              </a:rPr>
              <a:t>UHC　　　　4.6%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4333F"/>
                </a:solidFill>
                <a:latin typeface="STKaiti"/>
                <a:ea typeface="STKaiti"/>
              </a:rPr>
              <a:t>Optum Health　5.1%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4333F"/>
                </a:solidFill>
                <a:latin typeface="STKaiti"/>
                <a:ea typeface="STKaiti"/>
              </a:rPr>
              <a:t>Optum Insight 25.3%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4333F"/>
                </a:solidFill>
                <a:latin typeface="STKaiti"/>
                <a:ea typeface="STKaiti"/>
              </a:rPr>
              <a:t>Optum Rx　　 3.9%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626864"/>
            <a:ext cx="2944368" cy="5212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分部比较需看收入、内部抵销和资本要求。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5354B"/>
                </a:solidFill>
                <a:latin typeface="STKaiti"/>
                <a:ea typeface="STKaiti"/>
              </a:rPr>
              <a:t>保险业务：利润率修复以会员收缩换取可持续性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定价与福利设计改善成本率，但覆盖面和可及性受到检验。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分部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来源：U1、U2、U3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81328"/>
            <a:ext cx="1984248" cy="429768"/>
          </a:xfrm>
          <a:prstGeom prst="rect">
            <a:avLst/>
          </a:prstGeom>
          <a:solidFill>
            <a:srgbClr val="E7F2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1801368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5354B"/>
                </a:solidFill>
                <a:latin typeface="STKaiti"/>
                <a:ea typeface="STKaiti"/>
              </a:rPr>
              <a:t>产品线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481328"/>
            <a:ext cx="2999232" cy="429768"/>
          </a:xfrm>
          <a:prstGeom prst="rect">
            <a:avLst/>
          </a:prstGeom>
          <a:solidFill>
            <a:srgbClr val="E7F2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1536192"/>
            <a:ext cx="2816351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33F"/>
                </a:solidFill>
                <a:latin typeface="STKaiti"/>
                <a:ea typeface="STKaiti"/>
              </a:rPr>
              <a:t>2026Q2 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481328"/>
            <a:ext cx="5907024" cy="429768"/>
          </a:xfrm>
          <a:prstGeom prst="rect">
            <a:avLst/>
          </a:prstGeom>
          <a:solidFill>
            <a:srgbClr val="E7F2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536192"/>
            <a:ext cx="5724144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33F"/>
                </a:solidFill>
                <a:latin typeface="STKaiti"/>
                <a:ea typeface="STKaiti"/>
              </a:rPr>
              <a:t>挑战与竞争对手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938528"/>
            <a:ext cx="198424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93392"/>
            <a:ext cx="1801368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雇主与个人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0048" y="1938528"/>
            <a:ext cx="299923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1993392"/>
            <a:ext cx="2816351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收入 200 亿美元；本季服务人数 -14.5 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938528"/>
            <a:ext cx="5907024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993392"/>
            <a:ext cx="5724144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商保医疗费用高；Elevance、Aetna、Cigna、BCBS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035808"/>
            <a:ext cx="198424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090672"/>
            <a:ext cx="1801368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Medicare &amp; Retirement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0048" y="3035808"/>
            <a:ext cx="299923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61488" y="3090672"/>
            <a:ext cx="2816351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收入 424 亿美元；MA 年初以来 -96.5 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035808"/>
            <a:ext cx="5907024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3090672"/>
            <a:ext cx="5724144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政府费率、福利压缩与地区退出；Humana、Aetna、Kaiser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133087"/>
            <a:ext cx="198424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187951"/>
            <a:ext cx="1801368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Community &amp; State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70048" y="4133087"/>
            <a:ext cx="299923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1488" y="4187951"/>
            <a:ext cx="2816351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收入 236 亿美元；本季人数 -38 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4133087"/>
            <a:ext cx="5907024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4187951"/>
            <a:ext cx="5724144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Medicaid 成本与州费率错配；Centene、Molina、Elevance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468112"/>
            <a:ext cx="10442448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354B"/>
                </a:solidFill>
                <a:latin typeface="STKaiti"/>
                <a:ea typeface="STKaiti"/>
              </a:rPr>
              <a:t>价值判断：改善利润率若持续依赖退出、缩减福利或增加患者负担，长期份额与信任可能受损。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5354B"/>
                </a:solidFill>
                <a:latin typeface="STKaiti"/>
                <a:ea typeface="STKaiti"/>
              </a:rPr>
              <a:t>Optum 三分部：同一个飞轮，不同的瓶颈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医疗服务受保险端会员变化传导；技术与药房还面对外部客户和政策约束。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分部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来源：U1、U2、U3、U5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81328"/>
            <a:ext cx="1984248" cy="429768"/>
          </a:xfrm>
          <a:prstGeom prst="rect">
            <a:avLst/>
          </a:prstGeom>
          <a:solidFill>
            <a:srgbClr val="E7F2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1801368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5354B"/>
                </a:solidFill>
                <a:latin typeface="STKaiti"/>
                <a:ea typeface="STKaiti"/>
              </a:rPr>
              <a:t>业务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481328"/>
            <a:ext cx="2999232" cy="429768"/>
          </a:xfrm>
          <a:prstGeom prst="rect">
            <a:avLst/>
          </a:prstGeom>
          <a:solidFill>
            <a:srgbClr val="E7F2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1536192"/>
            <a:ext cx="2816351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33F"/>
                </a:solidFill>
                <a:latin typeface="STKaiti"/>
                <a:ea typeface="STKaiti"/>
              </a:rPr>
              <a:t>2026Q2 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481328"/>
            <a:ext cx="5907024" cy="429768"/>
          </a:xfrm>
          <a:prstGeom prst="rect">
            <a:avLst/>
          </a:prstGeom>
          <a:solidFill>
            <a:srgbClr val="E7F2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536192"/>
            <a:ext cx="5724144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33F"/>
                </a:solidFill>
                <a:latin typeface="STKaiti"/>
                <a:ea typeface="STKaiti"/>
              </a:rPr>
              <a:t>挑战与竞争对手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938528"/>
            <a:ext cx="198424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93392"/>
            <a:ext cx="1801368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Optum 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0048" y="1938528"/>
            <a:ext cx="299923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1993392"/>
            <a:ext cx="2816351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收入 235 亿美元，同比 -5%；风险医疗患者同比约少 70 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938528"/>
            <a:ext cx="5907024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993392"/>
            <a:ext cx="5724144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医疗成本与医生网络；Kaiser、CVS Oak Street、地区医师集团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035808"/>
            <a:ext cx="198424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090672"/>
            <a:ext cx="1801368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Optum Insight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0048" y="3035808"/>
            <a:ext cx="299923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61488" y="3090672"/>
            <a:ext cx="2816351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收入 54 亿美元；营业利润 13.7 亿美元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035808"/>
            <a:ext cx="5907024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3090672"/>
            <a:ext cx="5724144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系统稳定、客户信任与新技术；Epic、Oracle Health、专业支付技术商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133087"/>
            <a:ext cx="198424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187951"/>
            <a:ext cx="1801368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Optum Rx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70048" y="4133087"/>
            <a:ext cx="299923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1488" y="4187951"/>
            <a:ext cx="2816351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收入 383 亿美元；调整后处方 3.87 亿张，同比下降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4133087"/>
            <a:ext cx="5907024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4187951"/>
            <a:ext cx="5724144" cy="94183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PBM 透明度及价格监管；CVS Caremark、Express Scripts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468112"/>
            <a:ext cx="104241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354B"/>
                </a:solidFill>
                <a:latin typeface="STKaiti"/>
                <a:ea typeface="STKaiti"/>
              </a:rPr>
              <a:t>并非所有板块都能靠保险重定价解决：Optum 需要独立赢得患者、医生、企业和监管机构。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5354B"/>
                </a:solidFill>
                <a:latin typeface="STKaiti"/>
                <a:ea typeface="STKaiti"/>
              </a:rPr>
              <a:t>竞争优势：规模、数据与服务闭环同时形成门槛和审查焦点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一体化能降低摩擦，也可能放大利益冲突、集中度与系统性故障。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来源：U2、U5、U6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90472"/>
            <a:ext cx="3447288" cy="3803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90472"/>
            <a:ext cx="64008" cy="3803904"/>
          </a:xfrm>
          <a:prstGeom prst="rect">
            <a:avLst/>
          </a:prstGeom>
          <a:solidFill>
            <a:srgbClr val="167E68"/>
          </a:solidFill>
          <a:ln>
            <a:solidFill>
              <a:srgbClr val="167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636775"/>
            <a:ext cx="3090672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7E68"/>
                </a:solidFill>
                <a:latin typeface="STKaiti"/>
                <a:ea typeface="STKaiti"/>
              </a:rPr>
              <a:t>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39"/>
            <a:ext cx="309067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5354B"/>
                </a:solidFill>
                <a:latin typeface="STKaiti"/>
                <a:ea typeface="STKaiti"/>
              </a:rPr>
              <a:t>4850 万会员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23160"/>
            <a:ext cx="3054096" cy="2724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保险端形成广泛客户与支付关系，支持网络谈判与产品组合。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490472"/>
            <a:ext cx="3447288" cy="3803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490472"/>
            <a:ext cx="64008" cy="3803904"/>
          </a:xfrm>
          <a:prstGeom prst="rect">
            <a:avLst/>
          </a:prstGeom>
          <a:solidFill>
            <a:srgbClr val="F05A23"/>
          </a:solidFill>
          <a:ln>
            <a:solidFill>
              <a:srgbClr val="F05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1636775"/>
            <a:ext cx="3090672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5A23"/>
                </a:solidFill>
                <a:latin typeface="STKaiti"/>
                <a:ea typeface="STKaiti"/>
              </a:rPr>
              <a:t>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1920239"/>
            <a:ext cx="309067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5354B"/>
                </a:solidFill>
                <a:latin typeface="STKaiti"/>
                <a:ea typeface="STKaiti"/>
              </a:rPr>
              <a:t>医疗 × 数据 × 药品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2423160"/>
            <a:ext cx="3054096" cy="2724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Optum 的诊疗、技术与药品能力可形成成本、便利性和合同协同。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90472"/>
            <a:ext cx="3447288" cy="3803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90472"/>
            <a:ext cx="64008" cy="3803904"/>
          </a:xfrm>
          <a:prstGeom prst="rect">
            <a:avLst/>
          </a:prstGeom>
          <a:solidFill>
            <a:srgbClr val="B5474B"/>
          </a:solidFill>
          <a:ln>
            <a:solidFill>
              <a:srgbClr val="B54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636775"/>
            <a:ext cx="3090672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5474B"/>
                </a:solidFill>
                <a:latin typeface="STKaiti"/>
                <a:ea typeface="STKaiti"/>
              </a:rPr>
              <a:t>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920239"/>
            <a:ext cx="309067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5354B"/>
                </a:solidFill>
                <a:latin typeface="STKaiti"/>
                <a:ea typeface="STKaiti"/>
              </a:rPr>
              <a:t>反垄断与信任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423160"/>
            <a:ext cx="3054096" cy="2724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规模越大，对定价透明、患者可及性及关联交易的质疑也越强。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5354B"/>
                </a:solidFill>
                <a:latin typeface="STKaiti"/>
                <a:ea typeface="STKaiti"/>
              </a:rPr>
              <a:t>经营故事与现实：更好利润，不等于已赢回规模和信任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二季度修复是重要转折，利润构成与用户体验决定能否成为新常态。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差距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来源：U1、U2、U3、U4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1499616"/>
            <a:ext cx="2331720" cy="457200"/>
          </a:xfrm>
          <a:prstGeom prst="rect">
            <a:avLst/>
          </a:prstGeom>
          <a:solidFill>
            <a:srgbClr val="E7F2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54480"/>
            <a:ext cx="2148839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5354B"/>
                </a:solidFill>
                <a:latin typeface="STKaiti"/>
                <a:ea typeface="STKaiti"/>
              </a:rPr>
              <a:t>对外叙事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26664" y="1499616"/>
            <a:ext cx="3794760" cy="457200"/>
          </a:xfrm>
          <a:prstGeom prst="rect">
            <a:avLst/>
          </a:prstGeom>
          <a:solidFill>
            <a:srgbClr val="E7F2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8104" y="1554480"/>
            <a:ext cx="361188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33F"/>
                </a:solidFill>
                <a:latin typeface="STKaiti"/>
                <a:ea typeface="STKaiti"/>
              </a:rPr>
              <a:t>已兑现的经营事实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21424" y="1499616"/>
            <a:ext cx="4736592" cy="457200"/>
          </a:xfrm>
          <a:prstGeom prst="rect">
            <a:avLst/>
          </a:prstGeom>
          <a:solidFill>
            <a:srgbClr val="E7F2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2864" y="1554480"/>
            <a:ext cx="4553712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33F"/>
                </a:solidFill>
                <a:latin typeface="STKaiti"/>
                <a:ea typeface="STKaiti"/>
              </a:rPr>
              <a:t>尚待证实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2011680"/>
            <a:ext cx="23317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066544"/>
            <a:ext cx="2148839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更可负担的医疗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26664" y="2011680"/>
            <a:ext cx="37947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18104" y="2066544"/>
            <a:ext cx="3611880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MCR 降至 86.7%，利润率改善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21424" y="2011680"/>
            <a:ext cx="4736592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2864" y="2066544"/>
            <a:ext cx="4553712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患者自付、可及性与医生成本是否同步改善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" y="3017520"/>
            <a:ext cx="23317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072384"/>
            <a:ext cx="2148839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整合带来持续增长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26664" y="3017520"/>
            <a:ext cx="37947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18104" y="3072384"/>
            <a:ext cx="3611880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Optum Health 利润反弹，Insight 与 Rx 盈利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21424" y="3017520"/>
            <a:ext cx="4736592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4" y="3072384"/>
            <a:ext cx="4553712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MA 会员、风险医疗患者与处方量均收缩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" y="4023360"/>
            <a:ext cx="23317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078224"/>
            <a:ext cx="2148839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运营更稳健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26664" y="4023360"/>
            <a:ext cx="37947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8104" y="4078224"/>
            <a:ext cx="3611880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全年调整 EPS 指引升至 19.50–20.00 美元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21424" y="4023360"/>
            <a:ext cx="4736592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2864" y="4078224"/>
            <a:ext cx="4553712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储备释放、合同准备金调整后的持续盈利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294376"/>
            <a:ext cx="10515600" cy="6126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5354B"/>
                </a:solidFill>
                <a:latin typeface="STKaiti"/>
                <a:ea typeface="STKaiti"/>
              </a:rPr>
              <a:t>研究判断：当前可称“盈利修复”；“高质量增长”仍需同口径会员、医疗结果与现金利润共同验证。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5354B"/>
                </a:solidFill>
                <a:latin typeface="STKaiti"/>
                <a:ea typeface="STKaiti"/>
              </a:rPr>
              <a:t>风险地图：医疗成本、政策和信任相互放大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最关键的风险不是单点，而是价格、服务量与患者体验的反馈循环。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来源：U3、U5、U7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463040"/>
            <a:ext cx="5266944" cy="184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627632"/>
            <a:ext cx="1755648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636776"/>
            <a:ext cx="1609344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5CA9"/>
                </a:solidFill>
                <a:latin typeface="STKaiti"/>
                <a:ea typeface="STKaiti"/>
              </a:rPr>
              <a:t>医疗成本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354B"/>
                </a:solidFill>
                <a:latin typeface="STKaiti"/>
                <a:ea typeface="STKaiti"/>
              </a:rPr>
              <a:t>高于历史水平的就诊与单位成本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定价与成本预测再度失准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5266944" cy="184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27632"/>
            <a:ext cx="1755648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636776"/>
            <a:ext cx="1609344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5CA9"/>
                </a:solidFill>
                <a:latin typeface="STKaiti"/>
                <a:ea typeface="STKaiti"/>
              </a:rPr>
              <a:t>政策和支付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05740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354B"/>
                </a:solidFill>
                <a:latin typeface="STKaiti"/>
                <a:ea typeface="STKaiti"/>
              </a:rPr>
              <a:t>2027 年 MA 平均支付提高 2.48%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60604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风险调整、星级和 Medicaid 州费率变化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520440"/>
            <a:ext cx="5266944" cy="184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3685032"/>
            <a:ext cx="1755648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3694176"/>
            <a:ext cx="1609344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5CA9"/>
                </a:solidFill>
                <a:latin typeface="STKaiti"/>
                <a:ea typeface="STKaiti"/>
              </a:rPr>
              <a:t>PBM 监管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354B"/>
                </a:solidFill>
                <a:latin typeface="STKaiti"/>
                <a:ea typeface="STKaiti"/>
              </a:rPr>
              <a:t>FTC 对 OptumRx 的案件仍待处理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回扣、透明度及关联交易限制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520440"/>
            <a:ext cx="5266944" cy="184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6520" y="3685032"/>
            <a:ext cx="1755648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694176"/>
            <a:ext cx="1609344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5CA9"/>
                </a:solidFill>
                <a:latin typeface="STKaiti"/>
                <a:ea typeface="STKaiti"/>
              </a:rPr>
              <a:t>系统与声誉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11480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354B"/>
                </a:solidFill>
                <a:latin typeface="STKaiti"/>
                <a:ea typeface="STKaiti"/>
              </a:rPr>
              <a:t>支付技术基础设施规模巨大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466344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网络安全事故和授权争议侵蚀信任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5354B"/>
                </a:solidFill>
                <a:latin typeface="STKaiti"/>
                <a:ea typeface="STKaiti"/>
              </a:rPr>
              <a:t>资本市场与会员：利润上修得到欢迎，体验评价分化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市场关注盈利拐点；用户更关心能否看病、报销和负担多少。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外部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来源：U1、U4、U8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36192"/>
            <a:ext cx="5303520" cy="4169663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46504"/>
            <a:ext cx="44805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5CA9"/>
                </a:solidFill>
                <a:latin typeface="STKaiti"/>
                <a:ea typeface="STKaiti"/>
              </a:rPr>
              <a:t>资本市场｜业绩超预期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4480560" cy="63093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5354B"/>
                </a:solidFill>
                <a:latin typeface="STKaiti"/>
                <a:ea typeface="STKaiti"/>
              </a:rPr>
              <a:t>指引上调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35808"/>
            <a:ext cx="4480560" cy="1335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4333F"/>
                </a:solidFill>
                <a:latin typeface="STKaiti"/>
                <a:ea typeface="STKaiti"/>
              </a:rPr>
              <a:t>全年调整 EPS 指引为 19.50–20.00 美元。业绩日股价走强，投资者重看成本管控与盈利能力。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4805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短期股价反应不能证明长期改善。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536192"/>
            <a:ext cx="5157216" cy="416966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746504"/>
            <a:ext cx="449884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5CA9"/>
                </a:solidFill>
                <a:latin typeface="STKaiti"/>
                <a:ea typeface="STKaiti"/>
              </a:rPr>
              <a:t>会员｜地区成绩与行业信任困境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76856"/>
            <a:ext cx="4480560" cy="63093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5354B"/>
                </a:solidFill>
                <a:latin typeface="STKaiti"/>
                <a:ea typeface="STKaiti"/>
              </a:rPr>
              <a:t>3 州第一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35808"/>
            <a:ext cx="4526280" cy="1353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4333F"/>
                </a:solidFill>
                <a:latin typeface="STKaiti"/>
                <a:ea typeface="STKaiti"/>
              </a:rPr>
              <a:t>J.D. Power 2026：UHC 在佛罗里达、佐治亚、北卡排名第一；但 MA 全行业满意度降至 611 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074920"/>
            <a:ext cx="44805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地区排名不能代表所有产品和州。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5354B"/>
                </a:solidFill>
                <a:latin typeface="STKaiti"/>
                <a:ea typeface="STKaiti"/>
              </a:rPr>
              <a:t>下一阶段观察：盈利、规模与体验要一起回升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观察清单是分析框架；不构成盈利预测或投资建议。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来源：U1、U2、U3、U4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581912"/>
            <a:ext cx="1143000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91056"/>
            <a:ext cx="99669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5CA9"/>
                </a:solidFill>
                <a:latin typeface="STKaiti"/>
                <a:ea typeface="STKaiti"/>
              </a:rPr>
              <a:t>保险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1453896"/>
            <a:ext cx="404164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354B"/>
                </a:solidFill>
                <a:latin typeface="STKaiti"/>
                <a:ea typeface="STKaiti"/>
              </a:rPr>
              <a:t>MCR 与有利历史准备金发展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53896"/>
            <a:ext cx="484632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利润修复是否依赖一次性收益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" y="2185416"/>
            <a:ext cx="10716768" cy="0"/>
          </a:xfrm>
          <a:prstGeom prst="line">
            <a:avLst/>
          </a:prstGeom>
          <a:ln w="889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2376" y="2414016"/>
            <a:ext cx="1143000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423160"/>
            <a:ext cx="99669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5CA9"/>
                </a:solidFill>
                <a:latin typeface="STKaiti"/>
                <a:ea typeface="STKaiti"/>
              </a:rPr>
              <a:t>会员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8256" y="2286000"/>
            <a:ext cx="404164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354B"/>
                </a:solidFill>
                <a:latin typeface="STKaiti"/>
                <a:ea typeface="STKaiti"/>
              </a:rPr>
              <a:t>MA、商保及 Medicaid 服务人数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484632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定价是否以过多规模流失换利润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" y="3017520"/>
            <a:ext cx="10716768" cy="0"/>
          </a:xfrm>
          <a:prstGeom prst="line">
            <a:avLst/>
          </a:prstGeom>
          <a:ln w="889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2376" y="3246120"/>
            <a:ext cx="1143000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255264"/>
            <a:ext cx="99669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5CA9"/>
                </a:solidFill>
                <a:latin typeface="STKaiti"/>
                <a:ea typeface="STKaiti"/>
              </a:rPr>
              <a:t>医疗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3118104"/>
            <a:ext cx="404164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354B"/>
                </a:solidFill>
                <a:latin typeface="STKaiti"/>
                <a:ea typeface="STKaiti"/>
              </a:rPr>
              <a:t>Optum 风险医疗患者与利润率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118104"/>
            <a:ext cx="484632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服务端能否独立恢复增长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3849624"/>
            <a:ext cx="10716768" cy="0"/>
          </a:xfrm>
          <a:prstGeom prst="line">
            <a:avLst/>
          </a:prstGeom>
          <a:ln w="889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2376" y="4078224"/>
            <a:ext cx="1143000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087368"/>
            <a:ext cx="99669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5CA9"/>
                </a:solidFill>
                <a:latin typeface="STKaiti"/>
                <a:ea typeface="STKaiti"/>
              </a:rPr>
              <a:t>药房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48256" y="3950208"/>
            <a:ext cx="404164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354B"/>
                </a:solidFill>
                <a:latin typeface="STKaiti"/>
                <a:ea typeface="STKaiti"/>
              </a:rPr>
              <a:t>调整后处方量与 PBM 合同经济性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950208"/>
            <a:ext cx="484632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透明费率转换后的盈利质量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" y="4681728"/>
            <a:ext cx="10716768" cy="0"/>
          </a:xfrm>
          <a:prstGeom prst="line">
            <a:avLst/>
          </a:prstGeom>
          <a:ln w="889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2376" y="4910328"/>
            <a:ext cx="1143000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919472"/>
            <a:ext cx="99669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5CA9"/>
                </a:solidFill>
                <a:latin typeface="STKaiti"/>
                <a:ea typeface="STKaiti"/>
              </a:rPr>
              <a:t>体验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48256" y="4782312"/>
            <a:ext cx="404164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354B"/>
                </a:solidFill>
                <a:latin typeface="STKaiti"/>
                <a:ea typeface="STKaiti"/>
              </a:rPr>
              <a:t>授权、网络与地区满意度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782312"/>
            <a:ext cx="484632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一体化是否改善患者获得感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" y="5513832"/>
            <a:ext cx="10716768" cy="0"/>
          </a:xfrm>
          <a:prstGeom prst="line">
            <a:avLst/>
          </a:prstGeom>
          <a:ln w="889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5354B"/>
                </a:solidFill>
                <a:latin typeface="STKaiti"/>
                <a:ea typeface="STKaiti"/>
              </a:rPr>
              <a:t>来源、口径与限制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编号对应各页页脚；完整 URL、取得日期及复核见审计报告。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66928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26464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5CA9"/>
                </a:solidFill>
                <a:latin typeface="STKaiti"/>
                <a:ea typeface="STKaiti"/>
              </a:rPr>
              <a:t>U1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408176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联合健康 2026Q2 公告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408176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合并表现、会员、Optum 与全年指引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83664"/>
            <a:ext cx="566928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92807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5CA9"/>
                </a:solidFill>
                <a:latin typeface="STKaiti"/>
                <a:ea typeface="STKaiti"/>
              </a:rPr>
              <a:t>U2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1874520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2026Q2 SEC 补充资料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74520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四分部收入、营业利润与医疗成本率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350008"/>
            <a:ext cx="566928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359152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5CA9"/>
                </a:solidFill>
                <a:latin typeface="STKaiti"/>
                <a:ea typeface="STKaiti"/>
              </a:rPr>
              <a:t>U3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340864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2026Q2 10-Q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40864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会员收缩、储备、医疗成本与费率错配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816352"/>
            <a:ext cx="566928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2825496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5CA9"/>
                </a:solidFill>
                <a:latin typeface="STKaiti"/>
                <a:ea typeface="STKaiti"/>
              </a:rPr>
              <a:t>U4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2807208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J.D. Power 2026 MA 调查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807208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地区排名、行业满意度与样本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282696"/>
            <a:ext cx="566928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291839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5CA9"/>
                </a:solidFill>
                <a:latin typeface="STKaiti"/>
                <a:ea typeface="STKaiti"/>
              </a:rPr>
              <a:t>U5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3273552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FTC 2026 PBM 案件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273552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OptumRx 相关监管状态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749039"/>
            <a:ext cx="566928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3758183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5CA9"/>
                </a:solidFill>
                <a:latin typeface="STKaiti"/>
                <a:ea typeface="STKaiti"/>
              </a:rPr>
              <a:t>U6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3739896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联合健康业务介绍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739896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业务构成与产品定位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215383"/>
            <a:ext cx="566928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4224527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5CA9"/>
                </a:solidFill>
                <a:latin typeface="STKaiti"/>
                <a:ea typeface="STKaiti"/>
              </a:rPr>
              <a:t>U7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4206240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CMS 2027 MA 费率公告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206240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平均支付变化及政策假设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681727"/>
            <a:ext cx="566928" cy="310896"/>
          </a:xfrm>
          <a:prstGeom prst="roundRect">
            <a:avLst>
              <a:gd name="adj" fmla="val 7000"/>
            </a:avLst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4690871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5CA9"/>
                </a:solidFill>
                <a:latin typeface="STKaiti"/>
                <a:ea typeface="STKaiti"/>
              </a:rPr>
              <a:t>U8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9888" y="4672583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354B"/>
                </a:solidFill>
                <a:latin typeface="STKaiti"/>
                <a:ea typeface="STKaiti"/>
              </a:rPr>
              <a:t>Reuters 2026-07-16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4672583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业绩日资本市场反应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715000"/>
            <a:ext cx="10789920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5474B"/>
                </a:solidFill>
                <a:latin typeface="STKaiti"/>
                <a:ea typeface="STKaiti"/>
              </a:rPr>
              <a:t>判断性文字属于本报告推论；分部收入口径含集团内部抵销，不得直接相加。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54B"/>
          </a:solidFill>
          <a:ln>
            <a:solidFill>
              <a:srgbClr val="15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1426464"/>
            <a:ext cx="91440" cy="4023360"/>
          </a:xfrm>
          <a:prstGeom prst="rect">
            <a:avLst/>
          </a:prstGeom>
          <a:solidFill>
            <a:srgbClr val="005CA9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30552"/>
            <a:ext cx="9966960" cy="10058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STKaiti"/>
                <a:ea typeface="STKaiti"/>
              </a:rPr>
              <a:t>结论：盈利拐点已现，信任拐点待证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730752"/>
            <a:ext cx="9875520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BE3E8"/>
                </a:solidFill>
                <a:latin typeface="STKaiti"/>
                <a:ea typeface="STKaiti"/>
              </a:rPr>
              <a:t>持续回报需要会员、服务质量与药房经济性一起修复。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6025896"/>
            <a:ext cx="850392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5CA9"/>
                </a:solidFill>
                <a:latin typeface="STKaiti"/>
                <a:ea typeface="STKaiti"/>
              </a:rPr>
              <a:t>资料日期：2026-10-03  ·  独立研究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