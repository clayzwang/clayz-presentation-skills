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2025Q2</c:v>
                </c:pt>
              </c:strCache>
            </c:strRef>
          </c:tx>
          <c:spPr>
            <a:solidFill>
              <a:srgbClr val="C81D2D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收入</c:v>
                </c:pt>
                <c:pt idx="1">
                  <c:v>净利润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20.8</c:v>
                </c:pt>
                <c:pt idx="1">
                  <c:v>5.5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2026Q2</c:v>
                </c:pt>
              </c:strCache>
            </c:strRef>
          </c:tx>
          <c:spPr>
            <a:solidFill>
              <a:srgbClr val="172D3B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收入</c:v>
                </c:pt>
                <c:pt idx="1">
                  <c:v>净利润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22.6</c:v>
                </c:pt>
                <c:pt idx="1">
                  <c:v>6.4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latin typeface="STKait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latin typeface="STKait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27.0"/>
          <c:min val="0.0"/>
        </c:scaling>
        <c:delete val="0"/>
        <c:axPos val="l"/>
        <c:majorGridlines>
          <c:spPr>
            <a:ln>
              <a:solidFill>
                <a:srgbClr val="D9E1E5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200">
                <a:latin typeface="STKaiti"/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100">
              <a:latin typeface="STKaiti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独立研究材料；经营数据以2026年第二季度披露为主。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[S1] 2026 Q2 earnings release; [S2] Q2 supplement; [S3] Fed order termination; [S5] J.D. Power 2026 regional score. J.D. Power only Southwest region, not national rating.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D3B"/>
          </a:solidFill>
          <a:ln>
            <a:solidFill>
              <a:srgbClr val="172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1234440"/>
            <a:ext cx="91440" cy="4206240"/>
          </a:xfrm>
          <a:prstGeom prst="rect">
            <a:avLst/>
          </a:prstGeom>
          <a:solidFill>
            <a:srgbClr val="C81D2D"/>
          </a:solidFill>
          <a:ln>
            <a:solidFill>
              <a:srgbClr val="C8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9006840" y="0"/>
            <a:ext cx="3182112" cy="6858000"/>
          </a:xfrm>
          <a:prstGeom prst="rect">
            <a:avLst/>
          </a:prstGeom>
          <a:solidFill>
            <a:srgbClr val="C81D2D"/>
          </a:solidFill>
          <a:ln>
            <a:solidFill>
              <a:srgbClr val="C8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26880" y="420624"/>
            <a:ext cx="2496312" cy="6016752"/>
          </a:xfrm>
          <a:prstGeom prst="rect">
            <a:avLst/>
          </a:prstGeom>
          <a:solidFill>
            <a:srgbClr val="172D3B"/>
          </a:solidFill>
          <a:ln>
            <a:solidFill>
              <a:srgbClr val="172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88136" y="1380744"/>
            <a:ext cx="7360920" cy="35661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C81D2D"/>
                </a:solidFill>
                <a:latin typeface="STKaiti"/>
                <a:ea typeface="STKaiti"/>
              </a:rPr>
              <a:t>COMPANY DEEP DIVE  ·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011680"/>
            <a:ext cx="7680960" cy="7680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900" b="1">
                <a:solidFill>
                  <a:srgbClr val="FFFFFF"/>
                </a:solidFill>
                <a:latin typeface="STKaiti"/>
                <a:ea typeface="STKaiti"/>
              </a:rPr>
              <a:t>富国银行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8992" y="2889504"/>
            <a:ext cx="7680960" cy="5486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800" b="1">
                <a:solidFill>
                  <a:srgbClr val="FFFFFF"/>
                </a:solidFill>
                <a:latin typeface="STKaiti"/>
                <a:ea typeface="STKaiti"/>
              </a:rPr>
              <a:t>经营透视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105656"/>
            <a:ext cx="7242048" cy="6035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FFFFFF"/>
                </a:solidFill>
                <a:latin typeface="STKaiti"/>
                <a:ea typeface="STKaiti"/>
              </a:rPr>
              <a:t>资产上限解除后的增长兑现，仍要穿过信任与资本效率两道检验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5943600"/>
            <a:ext cx="7242048" cy="3017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C8D5DD"/>
                </a:solidFill>
                <a:latin typeface="STKaiti"/>
                <a:ea typeface="STKaiti"/>
              </a:rPr>
              <a:t>WELLS FARGO  ·  截至 2026-10-03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881360" cy="4663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D3B"/>
                </a:solidFill>
                <a:latin typeface="STKaiti"/>
                <a:ea typeface="STKaiti"/>
              </a:rPr>
              <a:t>核心判断：修复已进入盈利表，护城河仍需再定价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32104"/>
            <a:ext cx="1088136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0717D"/>
                </a:solidFill>
                <a:latin typeface="STKaiti"/>
                <a:ea typeface="STKaiti"/>
              </a:rPr>
              <a:t>二季度表现强劲；观察重点从“能否增长”转向“增长质量与客户关系”。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30936" y="1207008"/>
            <a:ext cx="10954512" cy="0"/>
          </a:xfrm>
          <a:prstGeom prst="line">
            <a:avLst/>
          </a:prstGeom>
          <a:ln w="10160">
            <a:solidFill>
              <a:srgbClr val="D9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9224" y="6291072"/>
            <a:ext cx="1554480" cy="310896"/>
          </a:xfrm>
          <a:prstGeom prst="roundRect">
            <a:avLst>
              <a:gd name="adj" fmla="val 7000"/>
            </a:avLst>
          </a:prstGeom>
          <a:solidFill>
            <a:srgbClr val="F5F8F9"/>
          </a:solidFill>
          <a:ln>
            <a:solidFill>
              <a:srgbClr val="F5F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5" y="6300216"/>
            <a:ext cx="1408176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0717D"/>
                </a:solidFill>
                <a:latin typeface="STKaiti"/>
                <a:ea typeface="STKaiti"/>
              </a:rPr>
              <a:t>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6263640"/>
            <a:ext cx="777240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0717D"/>
                </a:solidFill>
                <a:latin typeface="STKaiti"/>
                <a:ea typeface="STKaiti"/>
              </a:rPr>
              <a:t>来源：S1、S2、S3、S5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263640"/>
            <a:ext cx="566928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0717D"/>
                </a:solidFill>
                <a:latin typeface="STKaiti"/>
                <a:ea typeface="STKaiti"/>
              </a:rPr>
              <a:t>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90472"/>
            <a:ext cx="3447288" cy="39136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490472"/>
            <a:ext cx="64008" cy="3913632"/>
          </a:xfrm>
          <a:prstGeom prst="rect">
            <a:avLst/>
          </a:prstGeom>
          <a:solidFill>
            <a:srgbClr val="F05A23"/>
          </a:solidFill>
          <a:ln>
            <a:solidFill>
              <a:srgbClr val="F05A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636775"/>
            <a:ext cx="3090672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05A23"/>
                </a:solidFill>
                <a:latin typeface="STKaiti"/>
                <a:ea typeface="STKaiti"/>
              </a:rPr>
              <a:t>规模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920239"/>
            <a:ext cx="3090672" cy="42062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72D3B"/>
                </a:solidFill>
                <a:latin typeface="STKaiti"/>
                <a:ea typeface="STKaiti"/>
              </a:rPr>
              <a:t>贷款 +12%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423160"/>
            <a:ext cx="3054096" cy="2834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33F"/>
                </a:solidFill>
                <a:latin typeface="STKaiti"/>
                <a:ea typeface="STKaiti"/>
              </a:rPr>
              <a:t>平均贷款 1.03 万亿美元；平均存款 +10%。资产上限解除后，资产负债表扩张明显。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1490472"/>
            <a:ext cx="3447288" cy="39136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1688" y="1490472"/>
            <a:ext cx="64008" cy="3913632"/>
          </a:xfrm>
          <a:prstGeom prst="rect">
            <a:avLst/>
          </a:prstGeom>
          <a:solidFill>
            <a:srgbClr val="167E68"/>
          </a:solidFill>
          <a:ln>
            <a:solidFill>
              <a:srgbClr val="167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5" y="1636775"/>
            <a:ext cx="3090672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7E68"/>
                </a:solidFill>
                <a:latin typeface="STKaiti"/>
                <a:ea typeface="STKaiti"/>
              </a:rPr>
              <a:t>回报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5" y="1920239"/>
            <a:ext cx="3090672" cy="42062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72D3B"/>
                </a:solidFill>
                <a:latin typeface="STKaiti"/>
                <a:ea typeface="STKaiti"/>
              </a:rPr>
              <a:t>ROTCE 17.7%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5" y="2423160"/>
            <a:ext cx="3054096" cy="2834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33F"/>
                </a:solidFill>
                <a:latin typeface="STKaiti"/>
                <a:ea typeface="STKaiti"/>
              </a:rPr>
              <a:t>二季度净利润 64 亿美元，同比 +17%；成本增速 2% 低于收入增速 9%。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490472"/>
            <a:ext cx="3447288" cy="3913632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490472"/>
            <a:ext cx="64008" cy="3913632"/>
          </a:xfrm>
          <a:prstGeom prst="rect">
            <a:avLst/>
          </a:prstGeom>
          <a:solidFill>
            <a:srgbClr val="B5474B"/>
          </a:solidFill>
          <a:ln>
            <a:solidFill>
              <a:srgbClr val="B5474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1636775"/>
            <a:ext cx="3090672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5474B"/>
                </a:solidFill>
                <a:latin typeface="STKaiti"/>
                <a:ea typeface="STKaiti"/>
              </a:rPr>
              <a:t>约束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1920239"/>
            <a:ext cx="3090672" cy="42062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72D3B"/>
                </a:solidFill>
                <a:latin typeface="STKaiti"/>
                <a:ea typeface="STKaiti"/>
              </a:rPr>
              <a:t>信任未同步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423160"/>
            <a:ext cx="3054096" cy="283464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33F"/>
                </a:solidFill>
                <a:latin typeface="STKaiti"/>
                <a:ea typeface="STKaiti"/>
              </a:rPr>
              <a:t>2026 年零售满意度西南区 617 分，低于区域均值 644；增长不能代替服务验证。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881360" cy="4663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D3B"/>
                </a:solidFill>
                <a:latin typeface="STKaiti"/>
                <a:ea typeface="STKaiti"/>
              </a:rPr>
              <a:t>商业模式：低成本资金连接四类收益池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32104"/>
            <a:ext cx="1088136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0717D"/>
                </a:solidFill>
                <a:latin typeface="STKaiti"/>
                <a:ea typeface="STKaiti"/>
              </a:rPr>
              <a:t>资金、客户关系、授信与投行业务共享基础设施，也共享声誉和合规风险。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30936" y="1207008"/>
            <a:ext cx="10954512" cy="0"/>
          </a:xfrm>
          <a:prstGeom prst="line">
            <a:avLst/>
          </a:prstGeom>
          <a:ln w="10160">
            <a:solidFill>
              <a:srgbClr val="D9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9224" y="6291072"/>
            <a:ext cx="1554480" cy="310896"/>
          </a:xfrm>
          <a:prstGeom prst="roundRect">
            <a:avLst>
              <a:gd name="adj" fmla="val 7000"/>
            </a:avLst>
          </a:prstGeom>
          <a:solidFill>
            <a:srgbClr val="F5F8F9"/>
          </a:solidFill>
          <a:ln>
            <a:solidFill>
              <a:srgbClr val="F5F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5" y="6300216"/>
            <a:ext cx="1408176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0717D"/>
                </a:solidFill>
                <a:latin typeface="STKaiti"/>
                <a:ea typeface="STKaiti"/>
              </a:rPr>
              <a:t>模式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6263640"/>
            <a:ext cx="777240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0717D"/>
                </a:solidFill>
                <a:latin typeface="STKaiti"/>
                <a:ea typeface="STKaiti"/>
              </a:rPr>
              <a:t>来源：S1、S2、S7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263640"/>
            <a:ext cx="566928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0717D"/>
                </a:solidFill>
                <a:latin typeface="STKaiti"/>
                <a:ea typeface="STKaiti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65960"/>
            <a:ext cx="2286000" cy="2057400"/>
          </a:xfrm>
          <a:prstGeom prst="roundRect">
            <a:avLst>
              <a:gd name="adj" fmla="val 7000"/>
            </a:avLst>
          </a:prstGeom>
          <a:solidFill>
            <a:srgbClr val="F5F8F9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2167128"/>
            <a:ext cx="1828800" cy="41148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2500" b="1">
                <a:solidFill>
                  <a:srgbClr val="172D3B"/>
                </a:solidFill>
                <a:latin typeface="STKaiti"/>
                <a:ea typeface="STKaiti"/>
              </a:rPr>
              <a:t>1.47 万亿美元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715768"/>
            <a:ext cx="1645920" cy="5943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24333F"/>
                </a:solidFill>
                <a:latin typeface="STKaiti"/>
                <a:ea typeface="STKaiti"/>
              </a:rPr>
              <a:t>平均存款</a:t>
            </a:r>
          </a:p>
          <a:p>
            <a:pPr algn="ctr">
              <a:spcAft>
                <a:spcPts val="0"/>
              </a:spcAft>
            </a:pPr>
            <a:r>
              <a:rPr sz="1600" b="0">
                <a:solidFill>
                  <a:srgbClr val="24333F"/>
                </a:solidFill>
                <a:latin typeface="STKaiti"/>
                <a:ea typeface="STKaiti"/>
              </a:rPr>
              <a:t>资金与关系入口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090672" y="2907792"/>
            <a:ext cx="603504" cy="0"/>
          </a:xfrm>
          <a:prstGeom prst="line">
            <a:avLst/>
          </a:prstGeom>
          <a:ln w="38100">
            <a:solidFill>
              <a:srgbClr val="C81D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803904" y="1426464"/>
            <a:ext cx="7589520" cy="822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41648" y="1545336"/>
            <a:ext cx="1965960" cy="5303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D3B"/>
                </a:solidFill>
                <a:latin typeface="STKaiti"/>
                <a:ea typeface="STKaiti"/>
              </a:rPr>
              <a:t>零售与消费信贷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554480"/>
            <a:ext cx="4892040" cy="5120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33F"/>
                </a:solidFill>
                <a:latin typeface="STKaiti"/>
                <a:ea typeface="STKaiti"/>
              </a:rPr>
              <a:t>息差、卡费、按揭与汽车金融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803904" y="2459736"/>
            <a:ext cx="7589520" cy="822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41648" y="2578608"/>
            <a:ext cx="1965960" cy="5303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D3B"/>
                </a:solidFill>
                <a:latin typeface="STKaiti"/>
                <a:ea typeface="STKaiti"/>
              </a:rPr>
              <a:t>商业银行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2587752"/>
            <a:ext cx="4892040" cy="5120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33F"/>
                </a:solidFill>
                <a:latin typeface="STKaiti"/>
                <a:ea typeface="STKaiti"/>
              </a:rPr>
              <a:t>中型企业贷款、现金管理、手续费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803904" y="3493008"/>
            <a:ext cx="7589520" cy="822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41648" y="3611879"/>
            <a:ext cx="1965960" cy="5303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D3B"/>
                </a:solidFill>
                <a:latin typeface="STKaiti"/>
                <a:ea typeface="STKaiti"/>
              </a:rPr>
              <a:t>公司与投行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621024"/>
            <a:ext cx="4892040" cy="5120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33F"/>
                </a:solidFill>
                <a:latin typeface="STKaiti"/>
                <a:ea typeface="STKaiti"/>
              </a:rPr>
              <a:t>大企业信贷、承销、交易与市场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803904" y="4526279"/>
            <a:ext cx="7589520" cy="8229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041648" y="4645151"/>
            <a:ext cx="1965960" cy="53035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D3B"/>
                </a:solidFill>
                <a:latin typeface="STKaiti"/>
                <a:ea typeface="STKaiti"/>
              </a:rPr>
              <a:t>财富管理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17920" y="4654295"/>
            <a:ext cx="4892040" cy="5120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33F"/>
                </a:solidFill>
                <a:latin typeface="STKaiti"/>
                <a:ea typeface="STKaiti"/>
              </a:rPr>
              <a:t>顾问费、经纪佣金与客户融资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536" y="5102352"/>
            <a:ext cx="10515600" cy="6035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C81D2D"/>
                </a:solidFill>
                <a:latin typeface="STKaiti"/>
                <a:ea typeface="STKaiti"/>
              </a:rPr>
              <a:t>赚钱机制：存贷款利差 + 非息费用 − 信用损失 − 运营与合规成本；银行资本决定可承接的增长。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881360" cy="4663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D3B"/>
                </a:solidFill>
                <a:latin typeface="STKaiti"/>
                <a:ea typeface="STKaiti"/>
              </a:rPr>
              <a:t>规模与利润齐升，但净息差仍在收窄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32104"/>
            <a:ext cx="1088136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0717D"/>
                </a:solidFill>
                <a:latin typeface="STKaiti"/>
                <a:ea typeface="STKaiti"/>
              </a:rPr>
              <a:t>收入与利润反映规模和费用杠杆；净息差提醒利率与资金成本约束。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30936" y="1207008"/>
            <a:ext cx="10954512" cy="0"/>
          </a:xfrm>
          <a:prstGeom prst="line">
            <a:avLst/>
          </a:prstGeom>
          <a:ln w="10160">
            <a:solidFill>
              <a:srgbClr val="D9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9224" y="6291072"/>
            <a:ext cx="1554480" cy="310896"/>
          </a:xfrm>
          <a:prstGeom prst="roundRect">
            <a:avLst>
              <a:gd name="adj" fmla="val 7000"/>
            </a:avLst>
          </a:prstGeom>
          <a:solidFill>
            <a:srgbClr val="F5F8F9"/>
          </a:solidFill>
          <a:ln>
            <a:solidFill>
              <a:srgbClr val="F5F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5" y="6300216"/>
            <a:ext cx="1408176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0717D"/>
                </a:solidFill>
                <a:latin typeface="STKaiti"/>
                <a:ea typeface="STKaiti"/>
              </a:rPr>
              <a:t>现状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6263640"/>
            <a:ext cx="777240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0717D"/>
                </a:solidFill>
                <a:latin typeface="STKaiti"/>
                <a:ea typeface="STKaiti"/>
              </a:rPr>
              <a:t>来源：S1、S2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263640"/>
            <a:ext cx="566928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0717D"/>
                </a:solidFill>
                <a:latin typeface="STKaiti"/>
                <a:ea typeface="STKaiti"/>
              </a:rPr>
              <a:t>03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758952" y="1499616"/>
          <a:ext cx="6492240" cy="4251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914400" y="5833872"/>
            <a:ext cx="5943600" cy="22860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0717D"/>
                </a:solidFill>
                <a:latin typeface="STKaiti"/>
                <a:ea typeface="STKaiti"/>
              </a:rPr>
              <a:t>单位：十亿美元；各项按披露数四舍五入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543800" y="1572768"/>
            <a:ext cx="3931920" cy="1508760"/>
          </a:xfrm>
          <a:prstGeom prst="roundRect">
            <a:avLst>
              <a:gd name="adj" fmla="val 7000"/>
            </a:avLst>
          </a:prstGeom>
          <a:solidFill>
            <a:srgbClr val="FBE9EC"/>
          </a:solidFill>
          <a:ln>
            <a:solidFill>
              <a:srgbClr val="FB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99831" y="1746504"/>
            <a:ext cx="3383280" cy="35661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C81D2D"/>
                </a:solidFill>
                <a:latin typeface="STKaiti"/>
                <a:ea typeface="STKaiti"/>
              </a:rPr>
              <a:t>净息差 2.43%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99831" y="2221992"/>
            <a:ext cx="3346704" cy="4480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33F"/>
                </a:solidFill>
                <a:latin typeface="STKaiti"/>
                <a:ea typeface="STKaiti"/>
              </a:rPr>
              <a:t>2025Q2 为 2.68%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3383280"/>
            <a:ext cx="3931920" cy="1554480"/>
          </a:xfrm>
          <a:prstGeom prst="roundRect">
            <a:avLst>
              <a:gd name="adj" fmla="val 7000"/>
            </a:avLst>
          </a:prstGeom>
          <a:solidFill>
            <a:srgbClr val="F5F8F9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99831" y="3611880"/>
            <a:ext cx="3337560" cy="3931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>
                <a:solidFill>
                  <a:srgbClr val="172D3B"/>
                </a:solidFill>
                <a:latin typeface="STKaiti"/>
                <a:ea typeface="STKaiti"/>
              </a:rPr>
              <a:t>贷款 +12%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99831" y="4142232"/>
            <a:ext cx="3337560" cy="43891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33F"/>
                </a:solidFill>
                <a:latin typeface="STKaiti"/>
                <a:ea typeface="STKaiti"/>
              </a:rPr>
              <a:t>平均存款 +10%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6096" y="5257800"/>
            <a:ext cx="3822191" cy="5394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B5474B"/>
                </a:solidFill>
                <a:latin typeface="STKaiti"/>
                <a:ea typeface="STKaiti"/>
              </a:rPr>
              <a:t>推论：增量来自“更多资产和业务”，并非每一美元资产赚得更多。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881360" cy="4663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D3B"/>
                </a:solidFill>
                <a:latin typeface="STKaiti"/>
                <a:ea typeface="STKaiti"/>
              </a:rPr>
              <a:t>零售与财富：关系价值高，体验和费率竞争也最直接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32104"/>
            <a:ext cx="1088136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0717D"/>
                </a:solidFill>
                <a:latin typeface="STKaiti"/>
                <a:ea typeface="STKaiti"/>
              </a:rPr>
              <a:t>零售获客与财富资产增长，让存款入口转为长期费用收入。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30936" y="1207008"/>
            <a:ext cx="10954512" cy="0"/>
          </a:xfrm>
          <a:prstGeom prst="line">
            <a:avLst/>
          </a:prstGeom>
          <a:ln w="10160">
            <a:solidFill>
              <a:srgbClr val="D9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9224" y="6291072"/>
            <a:ext cx="1554480" cy="310896"/>
          </a:xfrm>
          <a:prstGeom prst="roundRect">
            <a:avLst>
              <a:gd name="adj" fmla="val 7000"/>
            </a:avLst>
          </a:prstGeom>
          <a:solidFill>
            <a:srgbClr val="F5F8F9"/>
          </a:solidFill>
          <a:ln>
            <a:solidFill>
              <a:srgbClr val="F5F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5" y="6300216"/>
            <a:ext cx="1408176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0717D"/>
                </a:solidFill>
                <a:latin typeface="STKaiti"/>
                <a:ea typeface="STKaiti"/>
              </a:rPr>
              <a:t>分部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6263640"/>
            <a:ext cx="777240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0717D"/>
                </a:solidFill>
                <a:latin typeface="STKaiti"/>
                <a:ea typeface="STKaiti"/>
              </a:rPr>
              <a:t>来源：S1、S2、S5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263640"/>
            <a:ext cx="566928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0717D"/>
                </a:solidFill>
                <a:latin typeface="STKaiti"/>
                <a:ea typeface="STKaiti"/>
              </a:rPr>
              <a:t>04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481328"/>
            <a:ext cx="1938528" cy="429768"/>
          </a:xfrm>
          <a:prstGeom prst="rect">
            <a:avLst/>
          </a:prstGeom>
          <a:solidFill>
            <a:srgbClr val="FBE9EC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36192"/>
            <a:ext cx="1755648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72D3B"/>
                </a:solidFill>
                <a:latin typeface="STKaiti"/>
                <a:ea typeface="STKaiti"/>
              </a:rPr>
              <a:t>业务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24328" y="1481328"/>
            <a:ext cx="2852928" cy="429768"/>
          </a:xfrm>
          <a:prstGeom prst="rect">
            <a:avLst/>
          </a:prstGeom>
          <a:solidFill>
            <a:srgbClr val="FBE9EC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15768" y="1536192"/>
            <a:ext cx="2670048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4333F"/>
                </a:solidFill>
                <a:latin typeface="STKaiti"/>
                <a:ea typeface="STKaiti"/>
              </a:rPr>
              <a:t>2026Q2 证据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77256" y="1481328"/>
            <a:ext cx="6080760" cy="429768"/>
          </a:xfrm>
          <a:prstGeom prst="rect">
            <a:avLst/>
          </a:prstGeom>
          <a:solidFill>
            <a:srgbClr val="FBE9EC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68696" y="1536192"/>
            <a:ext cx="5897880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4333F"/>
                </a:solidFill>
                <a:latin typeface="STKaiti"/>
                <a:ea typeface="STKaiti"/>
              </a:rPr>
              <a:t>主要压力与对手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1947672"/>
            <a:ext cx="1938528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002536"/>
            <a:ext cx="1755648" cy="10607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D3B"/>
                </a:solidFill>
                <a:latin typeface="STKaiti"/>
                <a:ea typeface="STKaiti"/>
              </a:rPr>
              <a:t>消费者银行与贷款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24328" y="1947672"/>
            <a:ext cx="2852928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15768" y="2002536"/>
            <a:ext cx="2670048" cy="10607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33F"/>
                </a:solidFill>
                <a:latin typeface="STKaiti"/>
                <a:ea typeface="STKaiti"/>
              </a:rPr>
              <a:t>收入 102.9 亿美元；存款 8284 亿美元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77256" y="1947672"/>
            <a:ext cx="608076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68696" y="2002536"/>
            <a:ext cx="5897880" cy="10607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33F"/>
                </a:solidFill>
                <a:latin typeface="STKaiti"/>
                <a:ea typeface="STKaiti"/>
              </a:rPr>
              <a:t>存款争夺与数字体验；JPMorgan Chase、美国银行、Capital One、在线银行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182112"/>
            <a:ext cx="1938528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236976"/>
            <a:ext cx="1755648" cy="10607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D3B"/>
                </a:solidFill>
                <a:latin typeface="STKaiti"/>
                <a:ea typeface="STKaiti"/>
              </a:rPr>
              <a:t>财富与投资管理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24328" y="3182112"/>
            <a:ext cx="2852928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15768" y="3236976"/>
            <a:ext cx="2670048" cy="10607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33F"/>
                </a:solidFill>
                <a:latin typeface="STKaiti"/>
                <a:ea typeface="STKaiti"/>
              </a:rPr>
              <a:t>收入 38.9 亿美元，同比 +13%；客户资产超 2.4 万亿美元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77256" y="3182112"/>
            <a:ext cx="608076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68696" y="3236976"/>
            <a:ext cx="5897880" cy="10607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33F"/>
                </a:solidFill>
                <a:latin typeface="STKaiti"/>
                <a:ea typeface="STKaiti"/>
              </a:rPr>
              <a:t>市场下跌压资产费；摩根士丹利、瑞银、嘉信及独立投顾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590288"/>
            <a:ext cx="10863072" cy="886968"/>
          </a:xfrm>
          <a:prstGeom prst="roundRect">
            <a:avLst>
              <a:gd name="adj" fmla="val 7000"/>
            </a:avLst>
          </a:prstGeom>
          <a:solidFill>
            <a:srgbClr val="F5F8F9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" y="4736592"/>
            <a:ext cx="10332720" cy="57607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D3B"/>
                </a:solidFill>
                <a:latin typeface="STKaiti"/>
                <a:ea typeface="STKaiti"/>
              </a:rPr>
              <a:t>关键矛盾：零售主账户能带来稳定资金，但消费者可以“软切换”到更好体验与更高收益的机构。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705856"/>
            <a:ext cx="10698480" cy="3657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0717D"/>
                </a:solidFill>
                <a:latin typeface="STKaiti"/>
                <a:ea typeface="STKaiti"/>
              </a:rPr>
              <a:t>竞争对手为产品市场映射，不表示与各家规模、盈利口径完全可比。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881360" cy="4663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D3B"/>
                </a:solidFill>
                <a:latin typeface="STKaiti"/>
                <a:ea typeface="STKaiti"/>
              </a:rPr>
              <a:t>商业与投行：新增空间最大，风险密度也上升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32104"/>
            <a:ext cx="1088136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0717D"/>
                </a:solidFill>
                <a:latin typeface="STKaiti"/>
                <a:ea typeface="STKaiti"/>
              </a:rPr>
              <a:t>投行、交易和大企业融资受益于资产上限解除；周期与资本占用需同步看。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30936" y="1207008"/>
            <a:ext cx="10954512" cy="0"/>
          </a:xfrm>
          <a:prstGeom prst="line">
            <a:avLst/>
          </a:prstGeom>
          <a:ln w="10160">
            <a:solidFill>
              <a:srgbClr val="D9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9224" y="6291072"/>
            <a:ext cx="1554480" cy="310896"/>
          </a:xfrm>
          <a:prstGeom prst="roundRect">
            <a:avLst>
              <a:gd name="adj" fmla="val 7000"/>
            </a:avLst>
          </a:prstGeom>
          <a:solidFill>
            <a:srgbClr val="F5F8F9"/>
          </a:solidFill>
          <a:ln>
            <a:solidFill>
              <a:srgbClr val="F5F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5" y="6300216"/>
            <a:ext cx="1408176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0717D"/>
                </a:solidFill>
                <a:latin typeface="STKaiti"/>
                <a:ea typeface="STKaiti"/>
              </a:rPr>
              <a:t>分部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6263640"/>
            <a:ext cx="777240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0717D"/>
                </a:solidFill>
                <a:latin typeface="STKaiti"/>
                <a:ea typeface="STKaiti"/>
              </a:rPr>
              <a:t>来源：S1、S2、S7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263640"/>
            <a:ext cx="566928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0717D"/>
                </a:solidFill>
                <a:latin typeface="STKaiti"/>
                <a:ea typeface="STKaiti"/>
              </a:rPr>
              <a:t>05</a:t>
            </a:r>
          </a:p>
        </p:txBody>
      </p:sp>
      <p:sp>
        <p:nvSpPr>
          <p:cNvPr id="9" name="Rectangle 8"/>
          <p:cNvSpPr/>
          <p:nvPr/>
        </p:nvSpPr>
        <p:spPr>
          <a:xfrm>
            <a:off x="685800" y="1481328"/>
            <a:ext cx="1938528" cy="429768"/>
          </a:xfrm>
          <a:prstGeom prst="rect">
            <a:avLst/>
          </a:prstGeom>
          <a:solidFill>
            <a:srgbClr val="FBE9EC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536192"/>
            <a:ext cx="1755648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72D3B"/>
                </a:solidFill>
                <a:latin typeface="STKaiti"/>
                <a:ea typeface="STKaiti"/>
              </a:rPr>
              <a:t>业务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24328" y="1481328"/>
            <a:ext cx="2852928" cy="429768"/>
          </a:xfrm>
          <a:prstGeom prst="rect">
            <a:avLst/>
          </a:prstGeom>
          <a:solidFill>
            <a:srgbClr val="FBE9EC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15768" y="1536192"/>
            <a:ext cx="2670048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4333F"/>
                </a:solidFill>
                <a:latin typeface="STKaiti"/>
                <a:ea typeface="STKaiti"/>
              </a:rPr>
              <a:t>2026Q2 证据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77256" y="1481328"/>
            <a:ext cx="6080760" cy="429768"/>
          </a:xfrm>
          <a:prstGeom prst="rect">
            <a:avLst/>
          </a:prstGeom>
          <a:solidFill>
            <a:srgbClr val="FBE9EC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568696" y="1536192"/>
            <a:ext cx="5897880" cy="3200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4333F"/>
                </a:solidFill>
                <a:latin typeface="STKaiti"/>
                <a:ea typeface="STKaiti"/>
              </a:rPr>
              <a:t>主要压力与对手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" y="1947672"/>
            <a:ext cx="1938528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002536"/>
            <a:ext cx="1755648" cy="10607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D3B"/>
                </a:solidFill>
                <a:latin typeface="STKaiti"/>
                <a:ea typeface="STKaiti"/>
              </a:rPr>
              <a:t>商业银行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24328" y="1947672"/>
            <a:ext cx="2852928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15768" y="2002536"/>
            <a:ext cx="2670048" cy="10607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33F"/>
                </a:solidFill>
                <a:latin typeface="STKaiti"/>
                <a:ea typeface="STKaiti"/>
              </a:rPr>
              <a:t>收入 31.2 亿美元，同比 +6%；贷款约 2371 亿美元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77256" y="1947672"/>
            <a:ext cx="608076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68696" y="2002536"/>
            <a:ext cx="5897880" cy="10607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33F"/>
                </a:solidFill>
                <a:latin typeface="STKaiti"/>
                <a:ea typeface="STKaiti"/>
              </a:rPr>
              <a:t>中型企业融资和现金管理竞争；JPMorgan、美国银行、PNC、区域银行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5800" y="3182112"/>
            <a:ext cx="1938528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236976"/>
            <a:ext cx="1755648" cy="10607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D3B"/>
                </a:solidFill>
                <a:latin typeface="STKaiti"/>
                <a:ea typeface="STKaiti"/>
              </a:rPr>
              <a:t>公司与投资银行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24328" y="3182112"/>
            <a:ext cx="2852928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15768" y="3236976"/>
            <a:ext cx="2670048" cy="10607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33F"/>
                </a:solidFill>
                <a:latin typeface="STKaiti"/>
                <a:ea typeface="STKaiti"/>
              </a:rPr>
              <a:t>收入 54.3 亿美元，同比 +16%；投行费 9.48 亿美元，同比 +35%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77256" y="3182112"/>
            <a:ext cx="608076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568696" y="3236976"/>
            <a:ext cx="5897880" cy="10607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33F"/>
                </a:solidFill>
                <a:latin typeface="STKaiti"/>
                <a:ea typeface="STKaiti"/>
              </a:rPr>
              <a:t>与 JPMorgan、Goldman Sachs、Citi、Morgan Stanley 争夺承销和交易份额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94944" y="4590288"/>
            <a:ext cx="10863072" cy="886968"/>
          </a:xfrm>
          <a:prstGeom prst="roundRect">
            <a:avLst>
              <a:gd name="adj" fmla="val 7000"/>
            </a:avLst>
          </a:prstGeom>
          <a:solidFill>
            <a:srgbClr val="F5F8F9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3544" y="4727448"/>
            <a:ext cx="10314432" cy="6126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D3B"/>
                </a:solidFill>
                <a:latin typeface="STKaiti"/>
                <a:ea typeface="STKaiti"/>
              </a:rPr>
              <a:t>注意：交易相关资产较上年末扩张，资本回报与市场波动将决定投行业务的长期质量。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881360" cy="4663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D3B"/>
                </a:solidFill>
                <a:latin typeface="STKaiti"/>
                <a:ea typeface="STKaiti"/>
              </a:rPr>
              <a:t>竞争优势：监管解除释放增长，但不是永久豁免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32104"/>
            <a:ext cx="1088136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0717D"/>
                </a:solidFill>
                <a:latin typeface="STKaiti"/>
                <a:ea typeface="STKaiti"/>
              </a:rPr>
              <a:t>优势来自资金、分销和复杂客户服务能力；可信度要靠持续执行积累。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30936" y="1207008"/>
            <a:ext cx="10954512" cy="0"/>
          </a:xfrm>
          <a:prstGeom prst="line">
            <a:avLst/>
          </a:prstGeom>
          <a:ln w="10160">
            <a:solidFill>
              <a:srgbClr val="D9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9224" y="6291072"/>
            <a:ext cx="1554480" cy="310896"/>
          </a:xfrm>
          <a:prstGeom prst="roundRect">
            <a:avLst>
              <a:gd name="adj" fmla="val 7000"/>
            </a:avLst>
          </a:prstGeom>
          <a:solidFill>
            <a:srgbClr val="F5F8F9"/>
          </a:solidFill>
          <a:ln>
            <a:solidFill>
              <a:srgbClr val="F5F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5" y="6300216"/>
            <a:ext cx="1408176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0717D"/>
                </a:solidFill>
                <a:latin typeface="STKaiti"/>
                <a:ea typeface="STKaiti"/>
              </a:rPr>
              <a:t>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6263640"/>
            <a:ext cx="777240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0717D"/>
                </a:solidFill>
                <a:latin typeface="STKaiti"/>
                <a:ea typeface="STKaiti"/>
              </a:rPr>
              <a:t>来源：S1、S2、S3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263640"/>
            <a:ext cx="566928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0717D"/>
                </a:solidFill>
                <a:latin typeface="STKaiti"/>
                <a:ea typeface="STKaiti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490472"/>
            <a:ext cx="3447288" cy="3794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85800" y="1490472"/>
            <a:ext cx="64008" cy="3794760"/>
          </a:xfrm>
          <a:prstGeom prst="rect">
            <a:avLst/>
          </a:prstGeom>
          <a:solidFill>
            <a:srgbClr val="167E68"/>
          </a:solidFill>
          <a:ln>
            <a:solidFill>
              <a:srgbClr val="167E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1636775"/>
            <a:ext cx="3090672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67E68"/>
                </a:solidFill>
                <a:latin typeface="STKaiti"/>
                <a:ea typeface="STKaiti"/>
              </a:rPr>
              <a:t>资金底盘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1920239"/>
            <a:ext cx="3090672" cy="42062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72D3B"/>
                </a:solidFill>
                <a:latin typeface="STKaiti"/>
                <a:ea typeface="STKaiti"/>
              </a:rPr>
              <a:t>1.47 万亿存款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2423160"/>
            <a:ext cx="3054096" cy="27157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33F"/>
                </a:solidFill>
                <a:latin typeface="STKaiti"/>
                <a:ea typeface="STKaiti"/>
              </a:rPr>
              <a:t>庞大客户基础降低单一资金来源依赖；支付、结算与授信形成关系黏性。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1490472"/>
            <a:ext cx="3447288" cy="3794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1688" y="1490472"/>
            <a:ext cx="64008" cy="3794760"/>
          </a:xfrm>
          <a:prstGeom prst="rect">
            <a:avLst/>
          </a:prstGeom>
          <a:solidFill>
            <a:srgbClr val="F05A23"/>
          </a:solidFill>
          <a:ln>
            <a:solidFill>
              <a:srgbClr val="F05A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5" y="1636775"/>
            <a:ext cx="3090672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05A23"/>
                </a:solidFill>
                <a:latin typeface="STKaiti"/>
                <a:ea typeface="STKaiti"/>
              </a:rPr>
              <a:t>跨业务网络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5" y="1920239"/>
            <a:ext cx="3090672" cy="42062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72D3B"/>
                </a:solidFill>
                <a:latin typeface="STKaiti"/>
                <a:ea typeface="STKaiti"/>
              </a:rPr>
              <a:t>四分部协同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2855" y="2423160"/>
            <a:ext cx="3054096" cy="27157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33F"/>
                </a:solidFill>
                <a:latin typeface="STKaiti"/>
                <a:ea typeface="STKaiti"/>
              </a:rPr>
              <a:t>零售、商业、投行与财富可围绕同一客户展开，收费来源不只依靠净息差。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1490472"/>
            <a:ext cx="3447288" cy="3794760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46720" y="1490472"/>
            <a:ext cx="64008" cy="3794760"/>
          </a:xfrm>
          <a:prstGeom prst="rect">
            <a:avLst/>
          </a:prstGeom>
          <a:solidFill>
            <a:srgbClr val="C81D2D"/>
          </a:solidFill>
          <a:ln>
            <a:solidFill>
              <a:srgbClr val="C8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47888" y="1636775"/>
            <a:ext cx="3090672" cy="21945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81D2D"/>
                </a:solidFill>
                <a:latin typeface="STKaiti"/>
                <a:ea typeface="STKaiti"/>
              </a:rPr>
              <a:t>释放空间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7888" y="1920239"/>
            <a:ext cx="3090672" cy="42062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100" b="1">
                <a:solidFill>
                  <a:srgbClr val="172D3B"/>
                </a:solidFill>
                <a:latin typeface="STKaiti"/>
                <a:ea typeface="STKaiti"/>
              </a:rPr>
              <a:t>监管转折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47888" y="2423160"/>
            <a:ext cx="3054096" cy="2715768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33F"/>
                </a:solidFill>
                <a:latin typeface="STKaiti"/>
                <a:ea typeface="STKaiti"/>
              </a:rPr>
              <a:t>美联储 2025 年解除资产上限，2026 年终止 2018 年执法令；新空间仍需资本与风控支撑。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881360" cy="4663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D3B"/>
                </a:solidFill>
                <a:latin typeface="STKaiti"/>
                <a:ea typeface="STKaiti"/>
              </a:rPr>
              <a:t>经营故事与现实：修复可信，但不能只看规模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32104"/>
            <a:ext cx="1088136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0717D"/>
                </a:solidFill>
                <a:latin typeface="STKaiti"/>
                <a:ea typeface="STKaiti"/>
              </a:rPr>
              <a:t>管理层强调“更大、更有效率”；外部要追问利润来自周期、低拨备还是可复用能力。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30936" y="1207008"/>
            <a:ext cx="10954512" cy="0"/>
          </a:xfrm>
          <a:prstGeom prst="line">
            <a:avLst/>
          </a:prstGeom>
          <a:ln w="10160">
            <a:solidFill>
              <a:srgbClr val="D9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9224" y="6291072"/>
            <a:ext cx="1554480" cy="310896"/>
          </a:xfrm>
          <a:prstGeom prst="roundRect">
            <a:avLst>
              <a:gd name="adj" fmla="val 7000"/>
            </a:avLst>
          </a:prstGeom>
          <a:solidFill>
            <a:srgbClr val="F5F8F9"/>
          </a:solidFill>
          <a:ln>
            <a:solidFill>
              <a:srgbClr val="F5F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5" y="6300216"/>
            <a:ext cx="1408176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0717D"/>
                </a:solidFill>
                <a:latin typeface="STKaiti"/>
                <a:ea typeface="STKaiti"/>
              </a:rPr>
              <a:t>差距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6263640"/>
            <a:ext cx="777240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0717D"/>
                </a:solidFill>
                <a:latin typeface="STKaiti"/>
                <a:ea typeface="STKaiti"/>
              </a:rPr>
              <a:t>来源：S1、S2、S3、S5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263640"/>
            <a:ext cx="566928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0717D"/>
                </a:solidFill>
                <a:latin typeface="STKaiti"/>
                <a:ea typeface="STKaiti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694944" y="1499616"/>
            <a:ext cx="2331720" cy="457200"/>
          </a:xfrm>
          <a:prstGeom prst="rect">
            <a:avLst/>
          </a:prstGeom>
          <a:solidFill>
            <a:srgbClr val="FBE9EC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6384" y="1554480"/>
            <a:ext cx="2148839" cy="34747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72D3B"/>
                </a:solidFill>
                <a:latin typeface="STKaiti"/>
                <a:ea typeface="STKaiti"/>
              </a:rPr>
              <a:t>对外叙事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26664" y="1499616"/>
            <a:ext cx="3794760" cy="457200"/>
          </a:xfrm>
          <a:prstGeom prst="rect">
            <a:avLst/>
          </a:prstGeom>
          <a:solidFill>
            <a:srgbClr val="FBE9EC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18104" y="1554480"/>
            <a:ext cx="3611880" cy="34747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4333F"/>
                </a:solidFill>
                <a:latin typeface="STKaiti"/>
                <a:ea typeface="STKaiti"/>
              </a:rPr>
              <a:t>已兑现的经营事实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821424" y="1499616"/>
            <a:ext cx="4736592" cy="457200"/>
          </a:xfrm>
          <a:prstGeom prst="rect">
            <a:avLst/>
          </a:prstGeom>
          <a:solidFill>
            <a:srgbClr val="FBE9EC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12864" y="1554480"/>
            <a:ext cx="4553712" cy="34747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24333F"/>
                </a:solidFill>
                <a:latin typeface="STKaiti"/>
                <a:ea typeface="STKaiti"/>
              </a:rPr>
              <a:t>尚待证实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94944" y="2011680"/>
            <a:ext cx="23317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" y="2066544"/>
            <a:ext cx="2148839" cy="8503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D3B"/>
                </a:solidFill>
                <a:latin typeface="STKaiti"/>
                <a:ea typeface="STKaiti"/>
              </a:rPr>
              <a:t>监管束缚解除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26664" y="2011680"/>
            <a:ext cx="37947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118104" y="2066544"/>
            <a:ext cx="3611880" cy="8503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33F"/>
                </a:solidFill>
                <a:latin typeface="STKaiti"/>
                <a:ea typeface="STKaiti"/>
              </a:rPr>
              <a:t>资产上限已解除，贷款与存款双位数增长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21424" y="2011680"/>
            <a:ext cx="4736592" cy="960120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12864" y="2066544"/>
            <a:ext cx="4553712" cy="8503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33F"/>
                </a:solidFill>
                <a:latin typeface="STKaiti"/>
                <a:ea typeface="STKaiti"/>
              </a:rPr>
              <a:t>风控在更大资产负债表下仍然稳健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4944" y="3017520"/>
            <a:ext cx="23317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" y="3072384"/>
            <a:ext cx="2148839" cy="8503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D3B"/>
                </a:solidFill>
                <a:latin typeface="STKaiti"/>
                <a:ea typeface="STKaiti"/>
              </a:rPr>
              <a:t>经营效率改善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26664" y="3017520"/>
            <a:ext cx="37947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18104" y="3072384"/>
            <a:ext cx="3611880" cy="8503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33F"/>
                </a:solidFill>
                <a:latin typeface="STKaiti"/>
                <a:ea typeface="STKaiti"/>
              </a:rPr>
              <a:t>收入同比 +9%，费用 +2%；ROTCE 17.7%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821424" y="3017520"/>
            <a:ext cx="4736592" cy="960120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12864" y="3072384"/>
            <a:ext cx="4553712" cy="8503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33F"/>
                </a:solidFill>
                <a:latin typeface="STKaiti"/>
                <a:ea typeface="STKaiti"/>
              </a:rPr>
              <a:t>信用成本正常化后是否仍有正经营杠杆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4944" y="4023360"/>
            <a:ext cx="233172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6384" y="4078224"/>
            <a:ext cx="2148839" cy="8503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D3B"/>
                </a:solidFill>
                <a:latin typeface="STKaiti"/>
                <a:ea typeface="STKaiti"/>
              </a:rPr>
              <a:t>客户关系深化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26664" y="4023360"/>
            <a:ext cx="3794760" cy="960120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118104" y="4078224"/>
            <a:ext cx="3611880" cy="8503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33F"/>
                </a:solidFill>
                <a:latin typeface="STKaiti"/>
                <a:ea typeface="STKaiti"/>
              </a:rPr>
              <a:t>零售与财富收入增长；财富客户资产扩大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21424" y="4023360"/>
            <a:ext cx="4736592" cy="960120"/>
          </a:xfrm>
          <a:prstGeom prst="rect">
            <a:avLst/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912864" y="4078224"/>
            <a:ext cx="4553712" cy="8503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33F"/>
                </a:solidFill>
                <a:latin typeface="STKaiti"/>
                <a:ea typeface="STKaiti"/>
              </a:rPr>
              <a:t>满意度与主账户留存是否同步改善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7240" y="5294376"/>
            <a:ext cx="10515600" cy="6126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72D3B"/>
                </a:solidFill>
                <a:latin typeface="STKaiti"/>
                <a:ea typeface="STKaiti"/>
              </a:rPr>
              <a:t>研究判断：资本市场认可修复的财务证据，但更高估值仍要有客户体验与穿越周期的回报证据。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881360" cy="4663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D3B"/>
                </a:solidFill>
                <a:latin typeface="STKaiti"/>
                <a:ea typeface="STKaiti"/>
              </a:rPr>
              <a:t>风险地图：四个变量会改变增长质量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32104"/>
            <a:ext cx="1088136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0717D"/>
                </a:solidFill>
                <a:latin typeface="STKaiti"/>
                <a:ea typeface="STKaiti"/>
              </a:rPr>
              <a:t>关注方向和触发机制，不把情景当作确定预测。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30936" y="1207008"/>
            <a:ext cx="10954512" cy="0"/>
          </a:xfrm>
          <a:prstGeom prst="line">
            <a:avLst/>
          </a:prstGeom>
          <a:ln w="10160">
            <a:solidFill>
              <a:srgbClr val="D9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9224" y="6291072"/>
            <a:ext cx="1554480" cy="310896"/>
          </a:xfrm>
          <a:prstGeom prst="roundRect">
            <a:avLst>
              <a:gd name="adj" fmla="val 7000"/>
            </a:avLst>
          </a:prstGeom>
          <a:solidFill>
            <a:srgbClr val="F5F8F9"/>
          </a:solidFill>
          <a:ln>
            <a:solidFill>
              <a:srgbClr val="F5F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5" y="6300216"/>
            <a:ext cx="1408176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0717D"/>
                </a:solidFill>
                <a:latin typeface="STKaiti"/>
                <a:ea typeface="STKaiti"/>
              </a:rPr>
              <a:t>风险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6263640"/>
            <a:ext cx="777240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0717D"/>
                </a:solidFill>
                <a:latin typeface="STKaiti"/>
                <a:ea typeface="STKaiti"/>
              </a:rPr>
              <a:t>来源：S2、S7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263640"/>
            <a:ext cx="566928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0717D"/>
                </a:solidFill>
                <a:latin typeface="STKaiti"/>
                <a:ea typeface="STKaiti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13232" y="1463040"/>
            <a:ext cx="5266944" cy="18470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96112" y="1627632"/>
            <a:ext cx="1755648" cy="310896"/>
          </a:xfrm>
          <a:prstGeom prst="roundRect">
            <a:avLst>
              <a:gd name="adj" fmla="val 7000"/>
            </a:avLst>
          </a:prstGeom>
          <a:solidFill>
            <a:srgbClr val="FBE9EC"/>
          </a:solidFill>
          <a:ln>
            <a:solidFill>
              <a:srgbClr val="FB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9264" y="1636776"/>
            <a:ext cx="1609344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81D2D"/>
                </a:solidFill>
                <a:latin typeface="STKaiti"/>
                <a:ea typeface="STKaiti"/>
              </a:rPr>
              <a:t>利率与存款成本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57400"/>
            <a:ext cx="4846320" cy="5120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D3B"/>
                </a:solidFill>
                <a:latin typeface="STKaiti"/>
                <a:ea typeface="STKaiti"/>
              </a:rPr>
              <a:t>净息差 2.43%，较上年 2.68% 回落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606040"/>
            <a:ext cx="4846320" cy="5120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33F"/>
                </a:solidFill>
                <a:latin typeface="STKaiti"/>
                <a:ea typeface="STKaiti"/>
              </a:rPr>
              <a:t>资金竞争加剧或降息压资产收益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3640" y="1463040"/>
            <a:ext cx="5266944" cy="18470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446520" y="1627632"/>
            <a:ext cx="1755648" cy="310896"/>
          </a:xfrm>
          <a:prstGeom prst="roundRect">
            <a:avLst>
              <a:gd name="adj" fmla="val 7000"/>
            </a:avLst>
          </a:prstGeom>
          <a:solidFill>
            <a:srgbClr val="FBE9EC"/>
          </a:solidFill>
          <a:ln>
            <a:solidFill>
              <a:srgbClr val="FB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9672" y="1636776"/>
            <a:ext cx="1609344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81D2D"/>
                </a:solidFill>
                <a:latin typeface="STKaiti"/>
                <a:ea typeface="STKaiti"/>
              </a:rPr>
              <a:t>信用与商业地产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64808" y="2057400"/>
            <a:ext cx="4846320" cy="5120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D3B"/>
                </a:solidFill>
                <a:latin typeface="STKaiti"/>
                <a:ea typeface="STKaiti"/>
              </a:rPr>
              <a:t>拨备 9.14 亿美元；CRE 仍需监测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2606040"/>
            <a:ext cx="4846320" cy="5120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33F"/>
                </a:solidFill>
                <a:latin typeface="STKaiti"/>
                <a:ea typeface="STKaiti"/>
              </a:rPr>
              <a:t>再融资、办公楼价值与消费者压力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520440"/>
            <a:ext cx="5266944" cy="18470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96112" y="3685032"/>
            <a:ext cx="1755648" cy="310896"/>
          </a:xfrm>
          <a:prstGeom prst="roundRect">
            <a:avLst>
              <a:gd name="adj" fmla="val 7000"/>
            </a:avLst>
          </a:prstGeom>
          <a:solidFill>
            <a:srgbClr val="FBE9EC"/>
          </a:solidFill>
          <a:ln>
            <a:solidFill>
              <a:srgbClr val="FB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" y="3694176"/>
            <a:ext cx="1609344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81D2D"/>
                </a:solidFill>
                <a:latin typeface="STKaiti"/>
                <a:ea typeface="STKaiti"/>
              </a:rPr>
              <a:t>市场与资本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114800"/>
            <a:ext cx="4846320" cy="5120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D3B"/>
                </a:solidFill>
                <a:latin typeface="STKaiti"/>
                <a:ea typeface="STKaiti"/>
              </a:rPr>
              <a:t>投行费强劲，交易相关资产扩张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4663440"/>
            <a:ext cx="4846320" cy="5120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33F"/>
                </a:solidFill>
                <a:latin typeface="STKaiti"/>
                <a:ea typeface="STKaiti"/>
              </a:rPr>
              <a:t>交易波动或资本要求提高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63640" y="3520440"/>
            <a:ext cx="5266944" cy="184708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446520" y="3685032"/>
            <a:ext cx="1755648" cy="310896"/>
          </a:xfrm>
          <a:prstGeom prst="roundRect">
            <a:avLst>
              <a:gd name="adj" fmla="val 7000"/>
            </a:avLst>
          </a:prstGeom>
          <a:solidFill>
            <a:srgbClr val="FBE9EC"/>
          </a:solidFill>
          <a:ln>
            <a:solidFill>
              <a:srgbClr val="FB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19672" y="3694176"/>
            <a:ext cx="1609344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C81D2D"/>
                </a:solidFill>
                <a:latin typeface="STKaiti"/>
                <a:ea typeface="STKaiti"/>
              </a:rPr>
              <a:t>信任与合规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64808" y="4114800"/>
            <a:ext cx="4846320" cy="5120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D3B"/>
                </a:solidFill>
                <a:latin typeface="STKaiti"/>
                <a:ea typeface="STKaiti"/>
              </a:rPr>
              <a:t>监管令终止但历史声誉仍在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64808" y="4663440"/>
            <a:ext cx="4846320" cy="5120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24333F"/>
                </a:solidFill>
                <a:latin typeface="STKaiti"/>
                <a:ea typeface="STKaiti"/>
              </a:rPr>
              <a:t>服务问题或新控制缺陷复发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881360" cy="4663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D3B"/>
                </a:solidFill>
                <a:latin typeface="STKaiti"/>
                <a:ea typeface="STKaiti"/>
              </a:rPr>
              <a:t>市场与用户的两套评价并不一致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32104"/>
            <a:ext cx="1088136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0717D"/>
                </a:solidFill>
                <a:latin typeface="STKaiti"/>
                <a:ea typeface="STKaiti"/>
              </a:rPr>
              <a:t>股价反应、满意度调查各有样本与时间边界。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30936" y="1207008"/>
            <a:ext cx="10954512" cy="0"/>
          </a:xfrm>
          <a:prstGeom prst="line">
            <a:avLst/>
          </a:prstGeom>
          <a:ln w="10160">
            <a:solidFill>
              <a:srgbClr val="D9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9224" y="6291072"/>
            <a:ext cx="1554480" cy="310896"/>
          </a:xfrm>
          <a:prstGeom prst="roundRect">
            <a:avLst>
              <a:gd name="adj" fmla="val 7000"/>
            </a:avLst>
          </a:prstGeom>
          <a:solidFill>
            <a:srgbClr val="F5F8F9"/>
          </a:solidFill>
          <a:ln>
            <a:solidFill>
              <a:srgbClr val="F5F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5" y="6300216"/>
            <a:ext cx="1408176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0717D"/>
                </a:solidFill>
                <a:latin typeface="STKaiti"/>
                <a:ea typeface="STKaiti"/>
              </a:rPr>
              <a:t>外部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6263640"/>
            <a:ext cx="777240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0717D"/>
                </a:solidFill>
                <a:latin typeface="STKaiti"/>
                <a:ea typeface="STKaiti"/>
              </a:rPr>
              <a:t>来源：S5、S6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263640"/>
            <a:ext cx="566928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0717D"/>
                </a:solidFill>
                <a:latin typeface="STKaiti"/>
                <a:ea typeface="STKaiti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536192"/>
            <a:ext cx="5303520" cy="4169663"/>
          </a:xfrm>
          <a:prstGeom prst="roundRect">
            <a:avLst>
              <a:gd name="adj" fmla="val 7000"/>
            </a:avLst>
          </a:prstGeom>
          <a:solidFill>
            <a:srgbClr val="F5F8F9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87552" y="1746504"/>
            <a:ext cx="448056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C81D2D"/>
                </a:solidFill>
                <a:latin typeface="STKaiti"/>
                <a:ea typeface="STKaiti"/>
              </a:rPr>
              <a:t>资本市场｜利润好于预期仍跌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331720"/>
            <a:ext cx="4480560" cy="6035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172D3B"/>
                </a:solidFill>
                <a:latin typeface="STKaiti"/>
                <a:ea typeface="STKaiti"/>
              </a:rPr>
              <a:t>-2.6%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072384"/>
            <a:ext cx="4480560" cy="1188720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4333F"/>
                </a:solidFill>
                <a:latin typeface="STKaiti"/>
                <a:ea typeface="STKaiti"/>
              </a:rPr>
              <a:t>二季度披露当日盘中股价下跌约 2.6%。市场已提前计入修复，继续关注利差与持续增长。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074920"/>
            <a:ext cx="4480560" cy="36576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0717D"/>
                </a:solidFill>
                <a:latin typeface="STKaiti"/>
                <a:ea typeface="STKaiti"/>
              </a:rPr>
              <a:t>事件窗口，不等于长期估值判断。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72784" y="1536192"/>
            <a:ext cx="5157216" cy="4169663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>
            <a:solidFill>
              <a:srgbClr val="D9E1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9672" y="1746504"/>
            <a:ext cx="4498848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C81D2D"/>
                </a:solidFill>
                <a:latin typeface="STKaiti"/>
                <a:ea typeface="STKaiti"/>
              </a:rPr>
              <a:t>零售客户｜地区差异与软切换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37960" y="2331720"/>
            <a:ext cx="4480560" cy="60350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>
                <a:solidFill>
                  <a:srgbClr val="172D3B"/>
                </a:solidFill>
                <a:latin typeface="STKaiti"/>
                <a:ea typeface="STKaiti"/>
              </a:rPr>
              <a:t>617 / 644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60" y="3072384"/>
            <a:ext cx="4526280" cy="1289304"/>
          </a:xfrm>
          <a:prstGeom prst="rect">
            <a:avLst/>
          </a:prstGeom>
          <a:noFill/>
        </p:spPr>
        <p:txBody>
          <a:bodyPr wrap="square" lIns="18288" rIns="18288" tIns="9144" bIns="9144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24333F"/>
                </a:solidFill>
                <a:latin typeface="STKaiti"/>
                <a:ea typeface="STKaiti"/>
              </a:rPr>
              <a:t>J.D. Power 2026 西南区富国银行得分 617，区域均值 644。全行业用户跨行持有账户、转移资金增多。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5074920"/>
            <a:ext cx="4480560" cy="38404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0717D"/>
                </a:solidFill>
                <a:latin typeface="STKaiti"/>
                <a:ea typeface="STKaiti"/>
              </a:rPr>
              <a:t>地区样本不可外推为全国评分。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881360" cy="4663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D3B"/>
                </a:solidFill>
                <a:latin typeface="STKaiti"/>
                <a:ea typeface="STKaiti"/>
              </a:rPr>
              <a:t>下一阶段观察：用五个指标检验“修复”能否转成质量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32104"/>
            <a:ext cx="1088136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0717D"/>
                </a:solidFill>
                <a:latin typeface="STKaiti"/>
                <a:ea typeface="STKaiti"/>
              </a:rPr>
              <a:t>观察清单是分析框架；不构成盈利预测或投资建议。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30936" y="1207008"/>
            <a:ext cx="10954512" cy="0"/>
          </a:xfrm>
          <a:prstGeom prst="line">
            <a:avLst/>
          </a:prstGeom>
          <a:ln w="10160">
            <a:solidFill>
              <a:srgbClr val="D9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9224" y="6291072"/>
            <a:ext cx="1554480" cy="310896"/>
          </a:xfrm>
          <a:prstGeom prst="roundRect">
            <a:avLst>
              <a:gd name="adj" fmla="val 7000"/>
            </a:avLst>
          </a:prstGeom>
          <a:solidFill>
            <a:srgbClr val="F5F8F9"/>
          </a:solidFill>
          <a:ln>
            <a:solidFill>
              <a:srgbClr val="F5F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5" y="6300216"/>
            <a:ext cx="1408176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0717D"/>
                </a:solidFill>
                <a:latin typeface="STKaiti"/>
                <a:ea typeface="STKaiti"/>
              </a:rPr>
              <a:t>观察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31720" y="6263640"/>
            <a:ext cx="7772400" cy="27432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>
                <a:solidFill>
                  <a:srgbClr val="60717D"/>
                </a:solidFill>
                <a:latin typeface="STKaiti"/>
                <a:ea typeface="STKaiti"/>
              </a:rPr>
              <a:t>来源：S1、S2、S5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91088" y="6263640"/>
            <a:ext cx="566928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0717D"/>
                </a:solidFill>
                <a:latin typeface="STKaiti"/>
                <a:ea typeface="STKait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2376" y="1581912"/>
            <a:ext cx="1143000" cy="310896"/>
          </a:xfrm>
          <a:prstGeom prst="roundRect">
            <a:avLst>
              <a:gd name="adj" fmla="val 7000"/>
            </a:avLst>
          </a:prstGeom>
          <a:solidFill>
            <a:srgbClr val="FBE9EC"/>
          </a:solidFill>
          <a:ln>
            <a:solidFill>
              <a:srgbClr val="FB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591056"/>
            <a:ext cx="996696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81D2D"/>
                </a:solidFill>
                <a:latin typeface="STKaiti"/>
                <a:ea typeface="STKaiti"/>
              </a:rPr>
              <a:t>资金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48256" y="1453896"/>
            <a:ext cx="4041648" cy="6583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D3B"/>
                </a:solidFill>
                <a:latin typeface="STKaiti"/>
                <a:ea typeface="STKaiti"/>
              </a:rPr>
              <a:t>平均存款增速与平均存款成本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453896"/>
            <a:ext cx="4846320" cy="6583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33F"/>
                </a:solidFill>
                <a:latin typeface="STKaiti"/>
                <a:ea typeface="STKaiti"/>
              </a:rPr>
              <a:t>增长是否依赖更贵的负债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13232" y="2185416"/>
            <a:ext cx="10716768" cy="0"/>
          </a:xfrm>
          <a:prstGeom prst="line">
            <a:avLst/>
          </a:prstGeom>
          <a:ln w="8890">
            <a:solidFill>
              <a:srgbClr val="D9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722376" y="2414016"/>
            <a:ext cx="1143000" cy="310896"/>
          </a:xfrm>
          <a:prstGeom prst="roundRect">
            <a:avLst>
              <a:gd name="adj" fmla="val 7000"/>
            </a:avLst>
          </a:prstGeom>
          <a:solidFill>
            <a:srgbClr val="FBE9EC"/>
          </a:solidFill>
          <a:ln>
            <a:solidFill>
              <a:srgbClr val="FB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5528" y="2423160"/>
            <a:ext cx="996696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81D2D"/>
                </a:solidFill>
                <a:latin typeface="STKaiti"/>
                <a:ea typeface="STKaiti"/>
              </a:rPr>
              <a:t>收益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48256" y="2286000"/>
            <a:ext cx="4041648" cy="6583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D3B"/>
                </a:solidFill>
                <a:latin typeface="STKaiti"/>
                <a:ea typeface="STKaiti"/>
              </a:rPr>
              <a:t>净息差与非息收入结构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286000"/>
            <a:ext cx="4846320" cy="6583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33F"/>
                </a:solidFill>
                <a:latin typeface="STKaiti"/>
                <a:ea typeface="STKaiti"/>
              </a:rPr>
              <a:t>规模扩张是否转为每单位资产收益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3232" y="3017520"/>
            <a:ext cx="10716768" cy="0"/>
          </a:xfrm>
          <a:prstGeom prst="line">
            <a:avLst/>
          </a:prstGeom>
          <a:ln w="8890">
            <a:solidFill>
              <a:srgbClr val="D9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722376" y="3246120"/>
            <a:ext cx="1143000" cy="310896"/>
          </a:xfrm>
          <a:prstGeom prst="roundRect">
            <a:avLst>
              <a:gd name="adj" fmla="val 7000"/>
            </a:avLst>
          </a:prstGeom>
          <a:solidFill>
            <a:srgbClr val="FBE9EC"/>
          </a:solidFill>
          <a:ln>
            <a:solidFill>
              <a:srgbClr val="FB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" y="3255264"/>
            <a:ext cx="996696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81D2D"/>
                </a:solidFill>
                <a:latin typeface="STKaiti"/>
                <a:ea typeface="STKaiti"/>
              </a:rPr>
              <a:t>信用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48256" y="3118104"/>
            <a:ext cx="4041648" cy="6583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D3B"/>
                </a:solidFill>
                <a:latin typeface="STKaiti"/>
                <a:ea typeface="STKaiti"/>
              </a:rPr>
              <a:t>净核销率、CRE 不良及拨备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118104"/>
            <a:ext cx="4846320" cy="6583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33F"/>
                </a:solidFill>
                <a:latin typeface="STKaiti"/>
                <a:ea typeface="STKaiti"/>
              </a:rPr>
              <a:t>收益是否由暂时偏低的信用成本支撑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713232" y="3849624"/>
            <a:ext cx="10716768" cy="0"/>
          </a:xfrm>
          <a:prstGeom prst="line">
            <a:avLst/>
          </a:prstGeom>
          <a:ln w="8890">
            <a:solidFill>
              <a:srgbClr val="D9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722376" y="4078224"/>
            <a:ext cx="1143000" cy="310896"/>
          </a:xfrm>
          <a:prstGeom prst="roundRect">
            <a:avLst>
              <a:gd name="adj" fmla="val 7000"/>
            </a:avLst>
          </a:prstGeom>
          <a:solidFill>
            <a:srgbClr val="FBE9EC"/>
          </a:solidFill>
          <a:ln>
            <a:solidFill>
              <a:srgbClr val="FB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8" y="4087368"/>
            <a:ext cx="996696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81D2D"/>
                </a:solidFill>
                <a:latin typeface="STKaiti"/>
                <a:ea typeface="STKaiti"/>
              </a:rPr>
              <a:t>资本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048256" y="3950208"/>
            <a:ext cx="4041648" cy="6583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D3B"/>
                </a:solidFill>
                <a:latin typeface="STKaiti"/>
                <a:ea typeface="STKaiti"/>
              </a:rPr>
              <a:t>CET1 与分部资本回报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09360" y="3950208"/>
            <a:ext cx="4846320" cy="6583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33F"/>
                </a:solidFill>
                <a:latin typeface="STKaiti"/>
                <a:ea typeface="STKaiti"/>
              </a:rPr>
              <a:t>扩张是否消耗过多资本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13232" y="4681728"/>
            <a:ext cx="10716768" cy="0"/>
          </a:xfrm>
          <a:prstGeom prst="line">
            <a:avLst/>
          </a:prstGeom>
          <a:ln w="8890">
            <a:solidFill>
              <a:srgbClr val="D9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722376" y="4910328"/>
            <a:ext cx="1143000" cy="310896"/>
          </a:xfrm>
          <a:prstGeom prst="roundRect">
            <a:avLst>
              <a:gd name="adj" fmla="val 7000"/>
            </a:avLst>
          </a:prstGeom>
          <a:solidFill>
            <a:srgbClr val="FBE9EC"/>
          </a:solidFill>
          <a:ln>
            <a:solidFill>
              <a:srgbClr val="FB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" y="4919472"/>
            <a:ext cx="996696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C81D2D"/>
                </a:solidFill>
                <a:latin typeface="STKaiti"/>
                <a:ea typeface="STKaiti"/>
              </a:rPr>
              <a:t>客户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48256" y="4782312"/>
            <a:ext cx="4041648" cy="6583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72D3B"/>
                </a:solidFill>
                <a:latin typeface="STKaiti"/>
                <a:ea typeface="STKaiti"/>
              </a:rPr>
              <a:t>主账户、信用卡活跃与满意度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782312"/>
            <a:ext cx="4846320" cy="65836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4333F"/>
                </a:solidFill>
                <a:latin typeface="STKaiti"/>
                <a:ea typeface="STKaiti"/>
              </a:rPr>
              <a:t>客户关系是否真正修复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13232" y="5513832"/>
            <a:ext cx="10716768" cy="0"/>
          </a:xfrm>
          <a:prstGeom prst="line">
            <a:avLst/>
          </a:prstGeom>
          <a:ln w="8890">
            <a:solidFill>
              <a:srgbClr val="D9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21792" y="320040"/>
            <a:ext cx="10881360" cy="46634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172D3B"/>
                </a:solidFill>
                <a:latin typeface="STKaiti"/>
                <a:ea typeface="STKaiti"/>
              </a:rPr>
              <a:t>来源、口径与限制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32104"/>
            <a:ext cx="10881360" cy="310896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0717D"/>
                </a:solidFill>
                <a:latin typeface="STKaiti"/>
                <a:ea typeface="STKaiti"/>
              </a:rPr>
              <a:t>编号对应各页页脚；完整 URL、取得日期及复核见审计报告。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630936" y="1207008"/>
            <a:ext cx="10954512" cy="0"/>
          </a:xfrm>
          <a:prstGeom prst="line">
            <a:avLst/>
          </a:prstGeom>
          <a:ln w="10160">
            <a:solidFill>
              <a:srgbClr val="D9E1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649224" y="6291072"/>
            <a:ext cx="1554480" cy="310896"/>
          </a:xfrm>
          <a:prstGeom prst="roundRect">
            <a:avLst>
              <a:gd name="adj" fmla="val 7000"/>
            </a:avLst>
          </a:prstGeom>
          <a:solidFill>
            <a:srgbClr val="F5F8F9"/>
          </a:solidFill>
          <a:ln>
            <a:solidFill>
              <a:srgbClr val="F5F8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2375" y="6300216"/>
            <a:ext cx="1408176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60717D"/>
                </a:solidFill>
                <a:latin typeface="STKaiti"/>
                <a:ea typeface="STKaiti"/>
              </a:rPr>
              <a:t>来源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91088" y="6263640"/>
            <a:ext cx="566928" cy="25603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0717D"/>
                </a:solidFill>
                <a:latin typeface="STKaiti"/>
                <a:ea typeface="STKaiti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17320"/>
            <a:ext cx="566928" cy="310896"/>
          </a:xfrm>
          <a:prstGeom prst="roundRect">
            <a:avLst>
              <a:gd name="adj" fmla="val 7000"/>
            </a:avLst>
          </a:prstGeom>
          <a:solidFill>
            <a:srgbClr val="FBE9EC"/>
          </a:solidFill>
          <a:ln>
            <a:solidFill>
              <a:srgbClr val="FB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" y="1426464"/>
            <a:ext cx="420623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C81D2D"/>
                </a:solidFill>
                <a:latin typeface="STKaiti"/>
                <a:ea typeface="STKaiti"/>
              </a:rPr>
              <a:t>S1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408176"/>
            <a:ext cx="2834640" cy="3383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D3B"/>
                </a:solidFill>
                <a:latin typeface="STKaiti"/>
                <a:ea typeface="STKaiti"/>
              </a:rPr>
              <a:t>富国银行 2026Q2 公告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1408176"/>
            <a:ext cx="6995160" cy="3383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0717D"/>
                </a:solidFill>
                <a:latin typeface="STKaiti"/>
                <a:ea typeface="STKaiti"/>
              </a:rPr>
              <a:t>总收入、净利润、贷款存款及管理层陈述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1883664"/>
            <a:ext cx="566928" cy="310896"/>
          </a:xfrm>
          <a:prstGeom prst="roundRect">
            <a:avLst>
              <a:gd name="adj" fmla="val 7000"/>
            </a:avLst>
          </a:prstGeom>
          <a:solidFill>
            <a:srgbClr val="FBE9EC"/>
          </a:solidFill>
          <a:ln>
            <a:solidFill>
              <a:srgbClr val="FB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1892807"/>
            <a:ext cx="420623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C81D2D"/>
                </a:solidFill>
                <a:latin typeface="STKaiti"/>
                <a:ea typeface="STKaiti"/>
              </a:rPr>
              <a:t>S2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89888" y="1874520"/>
            <a:ext cx="2834640" cy="3383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D3B"/>
                </a:solidFill>
                <a:latin typeface="STKaiti"/>
                <a:ea typeface="STKaiti"/>
              </a:rPr>
              <a:t>2026Q2 财务补充资料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1874520"/>
            <a:ext cx="6995160" cy="3383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0717D"/>
                </a:solidFill>
                <a:latin typeface="STKaiti"/>
                <a:ea typeface="STKaiti"/>
              </a:rPr>
              <a:t>分部、净息差、费用和信用指标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2350008"/>
            <a:ext cx="566928" cy="310896"/>
          </a:xfrm>
          <a:prstGeom prst="roundRect">
            <a:avLst>
              <a:gd name="adj" fmla="val 7000"/>
            </a:avLst>
          </a:prstGeom>
          <a:solidFill>
            <a:srgbClr val="FBE9EC"/>
          </a:solidFill>
          <a:ln>
            <a:solidFill>
              <a:srgbClr val="FB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2359152"/>
            <a:ext cx="420623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C81D2D"/>
                </a:solidFill>
                <a:latin typeface="STKaiti"/>
                <a:ea typeface="STKaiti"/>
              </a:rPr>
              <a:t>S3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89888" y="2340864"/>
            <a:ext cx="2834640" cy="3383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D3B"/>
                </a:solidFill>
                <a:latin typeface="STKaiti"/>
                <a:ea typeface="STKaiti"/>
              </a:rPr>
              <a:t>美联储 2026-03-05 公告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2340864"/>
            <a:ext cx="6995160" cy="3383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0717D"/>
                </a:solidFill>
                <a:latin typeface="STKaiti"/>
                <a:ea typeface="STKaiti"/>
              </a:rPr>
              <a:t>2018 年执法令终止及资产上限解除时间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2816352"/>
            <a:ext cx="566928" cy="310896"/>
          </a:xfrm>
          <a:prstGeom prst="roundRect">
            <a:avLst>
              <a:gd name="adj" fmla="val 7000"/>
            </a:avLst>
          </a:prstGeom>
          <a:solidFill>
            <a:srgbClr val="FBE9EC"/>
          </a:solidFill>
          <a:ln>
            <a:solidFill>
              <a:srgbClr val="FB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" y="2825496"/>
            <a:ext cx="420623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C81D2D"/>
                </a:solidFill>
                <a:latin typeface="STKaiti"/>
                <a:ea typeface="STKaiti"/>
              </a:rPr>
              <a:t>S5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2807208"/>
            <a:ext cx="2834640" cy="3383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D3B"/>
                </a:solidFill>
                <a:latin typeface="STKaiti"/>
                <a:ea typeface="STKaiti"/>
              </a:rPr>
              <a:t>J.D. Power 2026 零售银行调查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43400" y="2807208"/>
            <a:ext cx="6995160" cy="3383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0717D"/>
                </a:solidFill>
                <a:latin typeface="STKaiti"/>
                <a:ea typeface="STKaiti"/>
              </a:rPr>
              <a:t>西南区得分与全行业客户行为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282696"/>
            <a:ext cx="566928" cy="310896"/>
          </a:xfrm>
          <a:prstGeom prst="roundRect">
            <a:avLst>
              <a:gd name="adj" fmla="val 7000"/>
            </a:avLst>
          </a:prstGeom>
          <a:solidFill>
            <a:srgbClr val="FBE9EC"/>
          </a:solidFill>
          <a:ln>
            <a:solidFill>
              <a:srgbClr val="FB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" y="3291839"/>
            <a:ext cx="420623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C81D2D"/>
                </a:solidFill>
                <a:latin typeface="STKaiti"/>
                <a:ea typeface="STKaiti"/>
              </a:rPr>
              <a:t>S6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89888" y="3273552"/>
            <a:ext cx="2834640" cy="3383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D3B"/>
                </a:solidFill>
                <a:latin typeface="STKaiti"/>
                <a:ea typeface="STKaiti"/>
              </a:rPr>
              <a:t>AP 2026-07-14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343400" y="3273552"/>
            <a:ext cx="6995160" cy="3383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0717D"/>
                </a:solidFill>
                <a:latin typeface="STKaiti"/>
                <a:ea typeface="STKaiti"/>
              </a:rPr>
              <a:t>业绩日市场反应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749039"/>
            <a:ext cx="566928" cy="310896"/>
          </a:xfrm>
          <a:prstGeom prst="roundRect">
            <a:avLst>
              <a:gd name="adj" fmla="val 7000"/>
            </a:avLst>
          </a:prstGeom>
          <a:solidFill>
            <a:srgbClr val="FBE9EC"/>
          </a:solidFill>
          <a:ln>
            <a:solidFill>
              <a:srgbClr val="FBE9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952" y="3758183"/>
            <a:ext cx="420623" cy="283464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C81D2D"/>
                </a:solidFill>
                <a:latin typeface="STKaiti"/>
                <a:ea typeface="STKaiti"/>
              </a:rPr>
              <a:t>S7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89888" y="3739896"/>
            <a:ext cx="2834640" cy="3383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72D3B"/>
                </a:solidFill>
                <a:latin typeface="STKaiti"/>
                <a:ea typeface="STKaiti"/>
              </a:rPr>
              <a:t>富国银行 2025 10-K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3739896"/>
            <a:ext cx="6995160" cy="33832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0717D"/>
                </a:solidFill>
                <a:latin typeface="STKaiti"/>
                <a:ea typeface="STKaiti"/>
              </a:rPr>
              <a:t>业务结构、竞争与风险描述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715000"/>
            <a:ext cx="10789920" cy="3931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B5474B"/>
                </a:solidFill>
                <a:latin typeface="STKaiti"/>
                <a:ea typeface="STKaiti"/>
              </a:rPr>
              <a:t>判断性文字属于本报告推论；分部收入口径含集团内部抵销，不得直接相加。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2D3B"/>
          </a:solidFill>
          <a:ln>
            <a:solidFill>
              <a:srgbClr val="172D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49808" y="1426464"/>
            <a:ext cx="91440" cy="4023360"/>
          </a:xfrm>
          <a:prstGeom prst="rect">
            <a:avLst/>
          </a:prstGeom>
          <a:solidFill>
            <a:srgbClr val="C81D2D"/>
          </a:solidFill>
          <a:ln>
            <a:solidFill>
              <a:srgbClr val="C81D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130552"/>
            <a:ext cx="9966960" cy="1005840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STKaiti"/>
                <a:ea typeface="STKaiti"/>
              </a:rPr>
              <a:t>结论：增长已回归，质量仍需验证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" y="3730752"/>
            <a:ext cx="9875520" cy="850392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DBE3E8"/>
                </a:solidFill>
                <a:latin typeface="STKaiti"/>
                <a:ea typeface="STKaiti"/>
              </a:rPr>
              <a:t>重点看净息差、信用成本、客户留存与资本回报能否同时成立。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" y="6025896"/>
            <a:ext cx="8503920" cy="292608"/>
          </a:xfrm>
          <a:prstGeom prst="rect">
            <a:avLst/>
          </a:prstGeom>
          <a:noFill/>
        </p:spPr>
        <p:txBody>
          <a:bodyPr wrap="square" lIns="18288" rIns="18288" tIns="9144" bIns="9144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C81D2D"/>
                </a:solidFill>
                <a:latin typeface="STKaiti"/>
                <a:ea typeface="STKaiti"/>
              </a:rPr>
              <a:t>资料日期：2026-10-03  ·  独立研究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