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</Types>
</file>

<file path=_rels/.rels><?xml version='1.0' encoding='utf-8'?>
<ns0:Relationships xmlns:ns0="http://schemas.openxmlformats.org/package/2006/relationships"><ns0:Relationship Type="http://schemas.openxmlformats.org/package/2006/relationships/metadata/core-properties" Target="/docProps/core.xml" Id="Rebca38a7ce9b4fd3" /><ns0:Relationship Type="http://schemas.openxmlformats.org/officeDocument/2006/relationships/extended-properties" Target="/docProps/app.xml" Id="R6d1c5dbb1acb455a" /><ns0:Relationship Type="http://schemas.openxmlformats.org/officeDocument/2006/relationships/officeDocument" Target="/ppt/presentation.xml" Id="R69d25a4eb83d4882" /><ns0:Relationship Id="rId1" Type="http://schemas.openxmlformats.org/officeDocument/2006/relationships/custom-properties" Target="docProps/custom.xml" /></ns0: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1b27b3840a4e4d"/>
  </p:sldMasterIdLst>
  <p:notesMasterIdLst>
    <p:notesMasterId xmlns:r="http://schemas.openxmlformats.org/officeDocument/2006/relationships" r:id="R75dfebcb9ba746f8"/>
  </p:notesMasterIdLst>
  <p:sldIdLst>
    <p:sldId xmlns:r="http://schemas.openxmlformats.org/officeDocument/2006/relationships" id="256" r:id="R948eeb63b0604cfc"/>
    <p:sldId xmlns:r="http://schemas.openxmlformats.org/officeDocument/2006/relationships" id="257" r:id="Ra532f6a07aba473e"/>
    <p:sldId xmlns:r="http://schemas.openxmlformats.org/officeDocument/2006/relationships" id="258" r:id="R716d4d342f5f40dd"/>
    <p:sldId xmlns:r="http://schemas.openxmlformats.org/officeDocument/2006/relationships" id="259" r:id="Rf437927628be4fd9"/>
    <p:sldId xmlns:r="http://schemas.openxmlformats.org/officeDocument/2006/relationships" id="260" r:id="Rb21c22bfd5794b02"/>
    <p:sldId xmlns:r="http://schemas.openxmlformats.org/officeDocument/2006/relationships" id="261" r:id="R6483f93253c3483d"/>
    <p:sldId xmlns:r="http://schemas.openxmlformats.org/officeDocument/2006/relationships" id="262" r:id="Ra069b9e4237d4d8e"/>
    <p:sldId xmlns:r="http://schemas.openxmlformats.org/officeDocument/2006/relationships" id="263" r:id="R2c7c22cba279432c"/>
    <p:sldId xmlns:r="http://schemas.openxmlformats.org/officeDocument/2006/relationships" id="264" r:id="Ra16e13dc931c41db"/>
    <p:sldId xmlns:r="http://schemas.openxmlformats.org/officeDocument/2006/relationships" id="265" r:id="R4d4de13729d54182"/>
    <p:sldId xmlns:r="http://schemas.openxmlformats.org/officeDocument/2006/relationships" id="266" r:id="R697d7b65a9514a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6d6d18e46a40b8" /><Relationship Type="http://schemas.openxmlformats.org/officeDocument/2006/relationships/slideMaster" Target="/ppt/slideMasters/slideMaster1.xml" Id="R5e1b27b3840a4e4d" /><Relationship Type="http://schemas.openxmlformats.org/officeDocument/2006/relationships/notesMaster" Target="/ppt/notesMasters/notesMaster1.xml" Id="R75dfebcb9ba746f8" /><Relationship Type="http://schemas.openxmlformats.org/officeDocument/2006/relationships/presProps" Target="/ppt/presProps.xml" Id="R4e29ac1def2642b6" /><Relationship Type="http://schemas.openxmlformats.org/officeDocument/2006/relationships/tableStyles" Target="/ppt/tableStyles.xml" Id="R67a51f8fc27f4d27" /><Relationship Type="http://schemas.openxmlformats.org/officeDocument/2006/relationships/slide" Target="/ppt/slides/slide1.xml" Id="R948eeb63b0604cfc" /><Relationship Type="http://schemas.openxmlformats.org/officeDocument/2006/relationships/slide" Target="/ppt/slides/slide2.xml" Id="Ra532f6a07aba473e" /><Relationship Type="http://schemas.openxmlformats.org/officeDocument/2006/relationships/slide" Target="/ppt/slides/slide3.xml" Id="R716d4d342f5f40dd" /><Relationship Type="http://schemas.openxmlformats.org/officeDocument/2006/relationships/slide" Target="/ppt/slides/slide4.xml" Id="Rf437927628be4fd9" /><Relationship Type="http://schemas.openxmlformats.org/officeDocument/2006/relationships/slide" Target="/ppt/slides/slide5.xml" Id="Rb21c22bfd5794b02" /><Relationship Type="http://schemas.openxmlformats.org/officeDocument/2006/relationships/slide" Target="/ppt/slides/slide6.xml" Id="R6483f93253c3483d" /><Relationship Type="http://schemas.openxmlformats.org/officeDocument/2006/relationships/slide" Target="/ppt/slides/slide7.xml" Id="Ra069b9e4237d4d8e" /><Relationship Type="http://schemas.openxmlformats.org/officeDocument/2006/relationships/slide" Target="/ppt/slides/slide8.xml" Id="R2c7c22cba279432c" /><Relationship Type="http://schemas.openxmlformats.org/officeDocument/2006/relationships/slide" Target="/ppt/slides/slide9.xml" Id="Ra16e13dc931c41db" /><Relationship Type="http://schemas.openxmlformats.org/officeDocument/2006/relationships/slide" Target="/ppt/slides/slide10.xml" Id="R4d4de13729d54182" /><Relationship Type="http://schemas.openxmlformats.org/officeDocument/2006/relationships/slide" Target="/ppt/slides/slide11.xml" Id="R697d7b65a9514a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6ab50747084b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layz Neutral 0.3.0">
      <a:dk1>
        <a:srgbClr val="000000"/>
      </a:dk1>
      <a:lt1>
        <a:srgbClr val="FFFFFF"/>
      </a:lt1>
      <a:dk2>
        <a:srgbClr val="171A2B"/>
      </a:dk2>
      <a:lt2>
        <a:srgbClr val="D8DCE8"/>
      </a:lt2>
      <a:accent1>
        <a:srgbClr val="5B5BD6"/>
      </a:accent1>
      <a:accent2>
        <a:srgbClr val="14866D"/>
      </a:accent2>
      <a:accent3>
        <a:srgbClr val="B7791F"/>
      </a:accent3>
      <a:accent4>
        <a:srgbClr val="C24156"/>
      </a:accent4>
      <a:accent5>
        <a:srgbClr val="8367C7"/>
      </a:accent5>
      <a:accent6>
        <a:srgbClr val="2B6F8A"/>
      </a:accent6>
      <a:hlink>
        <a:srgbClr val="5B5BD6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yz Neutral 0.3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604af8db0041c3" /><Relationship Type="http://schemas.openxmlformats.org/officeDocument/2006/relationships/notesMaster" Target="/ppt/notesMasters/notesMaster1.xml" Id="Raff19b054b494f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4d1a7e68c74857" /><Relationship Type="http://schemas.openxmlformats.org/officeDocument/2006/relationships/notesMaster" Target="/ppt/notesMasters/notesMaster1.xml" Id="Rbc079e2cc06644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6fd6b5fd10420a" /><Relationship Type="http://schemas.openxmlformats.org/officeDocument/2006/relationships/notesMaster" Target="/ppt/notesMasters/notesMaster1.xml" Id="Rc93ad07c1c4045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0dc918c3184a36" /><Relationship Type="http://schemas.openxmlformats.org/officeDocument/2006/relationships/notesMaster" Target="/ppt/notesMasters/notesMaster1.xml" Id="R70a255fa9d134f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daff07f8054de6" /><Relationship Type="http://schemas.openxmlformats.org/officeDocument/2006/relationships/notesMaster" Target="/ppt/notesMasters/notesMaster1.xml" Id="Rf719ba150a2e4a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4ba96e61ff4aa6" /><Relationship Type="http://schemas.openxmlformats.org/officeDocument/2006/relationships/notesMaster" Target="/ppt/notesMasters/notesMaster1.xml" Id="R8c17e88ecf174b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d22d4ec4784c91" /><Relationship Type="http://schemas.openxmlformats.org/officeDocument/2006/relationships/notesMaster" Target="/ppt/notesMasters/notesMaster1.xml" Id="R9151b4cda41b4f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28a64256bf445f" /><Relationship Type="http://schemas.openxmlformats.org/officeDocument/2006/relationships/notesMaster" Target="/ppt/notesMasters/notesMaster1.xml" Id="Rdeb7753d680946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f283ea18644b2c" /><Relationship Type="http://schemas.openxmlformats.org/officeDocument/2006/relationships/notesMaster" Target="/ppt/notesMasters/notesMaster1.xml" Id="Rd156846dc43d47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e13cd5b6e6429d" /><Relationship Type="http://schemas.openxmlformats.org/officeDocument/2006/relationships/notesMaster" Target="/ppt/notesMasters/notesMaster1.xml" Id="R0893ebc7908944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92d8866eda4d03" /><Relationship Type="http://schemas.openxmlformats.org/officeDocument/2006/relationships/notesMaster" Target="/ppt/notesMasters/notesMaster1.xml" Id="R57df6b7160ee44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封面：从 ChatBI 到企业认知系统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用户提供：《从ChatBI到企业认知系统_讨论整理_20260822.docx》，核心命题与执行摘要。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四条不充分道路的总览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用户提供讨论稿，P008-P014、P116-P118。</a:t>
            </a:r>
          </a:p>
          <a:p xmlns:a="http://schemas.openxmlformats.org/drawingml/2006/main">
            <a:r>
              <a:t>- 用户提供原PPT第2页，仅作为内容反例；本页未继承其母版、版式或坐标。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专业房子图与其边界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用户提供讨论稿，P038-P043及表4。</a:t>
            </a:r>
          </a:p>
          <a:p xmlns:a="http://schemas.openxmlformats.org/drawingml/2006/main">
            <a:r>
              <a:t>- 用户要求房子图必须专业；本图作为能力地图被承认，而非被 caricature 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传统多层杜邦树及其能力边界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用户提供讨论稿，P055-P060。</a:t>
            </a:r>
          </a:p>
          <a:p xmlns:a="http://schemas.openxmlformats.org/drawingml/2006/main">
            <a:r>
              <a:t>- 杜邦恒等式为通用财务分析框架；本页不使用任何企业真实数据。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查询与调查之间的方法鸿沟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用户提供讨论稿，P046-P051及表6-8。</a:t>
            </a:r>
          </a:p>
          <a:p xmlns:a="http://schemas.openxmlformats.org/drawingml/2006/main">
            <a:r>
              <a:t>- 措辞区分技术能力边界与误导性承诺，不指向任何具体个人或企业。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静态语义层与不可让渡的责任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用户提供讨论稿，P064-P068、P100-P102。</a:t>
            </a:r>
          </a:p>
          <a:p xmlns:a="http://schemas.openxmlformats.org/drawingml/2006/main">
            <a:r>
              <a:t>- 用户明确要求说明人不能将责任和思考让渡于模型。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反馈定位与受控演化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用户提供讨论稿，P071-P077及表13-14。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企业认知系统的运行结构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用户提供讨论稿，P089-P096及表17-19。</a:t>
            </a:r>
          </a:p>
          <a:p xmlns:a="http://schemas.openxmlformats.org/drawingml/2006/main">
            <a:r>
              <a:t>- 六层被重构为运行闭环与宪法底座，避免再次画成静态房子。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最小闭环试点与评价体系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用户提供讨论稿，P103-P113及表20。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三角方法论的最终综合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用户提供讨论稿，P080-P086、P114-P118及表15-16。</a:t>
            </a:r>
          </a:p>
          <a:p xmlns:a="http://schemas.openxmlformats.org/drawingml/2006/main">
            <a:r>
              <a:t>- 历史制度仅被抽象为组织机制，不对历史政治制度作评价。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收束：可被证据挑战的企业智能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用户提供讨论稿，P114-P118及最终结论。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9dc86f5094f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105445b02a46b3" /><Relationship Type="http://schemas.openxmlformats.org/officeDocument/2006/relationships/slideLayout" Target="/ppt/slideLayouts/slideLayout1.xml" Id="Rb2fa6059450047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fa6059450047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layz Neutral 0.3.0">
      <a:dk1>
        <a:srgbClr val="000000"/>
      </a:dk1>
      <a:lt1>
        <a:srgbClr val="FFFFFF"/>
      </a:lt1>
      <a:dk2>
        <a:srgbClr val="171A2B"/>
      </a:dk2>
      <a:lt2>
        <a:srgbClr val="D8DCE8"/>
      </a:lt2>
      <a:accent1>
        <a:srgbClr val="5B5BD6"/>
      </a:accent1>
      <a:accent2>
        <a:srgbClr val="14866D"/>
      </a:accent2>
      <a:accent3>
        <a:srgbClr val="B7791F"/>
      </a:accent3>
      <a:accent4>
        <a:srgbClr val="C24156"/>
      </a:accent4>
      <a:accent5>
        <a:srgbClr val="8367C7"/>
      </a:accent5>
      <a:accent6>
        <a:srgbClr val="2B6F8A"/>
      </a:accent6>
      <a:hlink>
        <a:srgbClr val="5B5BD6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yz Neutral 0.3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616b8a58c4fc0" /><Relationship Type="http://schemas.openxmlformats.org/officeDocument/2006/relationships/notesSlide" Target="/ppt/notesSlides/notesSlide1.xml" Id="R83d844856d7d49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0461202f6464b" /><Relationship Type="http://schemas.openxmlformats.org/officeDocument/2006/relationships/notesSlide" Target="/ppt/notesSlides/notesSlide2.xml" Id="R17175b90b32742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22620882f4f8c" /><Relationship Type="http://schemas.openxmlformats.org/officeDocument/2006/relationships/notesSlide" Target="/ppt/notesSlides/notesSlide3.xml" Id="R55b6ef7d92214c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edda4e2ef410a" /><Relationship Type="http://schemas.openxmlformats.org/officeDocument/2006/relationships/notesSlide" Target="/ppt/notesSlides/notesSlide4.xml" Id="Rb4360ad8efc84b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4abb976e1459f" /><Relationship Type="http://schemas.openxmlformats.org/officeDocument/2006/relationships/notesSlide" Target="/ppt/notesSlides/notesSlide5.xml" Id="R9ee0e631c9a24d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09c412008486e" /><Relationship Type="http://schemas.openxmlformats.org/officeDocument/2006/relationships/notesSlide" Target="/ppt/notesSlides/notesSlide6.xml" Id="R1d6b583a08f541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1c5ad885247c2" /><Relationship Type="http://schemas.openxmlformats.org/officeDocument/2006/relationships/notesSlide" Target="/ppt/notesSlides/notesSlide7.xml" Id="R24977dd144cb4b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6b20d011b4edc" /><Relationship Type="http://schemas.openxmlformats.org/officeDocument/2006/relationships/notesSlide" Target="/ppt/notesSlides/notesSlide8.xml" Id="R19e37d7f8e6047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90483007e45b6" /><Relationship Type="http://schemas.openxmlformats.org/officeDocument/2006/relationships/notesSlide" Target="/ppt/notesSlides/notesSlide9.xml" Id="R9e987ec187314a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66e2b5fba4316" /><Relationship Type="http://schemas.openxmlformats.org/officeDocument/2006/relationships/notesSlide" Target="/ppt/notesSlides/notesSlide10.xml" Id="R199eefaa9d7c4b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7be24bb384d10" /><Relationship Type="http://schemas.openxmlformats.org/officeDocument/2006/relationships/notesSlide" Target="/ppt/notesSlides/notesSlide11.xml" Id="Rbf931c992f8945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DA657-437D-494A-AC4E-B6E3D53C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PY::S01-C01">
            <a:extLst xmlns:a="http://schemas.openxmlformats.org/drawingml/2006/main">
              <a:ext uri="{FF2B5EF4-FFF2-40B4-BE49-F238E27FC236}">
                <a16:creationId xmlns:a16="http://schemas.microsoft.com/office/drawing/2014/main" id="{A1C124B0-E3D6-42D8-B6A9-1310614A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rPr>
              <a:t>V0.3.0 · 建议性材料 · 重生成</a:t>
            </a:r>
          </a:p>
        </p:txBody>
      </p:sp>
      <p:sp>
        <p:nvSpPr>
          <p:cNvPr id="3" name="COPY::S01-C02">
            <a:extLst xmlns:a="http://schemas.openxmlformats.org/drawingml/2006/main">
              <a:ext uri="{FF2B5EF4-FFF2-40B4-BE49-F238E27FC236}">
                <a16:creationId xmlns:a16="http://schemas.microsoft.com/office/drawing/2014/main" id="{187CB12F-391D-4057-AA0C-6A049223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876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ChatBI 到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企业认知系统</a:t>
            </a:r>
          </a:p>
        </p:txBody>
      </p:sp>
      <p:sp>
        <p:nvSpPr>
          <p:cNvPr id="4" name="COPY::S01-C03">
            <a:extLst xmlns:a="http://schemas.openxmlformats.org/drawingml/2006/main">
              <a:ext uri="{FF2B5EF4-FFF2-40B4-BE49-F238E27FC236}">
                <a16:creationId xmlns:a16="http://schemas.microsoft.com/office/drawing/2014/main" id="{EDC616C6-5026-4160-B4F7-4B55A458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0">
                <a:solidFill>
                  <a:srgbClr val="D6D7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D6D7E4"/>
                </a:solidFill>
                <a:latin typeface="Microsoft YaHei"/>
                <a:ea typeface="Microsoft YaHei"/>
                <a:cs typeface="Microsoft YaHei"/>
              </a:rPr>
              <a:t>别再把会查指标的聊天界面，误当成会认识现实的企业智能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6855C-4506-4BAE-82CB-7C6B7823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323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5B5BD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11FFF-88F3-4516-BE98-4632B9BF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rPr>
              <a:t>核心命题</a:t>
            </a:r>
          </a:p>
        </p:txBody>
      </p:sp>
      <p:sp>
        <p:nvSpPr>
          <p:cNvPr id="7" name="COPY::S01-C04">
            <a:extLst xmlns:a="http://schemas.openxmlformats.org/drawingml/2006/main">
              <a:ext uri="{FF2B5EF4-FFF2-40B4-BE49-F238E27FC236}">
                <a16:creationId xmlns:a16="http://schemas.microsoft.com/office/drawing/2014/main" id="{98F46898-A96C-488E-9A0E-38C13223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企业需要的不是更聪明的问答，而是可追溯、可挑战、可调查、会修正的认识机制。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F812B-E87C-4F7B-938B-959E6451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674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FA2B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FA2B7"/>
                </a:solidFill>
                <a:latin typeface="Microsoft YaHei"/>
                <a:ea typeface="Microsoft YaHei"/>
                <a:cs typeface="Microsoft YaHei"/>
              </a:rPr>
              <a:t>正文 9 页｜2026.08.22</a:t>
            </a:r>
          </a:p>
        </p:txBody>
      </p:sp>
    </p:spTree>
    <p:extLst>
      <p:ext uri="{BB962C8B-B14F-4D97-AF65-F5344CB8AC3E}">
        <p14:creationId xmlns:p14="http://schemas.microsoft.com/office/powerpoint/2010/main" val="8765740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CHROME::S02::SECTION">
            <a:extLst xmlns:a="http://schemas.openxmlformats.org/drawingml/2006/main">
              <a:ext uri="{FF2B5EF4-FFF2-40B4-BE49-F238E27FC236}">
                <a16:creationId xmlns:a16="http://schemas.microsoft.com/office/drawing/2014/main" id="{5C5FC169-807A-4FD1-92DC-0E5DE07D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总论｜四条误入歧途</a:t>
            </a:r>
          </a:p>
        </p:txBody>
      </p:sp>
      <p:sp>
        <p:nvSpPr>
          <p:cNvPr id="2" name="COPY::S02-C01">
            <a:extLst xmlns:a="http://schemas.openxmlformats.org/drawingml/2006/main">
              <a:ext uri="{FF2B5EF4-FFF2-40B4-BE49-F238E27FC236}">
                <a16:creationId xmlns:a16="http://schemas.microsoft.com/office/drawing/2014/main" id="{200471D4-4608-4865-AFBA-7F9DB1E5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四条“正确道路”，共同把企业带离现实</a:t>
            </a:r>
          </a:p>
        </p:txBody>
      </p:sp>
      <p:sp>
        <p:nvSpPr>
          <p:cNvPr id="3" name="COPY::S02-C02">
            <a:extLst xmlns:a="http://schemas.openxmlformats.org/drawingml/2006/main">
              <a:ext uri="{FF2B5EF4-FFF2-40B4-BE49-F238E27FC236}">
                <a16:creationId xmlns:a16="http://schemas.microsoft.com/office/drawing/2014/main" id="{BC180936-23DD-42A2-A21C-2E1FCE8B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它们分别优化摆放、分解、查询与编码，却都没有建立持续认识和修正现实的机制。</a:t>
            </a:r>
          </a:p>
        </p:txBody>
      </p:sp>
      <p:sp>
        <p:nvSpPr>
          <p:cNvPr id="4" name="CHROME::S02::RULE">
            <a:extLst xmlns:a="http://schemas.openxmlformats.org/drawingml/2006/main">
              <a:ext uri="{FF2B5EF4-FFF2-40B4-BE49-F238E27FC236}">
                <a16:creationId xmlns:a16="http://schemas.microsoft.com/office/drawing/2014/main" id="{7DE33B5E-1724-427F-88B2-AD34E551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5" name="CHROME::S02::PAGE">
            <a:extLst xmlns:a="http://schemas.openxmlformats.org/drawingml/2006/main">
              <a:ext uri="{FF2B5EF4-FFF2-40B4-BE49-F238E27FC236}">
                <a16:creationId xmlns:a16="http://schemas.microsoft.com/office/drawing/2014/main" id="{49C7E078-2FEC-4EFF-92C5-0A1C0BBE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D38868-3C54-4EED-8E7C-548ACCED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DC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92ADC9-2F9F-4389-BB53-5CC4A3CA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528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241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EB092-AEB8-4E05-A18A-27F1388C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528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241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F8713-4B21-4DE6-817D-5BE0B7C4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3528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241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0FB4A-C742-4138-8494-83844487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35280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241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EDCB5D-7E37-463A-9F68-76BDBAE3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80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D8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D8DC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8F1CC-5982-4F1A-9EB9-DC095013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房子图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FD5033-11E3-440E-A858-40BEA84B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把能力摆整齐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5E714-2A10-46F6-ADA7-A51B3A8B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2420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AFC47-1B6E-4F0C-AB12-A82FB766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关系与责任缺席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E3E5A-B456-4044-B0F9-005F492E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76400"/>
            <a:ext cx="80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D8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D8DCE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0393F1-091C-44B0-A1B9-A4B037E2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09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杜邦/指标树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41AC1-3F0A-4085-9E7E-5115CFA1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把目标拆到底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54D3BD-D795-486D-9DA4-2CA7B27A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9FFEEA-C4F5-4981-8DAD-5C7DB6F7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90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多因多果被压平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D5791A-C4A3-49D1-97BB-426C19F0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76400"/>
            <a:ext cx="80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D8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D8DCE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83C824-B6C7-43D6-B3EF-5B8AE09D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指标问答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35EA48-20BF-4BE2-8997-7B28E742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把查询做准确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6931DB-90B2-44B0-994A-B6940B284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2420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84D21-0106-49BC-B71D-CC8EBF0F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90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调查方法仍缺失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F1F8E-A5D1-4EE3-9B00-4DC4A645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80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D8DC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D8DCE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3835D7-60BC-4141-A179-5E0F5337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098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静态语义层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1E8395-85EC-475D-8C53-2BE22195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把意义写进配置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834A8-E344-49E8-A667-C05DF593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124200"/>
            <a:ext cx="70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3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614B6C-ECE4-45E0-B2E0-87528AA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90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反馈演化仍缺失</a:t>
            </a:r>
          </a:p>
        </p:txBody>
      </p:sp>
      <p:sp>
        <p:nvSpPr>
          <p:cNvPr id="31" name="COPY::S02-C20">
            <a:extLst xmlns:a="http://schemas.openxmlformats.org/drawingml/2006/main">
              <a:ext uri="{FF2B5EF4-FFF2-40B4-BE49-F238E27FC236}">
                <a16:creationId xmlns:a16="http://schemas.microsoft.com/office/drawing/2014/main" id="{69C4A1A7-ECFE-4B11-A79E-058B6799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24350"/>
            <a:ext cx="4762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C241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共同终点：静态系统</a:t>
            </a:r>
          </a:p>
        </p:txBody>
      </p:sp>
      <p:sp>
        <p:nvSpPr>
          <p:cNvPr id="32" name="COPY::S02-C21">
            <a:extLst xmlns:a="http://schemas.openxmlformats.org/drawingml/2006/main">
              <a:ext uri="{FF2B5EF4-FFF2-40B4-BE49-F238E27FC236}">
                <a16:creationId xmlns:a16="http://schemas.microsoft.com/office/drawing/2014/main" id="{7EDA27D7-8892-4572-9A13-A98D3476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24450"/>
            <a:ext cx="948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它看得见已有配置，却不知道现实发生了什么；能返回答案，却说不清为什么相信、谁来裁决、什么证据足以推翻。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4D9AB0-692F-4770-8358-01E09B90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62650"/>
            <a:ext cx="510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技术栈完整 ≠ 企业认识能力完整</a:t>
            </a:r>
          </a:p>
        </p:txBody>
      </p:sp>
    </p:spTree>
    <p:extLst>
      <p:ext uri="{BB962C8B-B14F-4D97-AF65-F5344CB8AC3E}">
        <p14:creationId xmlns:p14="http://schemas.microsoft.com/office/powerpoint/2010/main" val="11685919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CHROME::S03::SECTION">
            <a:extLst xmlns:a="http://schemas.openxmlformats.org/drawingml/2006/main">
              <a:ext uri="{FF2B5EF4-FFF2-40B4-BE49-F238E27FC236}">
                <a16:creationId xmlns:a16="http://schemas.microsoft.com/office/drawing/2014/main" id="{3702546C-A024-4E51-89A5-1836CE17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误区一｜房子图</a:t>
            </a:r>
          </a:p>
        </p:txBody>
      </p:sp>
      <p:sp>
        <p:nvSpPr>
          <p:cNvPr id="2" name="COPY::S03-C01">
            <a:extLst xmlns:a="http://schemas.openxmlformats.org/drawingml/2006/main">
              <a:ext uri="{FF2B5EF4-FFF2-40B4-BE49-F238E27FC236}">
                <a16:creationId xmlns:a16="http://schemas.microsoft.com/office/drawing/2014/main" id="{CDBAEC03-0C9E-423D-AB92-450A67B7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房子图回答“有什么”，却回答不了“为什么相信”</a:t>
            </a:r>
          </a:p>
        </p:txBody>
      </p:sp>
      <p:sp>
        <p:nvSpPr>
          <p:cNvPr id="3" name="COPY::S03-C02">
            <a:extLst xmlns:a="http://schemas.openxmlformats.org/drawingml/2006/main">
              <a:ext uri="{FF2B5EF4-FFF2-40B4-BE49-F238E27FC236}">
                <a16:creationId xmlns:a16="http://schemas.microsoft.com/office/drawing/2014/main" id="{9F75E4D0-BF44-4327-9DD7-77250AF3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专业的能力地图可以规划建设，但如果缺少对象关系、证据、责任和修订机制，它仍不是认知架构。</a:t>
            </a:r>
          </a:p>
        </p:txBody>
      </p:sp>
      <p:sp>
        <p:nvSpPr>
          <p:cNvPr id="4" name="CHROME::S03::RULE">
            <a:extLst xmlns:a="http://schemas.openxmlformats.org/drawingml/2006/main">
              <a:ext uri="{FF2B5EF4-FFF2-40B4-BE49-F238E27FC236}">
                <a16:creationId xmlns:a16="http://schemas.microsoft.com/office/drawing/2014/main" id="{60D97B0D-5FD4-4BD5-9C8C-2B799306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5" name="CHROME::S03::PAGE">
            <a:extLst xmlns:a="http://schemas.openxmlformats.org/drawingml/2006/main">
              <a:ext uri="{FF2B5EF4-FFF2-40B4-BE49-F238E27FC236}">
                <a16:creationId xmlns:a16="http://schemas.microsoft.com/office/drawing/2014/main" id="{33374A48-085C-4662-833B-7C2A722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765D8-72A6-4495-B034-F482F179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0200"/>
            <a:ext cx="5638800" cy="590550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1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8C301-1643-4673-986A-E6CB26B5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72402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企业数据智能架构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2B3E8-69B4-42C2-9546-1D2FE0BF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04850" cy="35242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0653F-4479-4E8C-9351-5D5C1FB7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514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标准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281F0-E478-4AB0-A0E1-46B8E1A0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52650"/>
            <a:ext cx="704850" cy="35242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BE4B7-F0B5-495A-934C-CA1EA763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43200"/>
            <a:ext cx="5143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元数据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6C54F-3B9D-45D4-B3A9-21E23312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66950"/>
            <a:ext cx="51816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1EC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BC986-F7ED-486A-A6A5-79191287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526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经营应用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278DFE-6283-4B6F-910B-E40CD799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622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驾驶舱 · 经营分析 · 营销 · 风控 · 运营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4B9CB-69BF-41E1-BD90-CD280E30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33700"/>
            <a:ext cx="51816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8E8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789D7-3B95-483E-B7F6-D6F6703B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0194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智能服务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D4DF0-6B39-4F2E-B5BA-FFF29125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289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指标问答 · 归因 · 预测 · 建议 ·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470829-AC02-41EB-94A9-D29C69BF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0450"/>
            <a:ext cx="51816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2D99C1-9289-4B08-825E-50806EE0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6861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语义与知识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C8C29E-BEA0-40C6-A79E-A7CB51A0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957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对象 · 指标 · 维度 · 口径 · 标签 · 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330C1C-C090-4538-8C16-60D9EEDB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51816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EF1F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05990B-932C-461F-8202-12640EBB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3529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数据与计算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1FAC59-FE41-4729-B580-FDF8C081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6245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湖仓 · 模型 · 实时 · 批处理 · 查询引擎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D6EAB-8F48-474A-8C55-CF4C5E9F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33950"/>
            <a:ext cx="51816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4E7E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B399C6-FD64-4012-A42D-AE81F148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196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基础设施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8C550-5031-4752-A165-64645932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29200"/>
            <a:ext cx="3371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云 · 算力 · 网络 · 存储 · 大模型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54E42A-46ED-44C7-A868-43449D87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72150"/>
            <a:ext cx="575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A967F5-D7CA-44EE-8DA5-300CFE85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19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这是一张专业的能力建设地图——但不是会运行、会纠错的认识系统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333952-E5E7-4833-A718-BB6DE2D7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764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房子里仍然没有答案的 6 个问题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997DF4-7336-4AAB-88D6-59C519F6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114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01A9B0-0FB7-4373-84F3-3F80838D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对象身份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B566B8-1D24-4E1C-BDBD-C729298A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145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同一客户、产品、组织到底是谁？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17013A-9AC9-4199-B2CD-03053B29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09850"/>
            <a:ext cx="379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BA8E1F-AE4B-4EF8-8416-75F01F7A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432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DA6226-AE8C-4756-AEFF-7451621F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情境选择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DF111E-1437-4F2D-AD6A-DC7C69F7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4320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同一指标为何在不同决策中含义不同？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9D98C3-DC12-4FFF-9CEB-D6B378E6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38500"/>
            <a:ext cx="379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BC03F9-CFA9-449B-BEA5-B470178C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718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CB6DB0-1CA8-408B-B9F4-8B916564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718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冲突裁决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725C09-D5C3-4122-9B58-EAAC254B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718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口径与证据冲突，由谁决定？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5C9FE7-763B-4B64-B6A7-93927AFE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67150"/>
            <a:ext cx="379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E473F0-08F4-4100-BA84-7313F1BB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005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D44377-D136-4002-A739-535FB3C5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证据版本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AB1D00-0FE0-4317-8E25-F449675F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为什么相信；何时成立；如何回溯？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530AA3-443C-46C4-8AB7-99F2C469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95800"/>
            <a:ext cx="379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7EF5CF-06FF-4ADB-B5ED-F6FAC390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291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A298FC-4473-433F-8AF5-B218E19C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C6166C-BF42-4798-861C-003E242D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谁定义、谁批准、谁承担后果？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D6E86A3-A1CE-48DF-B367-3C21E0A4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124450"/>
            <a:ext cx="379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741694-625A-4A46-B75C-C9D9B5CF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57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60870B-52C9-4E80-98A7-41BDECBA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2578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反馈修订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F5AA6F-C70F-4479-AC90-4382F01C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57800"/>
            <a:ext cx="2228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错误如何归因、发布、复用并防复发？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71CE9C-9F6B-407F-8720-94B835E6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53100"/>
            <a:ext cx="3790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74AD8F-4206-4CF8-9F67-C66537AF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10275"/>
            <a:ext cx="384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Layer Architecture ≠ Relationship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44238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CHROME::S04::SECTION">
            <a:extLst xmlns:a="http://schemas.openxmlformats.org/drawingml/2006/main">
              <a:ext uri="{FF2B5EF4-FFF2-40B4-BE49-F238E27FC236}">
                <a16:creationId xmlns:a16="http://schemas.microsoft.com/office/drawing/2014/main" id="{711E291D-DBB8-40C6-8C26-4802C035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误区二｜指标树</a:t>
            </a:r>
          </a:p>
        </p:txBody>
      </p:sp>
      <p:sp>
        <p:nvSpPr>
          <p:cNvPr id="2" name="COPY::S04-C01">
            <a:extLst xmlns:a="http://schemas.openxmlformats.org/drawingml/2006/main">
              <a:ext uri="{FF2B5EF4-FFF2-40B4-BE49-F238E27FC236}">
                <a16:creationId xmlns:a16="http://schemas.microsoft.com/office/drawing/2014/main" id="{EDBAEA3E-4725-4064-A3EF-83E17FC8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多层杜邦树能对齐目标，却不能替代经营调查</a:t>
            </a:r>
          </a:p>
        </p:txBody>
      </p:sp>
      <p:sp>
        <p:nvSpPr>
          <p:cNvPr id="3" name="COPY::S04-C02">
            <a:extLst xmlns:a="http://schemas.openxmlformats.org/drawingml/2006/main">
              <a:ext uri="{FF2B5EF4-FFF2-40B4-BE49-F238E27FC236}">
                <a16:creationId xmlns:a16="http://schemas.microsoft.com/office/drawing/2014/main" id="{0507D224-B698-4A9C-8E08-AC2A6AA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传统杜邦分解清楚表达“目标—财务驱动—经营构成”，它的边界是：恒等式不等于因果解释。</a:t>
            </a:r>
          </a:p>
        </p:txBody>
      </p:sp>
      <p:sp>
        <p:nvSpPr>
          <p:cNvPr id="4" name="CHROME::S04::RULE">
            <a:extLst xmlns:a="http://schemas.openxmlformats.org/drawingml/2006/main">
              <a:ext uri="{FF2B5EF4-FFF2-40B4-BE49-F238E27FC236}">
                <a16:creationId xmlns:a16="http://schemas.microsoft.com/office/drawing/2014/main" id="{73A3E09B-D9DB-4D84-99BA-E351234F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5" name="CHROME::S04::PAGE">
            <a:extLst xmlns:a="http://schemas.openxmlformats.org/drawingml/2006/main">
              <a:ext uri="{FF2B5EF4-FFF2-40B4-BE49-F238E27FC236}">
                <a16:creationId xmlns:a16="http://schemas.microsoft.com/office/drawing/2014/main" id="{D79DECFB-74C3-49D7-BD42-E990A9AA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DUPONT::EDGE-1">
            <a:extLst xmlns:a="http://schemas.openxmlformats.org/drawingml/2006/main">
              <a:ext uri="{FF2B5EF4-FFF2-40B4-BE49-F238E27FC236}">
                <a16:creationId xmlns:a16="http://schemas.microsoft.com/office/drawing/2014/main" id="{DB1D2D64-8F9A-4DF3-AACC-F7789298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619500" y="2038350"/>
            <a:ext cx="247650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5BD6"/>
            </a:solidFill>
            <a:prstDash val="solid"/>
          </a:ln>
        </p:spPr>
      </p:sp>
      <p:sp>
        <p:nvSpPr>
          <p:cNvPr id="7" name="DUPONT::EDGE-2">
            <a:extLst xmlns:a="http://schemas.openxmlformats.org/drawingml/2006/main">
              <a:ext uri="{FF2B5EF4-FFF2-40B4-BE49-F238E27FC236}">
                <a16:creationId xmlns:a16="http://schemas.microsoft.com/office/drawing/2014/main" id="{25442D5A-782D-4CA2-9331-F585EE16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09550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5BD6"/>
            </a:solidFill>
            <a:prstDash val="solid"/>
          </a:ln>
        </p:spPr>
      </p:sp>
      <p:sp>
        <p:nvSpPr>
          <p:cNvPr id="8" name="DUPONT::EDGE-3">
            <a:extLst xmlns:a="http://schemas.openxmlformats.org/drawingml/2006/main">
              <a:ext uri="{FF2B5EF4-FFF2-40B4-BE49-F238E27FC236}">
                <a16:creationId xmlns:a16="http://schemas.microsoft.com/office/drawing/2014/main" id="{6725B813-DEE9-451D-9F6D-3DB8158E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000250" y="2971800"/>
            <a:ext cx="161925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5BD6"/>
            </a:solidFill>
            <a:prstDash val="solid"/>
          </a:ln>
        </p:spPr>
      </p:sp>
      <p:sp>
        <p:nvSpPr>
          <p:cNvPr id="9" name="DUPONT::EDGE-4">
            <a:extLst xmlns:a="http://schemas.openxmlformats.org/drawingml/2006/main">
              <a:ext uri="{FF2B5EF4-FFF2-40B4-BE49-F238E27FC236}">
                <a16:creationId xmlns:a16="http://schemas.microsoft.com/office/drawing/2014/main" id="{1226F75B-0CE0-4BAF-90CF-F3ECA2BA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71800"/>
            <a:ext cx="133350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5BD6"/>
            </a:solidFill>
            <a:prstDash val="solid"/>
          </a:ln>
        </p:spPr>
      </p:sp>
      <p:sp>
        <p:nvSpPr>
          <p:cNvPr id="10" name="DUPONT::EDGE-5">
            <a:extLst xmlns:a="http://schemas.openxmlformats.org/drawingml/2006/main">
              <a:ext uri="{FF2B5EF4-FFF2-40B4-BE49-F238E27FC236}">
                <a16:creationId xmlns:a16="http://schemas.microsoft.com/office/drawing/2014/main" id="{D2E54BEF-4FCC-4BD2-B126-D6A44348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B5BD6"/>
            </a:solidFill>
            <a:prstDash val="solid"/>
          </a:ln>
        </p:spPr>
      </p:sp>
      <p:sp>
        <p:nvSpPr>
          <p:cNvPr id="11" name="DUPONT::EDGE-6">
            <a:extLst xmlns:a="http://schemas.openxmlformats.org/drawingml/2006/main">
              <a:ext uri="{FF2B5EF4-FFF2-40B4-BE49-F238E27FC236}">
                <a16:creationId xmlns:a16="http://schemas.microsoft.com/office/drawing/2014/main" id="{129C3C2F-B001-41BD-9EF0-C79119AD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43000" y="3905250"/>
            <a:ext cx="85725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CE8"/>
            </a:solidFill>
            <a:prstDash val="solid"/>
          </a:ln>
        </p:spPr>
      </p:sp>
      <p:sp>
        <p:nvSpPr>
          <p:cNvPr id="12" name="DUPONT::EDGE-7">
            <a:extLst xmlns:a="http://schemas.openxmlformats.org/drawingml/2006/main">
              <a:ext uri="{FF2B5EF4-FFF2-40B4-BE49-F238E27FC236}">
                <a16:creationId xmlns:a16="http://schemas.microsoft.com/office/drawing/2014/main" id="{82E4CB7E-2223-409B-ACDB-3E13904C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05250"/>
            <a:ext cx="85725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CE8"/>
            </a:solidFill>
            <a:prstDash val="solid"/>
          </a:ln>
        </p:spPr>
      </p:sp>
      <p:sp>
        <p:nvSpPr>
          <p:cNvPr id="13" name="DUPONT::EDGE-8">
            <a:extLst xmlns:a="http://schemas.openxmlformats.org/drawingml/2006/main">
              <a:ext uri="{FF2B5EF4-FFF2-40B4-BE49-F238E27FC236}">
                <a16:creationId xmlns:a16="http://schemas.microsoft.com/office/drawing/2014/main" id="{FA38EE80-4290-446C-B591-BC4BD9B5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381500" y="3905250"/>
            <a:ext cx="57150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CE8"/>
            </a:solidFill>
            <a:prstDash val="solid"/>
          </a:ln>
        </p:spPr>
      </p:sp>
      <p:sp>
        <p:nvSpPr>
          <p:cNvPr id="14" name="DUPONT::EDGE-9">
            <a:extLst xmlns:a="http://schemas.openxmlformats.org/drawingml/2006/main">
              <a:ext uri="{FF2B5EF4-FFF2-40B4-BE49-F238E27FC236}">
                <a16:creationId xmlns:a16="http://schemas.microsoft.com/office/drawing/2014/main" id="{08385AFF-5A69-44E0-BAD2-A5419F3B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57150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CE8"/>
            </a:solidFill>
            <a:prstDash val="solid"/>
          </a:ln>
        </p:spPr>
      </p:sp>
      <p:sp>
        <p:nvSpPr>
          <p:cNvPr id="15" name="DUPONT::EDGE-10">
            <a:extLst xmlns:a="http://schemas.openxmlformats.org/drawingml/2006/main">
              <a:ext uri="{FF2B5EF4-FFF2-40B4-BE49-F238E27FC236}">
                <a16:creationId xmlns:a16="http://schemas.microsoft.com/office/drawing/2014/main" id="{709B4664-765F-43B4-835B-6A25C6D3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239000" y="3905250"/>
            <a:ext cx="95250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CE8"/>
            </a:solidFill>
            <a:prstDash val="solid"/>
          </a:ln>
        </p:spPr>
      </p:sp>
      <p:sp>
        <p:nvSpPr>
          <p:cNvPr id="16" name="DUPONT::EDGE-11">
            <a:extLst xmlns:a="http://schemas.openxmlformats.org/drawingml/2006/main">
              <a:ext uri="{FF2B5EF4-FFF2-40B4-BE49-F238E27FC236}">
                <a16:creationId xmlns:a16="http://schemas.microsoft.com/office/drawing/2014/main" id="{813FFA6D-77DE-46B4-B233-130CE58A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95250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CE8"/>
            </a:solidFill>
            <a:prstDash val="solid"/>
          </a:ln>
        </p:spPr>
      </p:sp>
      <p:sp>
        <p:nvSpPr>
          <p:cNvPr id="17" name="DUPONT::EDGE-12">
            <a:extLst xmlns:a="http://schemas.openxmlformats.org/drawingml/2006/main">
              <a:ext uri="{FF2B5EF4-FFF2-40B4-BE49-F238E27FC236}">
                <a16:creationId xmlns:a16="http://schemas.microsoft.com/office/drawing/2014/main" id="{E0328943-ED3A-44E1-877A-D86CA7AD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62000" y="4838700"/>
            <a:ext cx="38100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CE8"/>
            </a:solidFill>
            <a:prstDash val="solid"/>
          </a:ln>
        </p:spPr>
      </p:sp>
      <p:sp>
        <p:nvSpPr>
          <p:cNvPr id="18" name="DUPONT::EDGE-13">
            <a:extLst xmlns:a="http://schemas.openxmlformats.org/drawingml/2006/main">
              <a:ext uri="{FF2B5EF4-FFF2-40B4-BE49-F238E27FC236}">
                <a16:creationId xmlns:a16="http://schemas.microsoft.com/office/drawing/2014/main" id="{3162F89A-0BA6-4433-8C90-7F396947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428625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CE8"/>
            </a:solidFill>
            <a:prstDash val="solid"/>
          </a:ln>
        </p:spPr>
      </p:sp>
      <p:sp>
        <p:nvSpPr>
          <p:cNvPr id="19" name="DUPONT::EDGE-14">
            <a:extLst xmlns:a="http://schemas.openxmlformats.org/drawingml/2006/main">
              <a:ext uri="{FF2B5EF4-FFF2-40B4-BE49-F238E27FC236}">
                <a16:creationId xmlns:a16="http://schemas.microsoft.com/office/drawing/2014/main" id="{6D23FE86-D091-4779-BCA5-019E9B8A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762750" y="4838700"/>
            <a:ext cx="476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CE8"/>
            </a:solidFill>
            <a:prstDash val="solid"/>
          </a:ln>
        </p:spPr>
      </p:sp>
      <p:sp>
        <p:nvSpPr>
          <p:cNvPr id="20" name="DUPONT::EDGE-15">
            <a:extLst xmlns:a="http://schemas.openxmlformats.org/drawingml/2006/main">
              <a:ext uri="{FF2B5EF4-FFF2-40B4-BE49-F238E27FC236}">
                <a16:creationId xmlns:a16="http://schemas.microsoft.com/office/drawing/2014/main" id="{052F68CC-5B6E-4C17-B0CA-6838EB42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38700"/>
            <a:ext cx="4762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8DCE8"/>
            </a:solidFill>
            <a:prstDash val="solid"/>
          </a:ln>
        </p:spPr>
      </p:sp>
      <p:sp>
        <p:nvSpPr>
          <p:cNvPr id="21" name="DUPONT::ROE">
            <a:extLst xmlns:a="http://schemas.openxmlformats.org/drawingml/2006/main">
              <a:ext uri="{FF2B5EF4-FFF2-40B4-BE49-F238E27FC236}">
                <a16:creationId xmlns:a16="http://schemas.microsoft.com/office/drawing/2014/main" id="{61A8F1FE-5F35-4CB1-9706-D0052901B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43050"/>
            <a:ext cx="2286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171A2B"/>
          </a:solidFill>
          <a:ln xmlns:a="http://schemas.openxmlformats.org/drawingml/2006/main" w="12383">
            <a:solidFill>
              <a:srgbClr val="171A2B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净资产收益率 ROE</a:t>
            </a:r>
          </a:p>
        </p:txBody>
      </p:sp>
      <p:sp>
        <p:nvSpPr>
          <p:cNvPr id="22" name="DUPONT::ROA">
            <a:extLst xmlns:a="http://schemas.openxmlformats.org/drawingml/2006/main">
              <a:ext uri="{FF2B5EF4-FFF2-40B4-BE49-F238E27FC236}">
                <a16:creationId xmlns:a16="http://schemas.microsoft.com/office/drawing/2014/main" id="{02E01CFB-326B-405A-8CA2-B3FC91E3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00300"/>
            <a:ext cx="2286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8FF"/>
          </a:solidFill>
          <a:ln xmlns:a="http://schemas.openxmlformats.org/drawingml/2006/main" w="12383">
            <a:solidFill>
              <a:srgbClr val="5B5B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总资产收益率 ROA</a:t>
            </a:r>
          </a:p>
        </p:txBody>
      </p:sp>
      <p:sp>
        <p:nvSpPr>
          <p:cNvPr id="23" name="DUPONT::EM">
            <a:extLst xmlns:a="http://schemas.openxmlformats.org/drawingml/2006/main">
              <a:ext uri="{FF2B5EF4-FFF2-40B4-BE49-F238E27FC236}">
                <a16:creationId xmlns:a16="http://schemas.microsoft.com/office/drawing/2014/main" id="{465226C8-194B-4FA7-AF33-26F24D21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286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8E8FF"/>
          </a:solidFill>
          <a:ln xmlns:a="http://schemas.openxmlformats.org/drawingml/2006/main" w="12383">
            <a:solidFill>
              <a:srgbClr val="5B5B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权益乘数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95A66-8689-4D91-8E35-B84DBE40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4384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5" name="DUPONT::MARGIN">
            <a:extLst xmlns:a="http://schemas.openxmlformats.org/drawingml/2006/main">
              <a:ext uri="{FF2B5EF4-FFF2-40B4-BE49-F238E27FC236}">
                <a16:creationId xmlns:a16="http://schemas.microsoft.com/office/drawing/2014/main" id="{C3B46507-02F4-4C9C-8EB4-F72EBAC1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09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C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销售净利率</a:t>
            </a:r>
          </a:p>
        </p:txBody>
      </p:sp>
      <p:sp>
        <p:nvSpPr>
          <p:cNvPr id="26" name="DUPONT::TURNOVER">
            <a:extLst xmlns:a="http://schemas.openxmlformats.org/drawingml/2006/main">
              <a:ext uri="{FF2B5EF4-FFF2-40B4-BE49-F238E27FC236}">
                <a16:creationId xmlns:a16="http://schemas.microsoft.com/office/drawing/2014/main" id="{E017CA97-9825-4771-93C9-BFB76EFA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33750"/>
            <a:ext cx="2095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C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总资产周转率</a:t>
            </a:r>
          </a:p>
        </p:txBody>
      </p:sp>
      <p:sp>
        <p:nvSpPr>
          <p:cNvPr id="27" name="DUPONT::EM-FORMULA">
            <a:extLst xmlns:a="http://schemas.openxmlformats.org/drawingml/2006/main">
              <a:ext uri="{FF2B5EF4-FFF2-40B4-BE49-F238E27FC236}">
                <a16:creationId xmlns:a16="http://schemas.microsoft.com/office/drawing/2014/main" id="{5CA7819D-07F6-4BE5-AE8E-4FCF0DEE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33750"/>
            <a:ext cx="23812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8DC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平均总资产 ÷ 平均净资产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28A185-D8A1-4759-AFF8-23809FCC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00425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2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7AE3EE-9244-4FFB-A2C8-4A79EC42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67200"/>
            <a:ext cx="1333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383">
            <a:solidFill>
              <a:srgbClr val="D8DC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净利润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606436-9112-4185-9AB7-A718D158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1333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383">
            <a:solidFill>
              <a:srgbClr val="D8DC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营业收入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87C359-2A31-4A4C-95FC-3E75F814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67200"/>
            <a:ext cx="13335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383">
            <a:solidFill>
              <a:srgbClr val="D8DC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营业收入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913087-B945-4F9F-BDFB-ACD05EBC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67200"/>
            <a:ext cx="1524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383">
            <a:solidFill>
              <a:srgbClr val="D8DC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平均总资产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69EC3F-3569-4C52-BE67-8BB65A87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1524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383">
            <a:solidFill>
              <a:srgbClr val="D8DC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资产构成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122A92-CB11-45D0-BB6D-5EC52077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67200"/>
            <a:ext cx="15240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383">
            <a:solidFill>
              <a:srgbClr val="D8DC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资本结构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4044E9-D686-4BF8-AA03-6C91749E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529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÷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80227B-2475-42AD-9439-DF1B2E58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52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÷</a:t>
            </a:r>
          </a:p>
        </p:txBody>
      </p:sp>
      <p:sp>
        <p:nvSpPr>
          <p:cNvPr id="37" name="DUPONT::PROFIT-DRIVERS">
            <a:extLst xmlns:a="http://schemas.openxmlformats.org/drawingml/2006/main">
              <a:ext uri="{FF2B5EF4-FFF2-40B4-BE49-F238E27FC236}">
                <a16:creationId xmlns:a16="http://schemas.microsoft.com/office/drawing/2014/main" id="{34E3ADA7-BBC8-4C10-89EA-2995E2D6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5162550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2383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收入 − 成本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− 费用 − 税费</a:t>
            </a:r>
          </a:p>
        </p:txBody>
      </p:sp>
      <p:sp>
        <p:nvSpPr>
          <p:cNvPr id="38" name="DUPONT::REVENUE-DRIVERS">
            <a:extLst xmlns:a="http://schemas.openxmlformats.org/drawingml/2006/main">
              <a:ext uri="{FF2B5EF4-FFF2-40B4-BE49-F238E27FC236}">
                <a16:creationId xmlns:a16="http://schemas.microsoft.com/office/drawing/2014/main" id="{6344A8C7-6D5F-40CC-8A7A-9FEDACCF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62550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3D6"/>
          </a:solidFill>
          <a:ln xmlns:a="http://schemas.openxmlformats.org/drawingml/2006/main" w="12383">
            <a:solidFill>
              <a:srgbClr val="B7791F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价格 × 销量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× 产品组合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76A9CB-FFA9-4548-8E88-B2B22EBA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62550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383">
            <a:solidFill>
              <a:srgbClr val="D8DC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流动资产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ED5079-9486-4561-8A0D-767C742C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62550"/>
            <a:ext cx="11811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1F3F8"/>
          </a:solidFill>
          <a:ln xmlns:a="http://schemas.openxmlformats.org/drawingml/2006/main" w="12383">
            <a:solidFill>
              <a:srgbClr val="D8DCE8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非流动资产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044410-A1E1-42DB-939E-D7606BCE3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619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战略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474EAA-7A17-4F1A-B96C-C1E26A63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952625"/>
            <a:ext cx="0" cy="3076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C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EE291E-7115-4635-BD44-64121E00C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479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财务结果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AD816B-E824-44D8-BD63-6CD17643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0861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财务驱动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4648F2-6317-4F3C-877C-4C8FD38A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9243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经营构成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6DFBE8-F35D-47AC-8779-BB76A715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7625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科目/动作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205D14-6C58-4C6C-B882-271C5A64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857750"/>
            <a:ext cx="342900" cy="4000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D8DC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D6755C-554B-4E79-AF77-BF3FDB78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适合：目标对齐 · 预算分解 · 责任承接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7CDAC3-0775-4113-98A7-CD562287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953125"/>
            <a:ext cx="480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不适合：把恒等式当因果，把树当现实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791CF0-941D-4FE5-A22E-A0ACD8C3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324600"/>
            <a:ext cx="883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组织决心可以沿树向下传递；政策、市场、渠道、客户、事件和口径变化却会横向穿透整棵树。</a:t>
            </a:r>
          </a:p>
        </p:txBody>
      </p:sp>
    </p:spTree>
    <p:extLst>
      <p:ext uri="{BB962C8B-B14F-4D97-AF65-F5344CB8AC3E}">
        <p14:creationId xmlns:p14="http://schemas.microsoft.com/office/powerpoint/2010/main" val="1528574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CHROME::S05::SECTION">
            <a:extLst xmlns:a="http://schemas.openxmlformats.org/drawingml/2006/main">
              <a:ext uri="{FF2B5EF4-FFF2-40B4-BE49-F238E27FC236}">
                <a16:creationId xmlns:a16="http://schemas.microsoft.com/office/drawing/2014/main" id="{F74FE327-5722-4D2A-8B75-1DE423DD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误区三｜指标问答</a:t>
            </a:r>
          </a:p>
        </p:txBody>
      </p:sp>
      <p:sp>
        <p:nvSpPr>
          <p:cNvPr id="2" name="COPY::S05-C01">
            <a:extLst xmlns:a="http://schemas.openxmlformats.org/drawingml/2006/main">
              <a:ext uri="{FF2B5EF4-FFF2-40B4-BE49-F238E27FC236}">
                <a16:creationId xmlns:a16="http://schemas.microsoft.com/office/drawing/2014/main" id="{07B58A18-08EB-4813-AC29-5A54BC28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查得准，不等于分析得对</a:t>
            </a:r>
          </a:p>
        </p:txBody>
      </p:sp>
      <p:sp>
        <p:nvSpPr>
          <p:cNvPr id="3" name="COPY::S05-C02">
            <a:extLst xmlns:a="http://schemas.openxmlformats.org/drawingml/2006/main">
              <a:ext uri="{FF2B5EF4-FFF2-40B4-BE49-F238E27FC236}">
                <a16:creationId xmlns:a16="http://schemas.microsoft.com/office/drawing/2014/main" id="{A215D236-4B10-4D2D-80B9-07512832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把指标问答持续优化到极致，也不会自然涌现假设、调查、反证和行动闭环。</a:t>
            </a:r>
          </a:p>
        </p:txBody>
      </p:sp>
      <p:sp>
        <p:nvSpPr>
          <p:cNvPr id="4" name="CHROME::S05::RULE">
            <a:extLst xmlns:a="http://schemas.openxmlformats.org/drawingml/2006/main">
              <a:ext uri="{FF2B5EF4-FFF2-40B4-BE49-F238E27FC236}">
                <a16:creationId xmlns:a16="http://schemas.microsoft.com/office/drawing/2014/main" id="{40E031C7-5927-4136-A519-8ADFE080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5" name="CHROME::S05::PAGE">
            <a:extLst xmlns:a="http://schemas.openxmlformats.org/drawingml/2006/main">
              <a:ext uri="{FF2B5EF4-FFF2-40B4-BE49-F238E27FC236}">
                <a16:creationId xmlns:a16="http://schemas.microsoft.com/office/drawing/2014/main" id="{6058EB9A-364F-4B81-BA5C-C90F0BFD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C263F-A85D-4710-8605-D26402EE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3909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1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6927D7-DF76-494B-94D3-737EEB7F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rPr>
              <a:t>可工程化优化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5D595-1142-4833-9AC6-9551787D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 指标查询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48644-7C1F-46D7-AA76-47298782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C6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6C8D8"/>
                </a:solidFill>
                <a:latin typeface="Microsoft YaHei"/>
                <a:ea typeface="Microsoft YaHei"/>
                <a:cs typeface="Microsoft YaHei"/>
              </a:rPr>
              <a:t>是多少？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3636F-1228-46A5-B6EB-B961FD75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95650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549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8B9C03-181E-462B-9383-F204EBEF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 数据探索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27F8DB-3404-4EB2-B26B-E33BED64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C6C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C6C8D8"/>
                </a:solidFill>
                <a:latin typeface="Microsoft YaHei"/>
                <a:ea typeface="Microsoft YaHei"/>
                <a:cs typeface="Microsoft YaHei"/>
              </a:rPr>
              <a:t>哪里发生变化？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FA87D-FAFD-4AB3-8B25-D77060A1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AEB1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EB1C4"/>
                </a:solidFill>
                <a:latin typeface="Microsoft YaHei"/>
                <a:ea typeface="Microsoft YaHei"/>
                <a:cs typeface="Microsoft YaHei"/>
              </a:rPr>
              <a:t>SQL · 指标 · 维度 · 权限 · 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8F0C6-323D-45D5-9A5A-6219B7D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90700"/>
            <a:ext cx="33909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E8E8FF"/>
          </a:solidFill>
          <a:ln xmlns:a="http://schemas.openxmlformats.org/drawingml/2006/main" w="14288">
            <a:solidFill>
              <a:srgbClr val="5B5B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1BE9B-8E5D-4E76-BC57-CBB5C210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必须由认识系统承担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31F1C-241D-4FF3-9293-06C4EE51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146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L3 调查式分析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D4D60-4E39-438C-A42E-854C8EB1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为什么？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7821B-CA1F-4A0A-BE36-0B23AFE1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9565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3B1AE1-018E-4C41-9DBF-F977F49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24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L4 决策支持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D46B8-E611-411C-971F-EFA94064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05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所以怎么办？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4741FC-889C-4B18-BC0A-AC1B66A2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24350"/>
            <a:ext cx="2800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判断 · 责任 · 行动 · 结果 · 修订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196617-43AE-4E8F-BD7C-5A21CF6E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575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7E36B8-9CC8-4655-BEF5-8E904E52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57500"/>
            <a:ext cx="876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3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CE8AE4-7328-4511-9FDD-57EA2FD5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572000" y="2990850"/>
            <a:ext cx="457200" cy="438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CA13D0-C79B-4284-9F17-A58787EA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162800" y="2990850"/>
            <a:ext cx="457200" cy="438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5A95F-D801-4AB0-904F-0A0A572C6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85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不会自然进化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8AD845-B633-48DD-AC94-6534F11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0" cy="2114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2415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6F0C6B-0DCD-45AB-8235-A961EC7D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384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01  提出多个可证伪假设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92F260-275B-490D-84E2-30458BBF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622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02  规划调查路径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2D9D38-FF3A-4D4F-9B3B-43CF7DD7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861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03  寻找支持与反证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CF2A8D-53AA-4471-8C0E-148701A9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099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04  判断证据强弱与时效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F28752-3582-42D3-AF00-7EFF4670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338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05  识别未知与不可答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E9E4CE-1F43-484B-B0DA-466077FF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0576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06  连接行动、责任与复核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EB65E1-0127-468A-8CEB-3D2896D1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457700"/>
            <a:ext cx="1409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241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方法鸿沟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4F4648-6990-4246-A13A-2E113512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99% SQL 准确率只能证明“查询路径可靠”，不能证明“认识过程正确”。</a:t>
            </a:r>
          </a:p>
        </p:txBody>
      </p:sp>
      <p:sp>
        <p:nvSpPr>
          <p:cNvPr id="36" name="COPY::S05-C30">
            <a:extLst xmlns:a="http://schemas.openxmlformats.org/drawingml/2006/main">
              <a:ext uri="{FF2B5EF4-FFF2-40B4-BE49-F238E27FC236}">
                <a16:creationId xmlns:a16="http://schemas.microsoft.com/office/drawing/2014/main" id="{A2EFE47E-566E-4486-8631-3B57AF40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C241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明知鸿沟仍承诺“自然进化”为自主分析，是误导性能力包装，也会把企业引向错误投资。</a:t>
            </a:r>
          </a:p>
        </p:txBody>
      </p:sp>
    </p:spTree>
    <p:extLst>
      <p:ext uri="{BB962C8B-B14F-4D97-AF65-F5344CB8AC3E}">
        <p14:creationId xmlns:p14="http://schemas.microsoft.com/office/powerpoint/2010/main" val="1779539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CHROME::S06::SECTION">
            <a:extLst xmlns:a="http://schemas.openxmlformats.org/drawingml/2006/main">
              <a:ext uri="{FF2B5EF4-FFF2-40B4-BE49-F238E27FC236}">
                <a16:creationId xmlns:a16="http://schemas.microsoft.com/office/drawing/2014/main" id="{77A122EB-9318-4C5D-BE5D-4BA2FC91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误区四｜静态语义层</a:t>
            </a:r>
          </a:p>
        </p:txBody>
      </p:sp>
      <p:sp>
        <p:nvSpPr>
          <p:cNvPr id="2" name="COPY::S06-C01">
            <a:extLst xmlns:a="http://schemas.openxmlformats.org/drawingml/2006/main">
              <a:ext uri="{FF2B5EF4-FFF2-40B4-BE49-F238E27FC236}">
                <a16:creationId xmlns:a16="http://schemas.microsoft.com/office/drawing/2014/main" id="{E5CE71A6-8540-4F45-9522-3906375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语义层能编码意义，不能承担判断与责任</a:t>
            </a:r>
          </a:p>
        </p:txBody>
      </p:sp>
      <p:sp>
        <p:nvSpPr>
          <p:cNvPr id="3" name="COPY::S06-C02">
            <a:extLst xmlns:a="http://schemas.openxmlformats.org/drawingml/2006/main">
              <a:ext uri="{FF2B5EF4-FFF2-40B4-BE49-F238E27FC236}">
                <a16:creationId xmlns:a16="http://schemas.microsoft.com/office/drawing/2014/main" id="{C7BA9DD8-023B-4128-B123-EA96D95A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必要基础一旦被包装成充分答案，人就会把本应承担的情境判断、证据审查和风险裁决交给模型。</a:t>
            </a:r>
          </a:p>
        </p:txBody>
      </p:sp>
      <p:sp>
        <p:nvSpPr>
          <p:cNvPr id="4" name="CHROME::S06::RULE">
            <a:extLst xmlns:a="http://schemas.openxmlformats.org/drawingml/2006/main">
              <a:ext uri="{FF2B5EF4-FFF2-40B4-BE49-F238E27FC236}">
                <a16:creationId xmlns:a16="http://schemas.microsoft.com/office/drawing/2014/main" id="{6F607699-88BE-4739-ABCD-F67E7920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5" name="CHROME::S06::PAGE">
            <a:extLst xmlns:a="http://schemas.openxmlformats.org/drawingml/2006/main">
              <a:ext uri="{FF2B5EF4-FFF2-40B4-BE49-F238E27FC236}">
                <a16:creationId xmlns:a16="http://schemas.microsoft.com/office/drawing/2014/main" id="{9766A861-2077-465B-9C0C-1B8B5ECF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5E457-1B00-4ABB-9DC2-DC26D1C9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语义层能做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6DDEA-8AB3-42E9-B19B-D23A106E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定义术语与对象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91E6C-5B2E-4D2F-92D3-CE3AA836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643C9-937E-4EDF-ACC4-1A3E5574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登记指标与公式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FBDA5-5F07-4DF8-89DF-9A137C32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B4486-B109-457D-9A67-DE27F4B2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维护映射与血缘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021A0-B554-41CF-9971-381BFF1E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C25DE-464E-44F7-8D17-CF4B5027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400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约束权限与版本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830F4-40B2-4707-B945-19C1A2B4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533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FDA7F-BFDA-4A88-BA26-6DB5DF76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38350"/>
            <a:ext cx="3143250" cy="23812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E8E8FF"/>
          </a:solidFill>
          <a:ln xmlns:a="http://schemas.openxmlformats.org/drawingml/2006/main" w="19050">
            <a:solidFill>
              <a:srgbClr val="5B5B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E3568-CDB1-4E26-BE2F-ABE6AE70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22288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277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SEMANTIC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277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D33CB9-FDAB-424E-8869-6C7E76B2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052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可计算的意义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D0B5B-044F-4E15-B04B-3D170C6A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8145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必要条件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E1BB3-561E-488B-93A6-05ACB5AD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3355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41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D20854-4238-4515-980D-73C8D08A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7625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责任边界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E6CEFB-E44A-4630-B9AA-376C75CD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954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人和制度必须保留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E00B7-601F-4157-8B1D-FD5DF416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71700"/>
            <a:ext cx="819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241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D90D7-C034-47FC-B6BB-0645F971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717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此时此地应选哪个合法口径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ECC3EA-700F-446B-94AC-1EB6ADE8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6700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48514-CA15-4D89-A9A7-BBB2F1B3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819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241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7BD53-EA0F-495E-9BBE-1E4B3DCF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384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什么足以支持或推翻判断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BB516E-AE67-4363-830B-D6A223C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87F813-DA92-4102-B25A-B3919866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05200"/>
            <a:ext cx="819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241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裁决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26C639-DC3B-4A2C-8BAA-8194EC23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0520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冲突、风险与例外由谁决定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83BA88-93EE-42B2-9E81-84A8A0C0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0050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AE8CAB-5898-4173-AA1B-BBC07449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71950"/>
            <a:ext cx="8191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2415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08B21C-7B27-40AC-BFE9-DBD99A56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71950"/>
            <a:ext cx="2914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现实变化后谁批准、回滚、担责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8DA885-C308-40B2-B9E2-4FC7BCE5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6725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57DFD6-F3B9-4B5A-8351-3F7EF864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模型会放大的四类“流畅错误”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688B74-6493-45CD-BE48-E80F0FE8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过期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AC4D62-743A-4A0E-8151-FF40B76E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81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旧口径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99F7FD-4CBD-45C8-8735-4BB3A02A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5626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错境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4C9796-37B8-4222-93FE-6D989C54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581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数字对、语境错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C55222-A583-4A28-A3B7-34D5964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5626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无证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134A5B4-0AFA-49C6-AD5A-8853A2A2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81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结论无依据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F765A4-141C-4A0A-B976-378315F3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562600"/>
            <a:ext cx="72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失责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C4C982-347A-4F82-BF89-AFA8A512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816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无人批准担责</a:t>
            </a:r>
          </a:p>
        </p:txBody>
      </p:sp>
      <p:sp>
        <p:nvSpPr>
          <p:cNvPr id="43" name="COPY::S06-C30">
            <a:extLst xmlns:a="http://schemas.openxmlformats.org/drawingml/2006/main">
              <a:ext uri="{FF2B5EF4-FFF2-40B4-BE49-F238E27FC236}">
                <a16:creationId xmlns:a16="http://schemas.microsoft.com/office/drawing/2014/main" id="{6F286D97-75BD-499C-8B78-2B3A7706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1059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把思考让渡给模型，不是智能化，是治理缺位；懒惰与侥幸只能得到更快、更像真的错误。</a:t>
            </a:r>
          </a:p>
        </p:txBody>
      </p:sp>
    </p:spTree>
    <p:extLst>
      <p:ext uri="{BB962C8B-B14F-4D97-AF65-F5344CB8AC3E}">
        <p14:creationId xmlns:p14="http://schemas.microsoft.com/office/powerpoint/2010/main" val="600740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CHROME::S07::SECTION">
            <a:extLst xmlns:a="http://schemas.openxmlformats.org/drawingml/2006/main">
              <a:ext uri="{FF2B5EF4-FFF2-40B4-BE49-F238E27FC236}">
                <a16:creationId xmlns:a16="http://schemas.microsoft.com/office/drawing/2014/main" id="{3B2D6912-9C21-4AAF-9CA7-4FCBB20E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分界线｜反馈与演化</a:t>
            </a:r>
          </a:p>
        </p:txBody>
      </p:sp>
      <p:sp>
        <p:nvSpPr>
          <p:cNvPr id="2" name="COPY::S07-C01">
            <a:extLst xmlns:a="http://schemas.openxmlformats.org/drawingml/2006/main">
              <a:ext uri="{FF2B5EF4-FFF2-40B4-BE49-F238E27FC236}">
                <a16:creationId xmlns:a16="http://schemas.microsoft.com/office/drawing/2014/main" id="{230F6B11-4762-43D8-8728-223806C6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真正分界线：系统会不会因犯错而变好</a:t>
            </a:r>
          </a:p>
        </p:txBody>
      </p:sp>
      <p:sp>
        <p:nvSpPr>
          <p:cNvPr id="3" name="COPY::S07-C02">
            <a:extLst xmlns:a="http://schemas.openxmlformats.org/drawingml/2006/main">
              <a:ext uri="{FF2B5EF4-FFF2-40B4-BE49-F238E27FC236}">
                <a16:creationId xmlns:a16="http://schemas.microsoft.com/office/drawing/2014/main" id="{C3C80E11-C02E-4BA6-8EB0-1503A094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一次错误必须被定位到哪里错、为什么错、谁来修、何时生效，以及怎样让同类错误不再发生。</a:t>
            </a:r>
          </a:p>
        </p:txBody>
      </p:sp>
      <p:sp>
        <p:nvSpPr>
          <p:cNvPr id="4" name="CHROME::S07::RULE">
            <a:extLst xmlns:a="http://schemas.openxmlformats.org/drawingml/2006/main">
              <a:ext uri="{FF2B5EF4-FFF2-40B4-BE49-F238E27FC236}">
                <a16:creationId xmlns:a16="http://schemas.microsoft.com/office/drawing/2014/main" id="{6FA6AD9D-7745-4628-9FED-30A884BB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5" name="CHROME::S07::PAGE">
            <a:extLst xmlns:a="http://schemas.openxmlformats.org/drawingml/2006/main">
              <a:ext uri="{FF2B5EF4-FFF2-40B4-BE49-F238E27FC236}">
                <a16:creationId xmlns:a16="http://schemas.microsoft.com/office/drawing/2014/main" id="{56F42264-6E56-48D1-AD2A-414BBD73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LOOP::ARROW-0">
            <a:extLst xmlns:a="http://schemas.openxmlformats.org/drawingml/2006/main">
              <a:ext uri="{FF2B5EF4-FFF2-40B4-BE49-F238E27FC236}">
                <a16:creationId xmlns:a16="http://schemas.microsoft.com/office/drawing/2014/main" id="{30F084AD-2412-4AB5-9971-C153ED65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33600"/>
            <a:ext cx="2476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OOP::ARROW-1">
            <a:extLst xmlns:a="http://schemas.openxmlformats.org/drawingml/2006/main">
              <a:ext uri="{FF2B5EF4-FFF2-40B4-BE49-F238E27FC236}">
                <a16:creationId xmlns:a16="http://schemas.microsoft.com/office/drawing/2014/main" id="{D30BA576-4AA0-4085-A3ED-CEC3F4E3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33600"/>
            <a:ext cx="2476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OP::ARROW-2">
            <a:extLst xmlns:a="http://schemas.openxmlformats.org/drawingml/2006/main">
              <a:ext uri="{FF2B5EF4-FFF2-40B4-BE49-F238E27FC236}">
                <a16:creationId xmlns:a16="http://schemas.microsoft.com/office/drawing/2014/main" id="{1E84B742-C5C1-4377-BA31-8F4D31EA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2476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OOP::ARROW-3">
            <a:extLst xmlns:a="http://schemas.openxmlformats.org/drawingml/2006/main">
              <a:ext uri="{FF2B5EF4-FFF2-40B4-BE49-F238E27FC236}">
                <a16:creationId xmlns:a16="http://schemas.microsoft.com/office/drawing/2014/main" id="{3A25ECC6-FB50-49DF-B113-B44D2980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33600"/>
            <a:ext cx="2476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::ARROW-4">
            <a:extLst xmlns:a="http://schemas.openxmlformats.org/drawingml/2006/main">
              <a:ext uri="{FF2B5EF4-FFF2-40B4-BE49-F238E27FC236}">
                <a16:creationId xmlns:a16="http://schemas.microsoft.com/office/drawing/2014/main" id="{0F0BEB6D-0C99-42C2-A5AE-AA3920E8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2476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OOP::ARROW-5">
            <a:extLst xmlns:a="http://schemas.openxmlformats.org/drawingml/2006/main">
              <a:ext uri="{FF2B5EF4-FFF2-40B4-BE49-F238E27FC236}">
                <a16:creationId xmlns:a16="http://schemas.microsoft.com/office/drawing/2014/main" id="{46E6385B-1378-466F-9491-E5A8C2E3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33600"/>
            <a:ext cx="2476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OOP::ARROW-6">
            <a:extLst xmlns:a="http://schemas.openxmlformats.org/drawingml/2006/main">
              <a:ext uri="{FF2B5EF4-FFF2-40B4-BE49-F238E27FC236}">
                <a16:creationId xmlns:a16="http://schemas.microsoft.com/office/drawing/2014/main" id="{293D07D2-EF51-479B-B4CC-CD5902B0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133600"/>
            <a:ext cx="2476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525E4-D34E-48CF-9B86-5A517F4D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590800"/>
            <a:ext cx="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486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4D9424-D06F-47DB-92B5-19D06171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43000" y="3619500"/>
            <a:ext cx="9867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486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C5550-EB52-4C4E-88E0-51B066CD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43000" y="2590800"/>
            <a:ext cx="0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4866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B7C04-033C-4622-8B82-F6203CB6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OOP::NODE-1">
            <a:extLst xmlns:a="http://schemas.openxmlformats.org/drawingml/2006/main">
              <a:ext uri="{FF2B5EF4-FFF2-40B4-BE49-F238E27FC236}">
                <a16:creationId xmlns:a16="http://schemas.microsoft.com/office/drawing/2014/main" id="{333425F4-BDF8-4DF5-87B1-CABB7CAD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1049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8FF"/>
          </a:solidFill>
          <a:ln xmlns:a="http://schemas.openxmlformats.org/drawingml/2006/main" w="12383">
            <a:solidFill>
              <a:srgbClr val="5B5B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+ 情境</a:t>
            </a:r>
          </a:p>
        </p:txBody>
      </p:sp>
      <p:sp>
        <p:nvSpPr>
          <p:cNvPr id="18" name="LOOP::NODE-2">
            <a:extLst xmlns:a="http://schemas.openxmlformats.org/drawingml/2006/main">
              <a:ext uri="{FF2B5EF4-FFF2-40B4-BE49-F238E27FC236}">
                <a16:creationId xmlns:a16="http://schemas.microsoft.com/office/drawing/2014/main" id="{53F7CFC8-0A0B-4432-8DE0-62622D25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24050"/>
            <a:ext cx="11049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8FF"/>
          </a:solidFill>
          <a:ln xmlns:a="http://schemas.openxmlformats.org/drawingml/2006/main" w="12383">
            <a:solidFill>
              <a:srgbClr val="5B5B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提出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19" name="LOOP::NODE-3">
            <a:extLst xmlns:a="http://schemas.openxmlformats.org/drawingml/2006/main">
              <a:ext uri="{FF2B5EF4-FFF2-40B4-BE49-F238E27FC236}">
                <a16:creationId xmlns:a16="http://schemas.microsoft.com/office/drawing/2014/main" id="{1D39BF6B-D8D7-4E4F-93B0-F2A3DF5E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24050"/>
            <a:ext cx="11049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8FF"/>
          </a:solidFill>
          <a:ln xmlns:a="http://schemas.openxmlformats.org/drawingml/2006/main" w="12383">
            <a:solidFill>
              <a:srgbClr val="5B5B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调查</a:t>
            </a:r>
          </a:p>
        </p:txBody>
      </p:sp>
      <p:sp>
        <p:nvSpPr>
          <p:cNvPr id="20" name="LOOP::NODE-4">
            <a:extLst xmlns:a="http://schemas.openxmlformats.org/drawingml/2006/main">
              <a:ext uri="{FF2B5EF4-FFF2-40B4-BE49-F238E27FC236}">
                <a16:creationId xmlns:a16="http://schemas.microsoft.com/office/drawing/2014/main" id="{2453E546-C3A5-4D84-A50D-D028EC46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24050"/>
            <a:ext cx="11049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8FF"/>
          </a:solidFill>
          <a:ln xmlns:a="http://schemas.openxmlformats.org/drawingml/2006/main" w="12383">
            <a:solidFill>
              <a:srgbClr val="5B5B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/ 反证</a:t>
            </a:r>
          </a:p>
        </p:txBody>
      </p:sp>
      <p:sp>
        <p:nvSpPr>
          <p:cNvPr id="21" name="LOOP::NODE-5">
            <a:extLst xmlns:a="http://schemas.openxmlformats.org/drawingml/2006/main">
              <a:ext uri="{FF2B5EF4-FFF2-40B4-BE49-F238E27FC236}">
                <a16:creationId xmlns:a16="http://schemas.microsoft.com/office/drawing/2014/main" id="{C1188FCC-48EE-4BC9-B58C-C8CDB391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11049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E8FF"/>
          </a:solidFill>
          <a:ln xmlns:a="http://schemas.openxmlformats.org/drawingml/2006/main" w="12383">
            <a:solidFill>
              <a:srgbClr val="5B5B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形成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22" name="LOOP::NODE-6">
            <a:extLst xmlns:a="http://schemas.openxmlformats.org/drawingml/2006/main">
              <a:ext uri="{FF2B5EF4-FFF2-40B4-BE49-F238E27FC236}">
                <a16:creationId xmlns:a16="http://schemas.microsoft.com/office/drawing/2014/main" id="{2D6CBE8C-078A-459B-A990-7F75E43E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24050"/>
            <a:ext cx="11049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3F3EE"/>
          </a:solidFill>
          <a:ln xmlns:a="http://schemas.openxmlformats.org/drawingml/2006/main" w="12383">
            <a:solidFill>
              <a:srgbClr val="14866D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进入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23" name="LOOP::NODE-7">
            <a:extLst xmlns:a="http://schemas.openxmlformats.org/drawingml/2006/main">
              <a:ext uri="{FF2B5EF4-FFF2-40B4-BE49-F238E27FC236}">
                <a16:creationId xmlns:a16="http://schemas.microsoft.com/office/drawing/2014/main" id="{F53E4E1A-BE73-4F83-9263-E5406E9F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11049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3F3EE"/>
          </a:solidFill>
          <a:ln xmlns:a="http://schemas.openxmlformats.org/drawingml/2006/main" w="12383">
            <a:solidFill>
              <a:srgbClr val="14866D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归因</a:t>
            </a:r>
          </a:p>
        </p:txBody>
      </p:sp>
      <p:sp>
        <p:nvSpPr>
          <p:cNvPr id="24" name="LOOP::NODE-8">
            <a:extLst xmlns:a="http://schemas.openxmlformats.org/drawingml/2006/main">
              <a:ext uri="{FF2B5EF4-FFF2-40B4-BE49-F238E27FC236}">
                <a16:creationId xmlns:a16="http://schemas.microsoft.com/office/drawing/2014/main" id="{2EDBB2ED-9A26-4928-9593-4F7227EF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24050"/>
            <a:ext cx="11049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3F3EE"/>
          </a:solidFill>
          <a:ln xmlns:a="http://schemas.openxmlformats.org/drawingml/2006/main" w="12383">
            <a:solidFill>
              <a:srgbClr val="14866D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审批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演化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8A076-4E78-483F-8243-547B46C2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33750"/>
            <a:ext cx="7505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同类问题再次进入时，已修订的语义、策略和证据标准必须改变下一次行为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BE46C0-425A-4704-9895-F23A8A50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005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错误归因：不要把所有问题都叫“模型幻觉”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75ACD6-5BC0-4AB6-940E-96ADE9DD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01 数据 / 执行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2B2306-B1FD-402F-8A21-C8BC4EC9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源数据、SQL、权限、计算失败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0772F5-0B4B-4671-8B07-E2EB0B13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02 语义选择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A72C92-D8C7-4312-97C3-2D216F1B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80060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对象、指标、口径、版本选错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F0850D-7010-4072-8787-AF9F6925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03 推理路径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9AAA3D-2E6F-4454-81F7-B0A79A69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0060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假设遗漏、因果跳跃、证据失真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9AF363-9EA5-4C06-88C0-7463559A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387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04 事件知识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DF8F08-9BEE-41B8-9F83-36499D110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政策、活动、组织与市场未更新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381028-6265-49E8-85CB-C481A4CD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387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05 决策价值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DF6F71-E879-4339-8164-1E6ABFE2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2450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结论正确但不可行动或无人负责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83548D-62BB-4F05-842E-94F7B5FF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387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06 行动结果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DEDB6B-FEBE-4224-B841-60C7D91D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524500"/>
            <a:ext cx="3371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执行结果推翻原假设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0D5B6B-993B-4EC6-A3CE-12238348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134100"/>
            <a:ext cx="9791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系统价值不是“这次答对”，而是“错误变成全组织不再重复的能力”。</a:t>
            </a:r>
          </a:p>
        </p:txBody>
      </p:sp>
    </p:spTree>
    <p:extLst>
      <p:ext uri="{BB962C8B-B14F-4D97-AF65-F5344CB8AC3E}">
        <p14:creationId xmlns:p14="http://schemas.microsoft.com/office/powerpoint/2010/main" val="1291493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CHROME::S08::SECTION">
            <a:extLst xmlns:a="http://schemas.openxmlformats.org/drawingml/2006/main">
              <a:ext uri="{FF2B5EF4-FFF2-40B4-BE49-F238E27FC236}">
                <a16:creationId xmlns:a16="http://schemas.microsoft.com/office/drawing/2014/main" id="{2807331A-A558-4952-AF74-4189208E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目标系统｜企业认识能力</a:t>
            </a:r>
          </a:p>
        </p:txBody>
      </p:sp>
      <p:sp>
        <p:nvSpPr>
          <p:cNvPr id="2" name="COPY::S08-C01">
            <a:extLst xmlns:a="http://schemas.openxmlformats.org/drawingml/2006/main">
              <a:ext uri="{FF2B5EF4-FFF2-40B4-BE49-F238E27FC236}">
                <a16:creationId xmlns:a16="http://schemas.microsoft.com/office/drawing/2014/main" id="{BF3BD031-9F0A-4C17-8FCC-3AFB65B1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企业认知系统是一套闭环，不是第七层平台</a:t>
            </a:r>
          </a:p>
        </p:txBody>
      </p:sp>
      <p:sp>
        <p:nvSpPr>
          <p:cNvPr id="3" name="COPY::S08-C02">
            <a:extLst xmlns:a="http://schemas.openxmlformats.org/drawingml/2006/main">
              <a:ext uri="{FF2B5EF4-FFF2-40B4-BE49-F238E27FC236}">
                <a16:creationId xmlns:a16="http://schemas.microsoft.com/office/drawing/2014/main" id="{A70EAAD9-6C04-4FB5-A8C1-D36552F0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它把语义、推理、调查、反馈和演化接入同一条证据链，并由企业宪法层规定不可随意破坏的秩序。</a:t>
            </a:r>
          </a:p>
        </p:txBody>
      </p:sp>
      <p:sp>
        <p:nvSpPr>
          <p:cNvPr id="4" name="CHROME::S08::RULE">
            <a:extLst xmlns:a="http://schemas.openxmlformats.org/drawingml/2006/main">
              <a:ext uri="{FF2B5EF4-FFF2-40B4-BE49-F238E27FC236}">
                <a16:creationId xmlns:a16="http://schemas.microsoft.com/office/drawing/2014/main" id="{48198902-6429-44ED-BC23-308A5203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5" name="CHROME::S08::PAGE">
            <a:extLst xmlns:a="http://schemas.openxmlformats.org/drawingml/2006/main">
              <a:ext uri="{FF2B5EF4-FFF2-40B4-BE49-F238E27FC236}">
                <a16:creationId xmlns:a16="http://schemas.microsoft.com/office/drawing/2014/main" id="{56B602F9-5FA9-4663-8BAC-B2C84ECD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EES::ARROW-0">
            <a:extLst xmlns:a="http://schemas.openxmlformats.org/drawingml/2006/main">
              <a:ext uri="{FF2B5EF4-FFF2-40B4-BE49-F238E27FC236}">
                <a16:creationId xmlns:a16="http://schemas.microsoft.com/office/drawing/2014/main" id="{8CB54812-32A4-406A-8D0A-F63994B6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5745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ES::ARROW-1">
            <a:extLst xmlns:a="http://schemas.openxmlformats.org/drawingml/2006/main">
              <a:ext uri="{FF2B5EF4-FFF2-40B4-BE49-F238E27FC236}">
                <a16:creationId xmlns:a16="http://schemas.microsoft.com/office/drawing/2014/main" id="{09B2BEB9-6C21-47FB-8BF4-8A108175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5745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ES::ARROW-2">
            <a:extLst xmlns:a="http://schemas.openxmlformats.org/drawingml/2006/main">
              <a:ext uri="{FF2B5EF4-FFF2-40B4-BE49-F238E27FC236}">
                <a16:creationId xmlns:a16="http://schemas.microsoft.com/office/drawing/2014/main" id="{35AF2C2E-1131-4448-8189-86F7CF76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5745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ES::ARROW-3">
            <a:extLst xmlns:a="http://schemas.openxmlformats.org/drawingml/2006/main">
              <a:ext uri="{FF2B5EF4-FFF2-40B4-BE49-F238E27FC236}">
                <a16:creationId xmlns:a16="http://schemas.microsoft.com/office/drawing/2014/main" id="{39C6C6B3-CB38-40DC-B945-9A761BB4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ES::ARROW-4">
            <a:extLst xmlns:a="http://schemas.openxmlformats.org/drawingml/2006/main">
              <a:ext uri="{FF2B5EF4-FFF2-40B4-BE49-F238E27FC236}">
                <a16:creationId xmlns:a16="http://schemas.microsoft.com/office/drawing/2014/main" id="{1F497FF0-2DAF-44F5-9DA8-213E4E40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57450"/>
            <a:ext cx="2095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B8091-7AF9-480B-92CE-4AE6BF5C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52425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486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71EFA-04E2-44E0-8AEC-3D7328FD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371600" y="46101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486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6BB5C-347A-445C-B2DD-85116F8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71600" y="3524250"/>
            <a:ext cx="0" cy="1085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1486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E69E0-FF9B-499A-92FE-9D094A9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1854F-072A-44D4-BA1D-40B4096C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43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SEMANTIC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5D27C-E50C-4901-8858-BF7D91D0A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对象 · 关系 · 指标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口径 · 语境 · 版本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05F1C9-ACC2-4BF0-9DA9-E9607F1AB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004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B5B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E0AD92-97C7-4627-8699-785C6AE9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00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9A7E18-7DF0-41AC-A1E5-D6EA8B6E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343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REASONING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960D4-7EC9-4C15-B19E-80902A00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813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问题拆解 · 假设生成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路径选择 · 不确定性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BD184-322D-4937-972A-B36B84B6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6004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B5BD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0FB1B8-3237-4543-8F17-B7EA76AC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FAC38-B7BB-4C77-983F-A0D3BC62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3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INVESTIGATION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70E5AA-2244-45CE-8F2E-DB22239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813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SQL · 文档 · 事件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访谈 · 旁证 · 反证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7A8311-433C-4CEA-B0BB-4FD3BC0A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004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B5B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091310-A91B-45D2-8A44-2F4E7E97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判断 / 行动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BC362C-7D99-45B8-991D-06D47462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JUDGMENT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60CB90-FF86-43F9-9340-7B65780C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置信边界 · 责任人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决策 · 行动 · 复核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A64CCC-6593-43D2-BB01-A92B1868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86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9FED7-48CD-423F-8088-CA28AD3B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D15D52-1ADA-4F89-AF45-10AC9CB6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43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FEEDBACK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0B6AAF-D934-4E6B-9959-77312A4B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纠错 · 驳回 · 追问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采纳 · 行动结果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0265EF-6421-408E-9EB4-B8708578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004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86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B30ABE-07E5-4DCE-A078-0904B458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0002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9300AC-B724-4232-84F0-8F1C4A15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EVOLUTION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750FD6-C966-4F6F-A2A5-43031E3A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81300"/>
            <a:ext cx="1752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归因 · 审批 · 回归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灰度 · 发布 · 回退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F498ED-4D51-4162-A710-784698A0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0045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486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69FD5A-1F9E-4865-91F7-235322A9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05300"/>
            <a:ext cx="662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每次反馈都必须改变下一轮的语义选择、调查策略或证据标准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3D646F-5672-4885-A621-CEA5DEF4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67300"/>
            <a:ext cx="1120140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1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0ED3E8-0F19-454A-ABDC-74608299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CONSTITUTION｜企业宪法层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992CF3-B772-48D1-87F2-87CB1C8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C8C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8CBD8"/>
                </a:solidFill>
                <a:latin typeface="Microsoft YaHei"/>
                <a:ea typeface="Microsoft YaHei"/>
                <a:cs typeface="Microsoft YaHei"/>
              </a:rPr>
              <a:t>统一身份 · 基础对象 · 接口 · 版本 · 权限 · 血缘 · 证据底线 · 变更规则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4C6137-B96D-4761-A047-D3E4DD0A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324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rPr>
              <a:t>允许差异存在</a:t>
            </a:r>
          </a:p>
          <a:p xmlns:a="http://schemas.openxmlformats.org/drawingml/2006/main">
            <a:pPr algn="r">
              <a:lnSpc>
                <a:spcPct val="100000"/>
              </a:lnSpc>
              <a:buNone/>
              <a:defRPr sz="1425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rPr>
              <a:t>但不允许差异失去解释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B6ED5D-454D-49F9-A46E-7C7B86AB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53150"/>
            <a:ext cx="1059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企业知识必须同时保存：WHAT 我们知道什么｜WHY 为什么相信｜CHANGE 什么证据会让我们改变判断</a:t>
            </a:r>
          </a:p>
        </p:txBody>
      </p:sp>
    </p:spTree>
    <p:extLst>
      <p:ext uri="{BB962C8B-B14F-4D97-AF65-F5344CB8AC3E}">
        <p14:creationId xmlns:p14="http://schemas.microsoft.com/office/powerpoint/2010/main" val="9537951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CHROME::S09::SECTION">
            <a:extLst xmlns:a="http://schemas.openxmlformats.org/drawingml/2006/main">
              <a:ext uri="{FF2B5EF4-FFF2-40B4-BE49-F238E27FC236}">
                <a16:creationId xmlns:a16="http://schemas.microsoft.com/office/drawing/2014/main" id="{93797041-A820-41E0-81D0-FE9FC538D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落地｜先闭环后规模</a:t>
            </a:r>
          </a:p>
        </p:txBody>
      </p:sp>
      <p:sp>
        <p:nvSpPr>
          <p:cNvPr id="2" name="COPY::S09-C01">
            <a:extLst xmlns:a="http://schemas.openxmlformats.org/drawingml/2006/main">
              <a:ext uri="{FF2B5EF4-FFF2-40B4-BE49-F238E27FC236}">
                <a16:creationId xmlns:a16="http://schemas.microsoft.com/office/drawing/2014/main" id="{0CF55350-ACAE-4CFB-AFCA-A567F060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先跑通一个认知闭环，再扩充语义资产</a:t>
            </a:r>
          </a:p>
        </p:txBody>
      </p:sp>
      <p:sp>
        <p:nvSpPr>
          <p:cNvPr id="3" name="COPY::S09-C02">
            <a:extLst xmlns:a="http://schemas.openxmlformats.org/drawingml/2006/main">
              <a:ext uri="{FF2B5EF4-FFF2-40B4-BE49-F238E27FC236}">
                <a16:creationId xmlns:a16="http://schemas.microsoft.com/office/drawing/2014/main" id="{DCE94567-126C-4A84-861B-BC9D55CB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试点的验收顺序是：先看能否纠错，再看能否复用，最后才看覆盖和规模。</a:t>
            </a:r>
          </a:p>
        </p:txBody>
      </p:sp>
      <p:sp>
        <p:nvSpPr>
          <p:cNvPr id="4" name="CHROME::S09::RULE">
            <a:extLst xmlns:a="http://schemas.openxmlformats.org/drawingml/2006/main">
              <a:ext uri="{FF2B5EF4-FFF2-40B4-BE49-F238E27FC236}">
                <a16:creationId xmlns:a16="http://schemas.microsoft.com/office/drawing/2014/main" id="{1B13792A-B9F2-468B-88E1-A70FF8F1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5" name="CHROME::S09::PAGE">
            <a:extLst xmlns:a="http://schemas.openxmlformats.org/drawingml/2006/main">
              <a:ext uri="{FF2B5EF4-FFF2-40B4-BE49-F238E27FC236}">
                <a16:creationId xmlns:a16="http://schemas.microsoft.com/office/drawing/2014/main" id="{EB5E3336-F75E-48AD-AFC4-EE5612F7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8D3F2-2C09-4E7F-AC02-A4A2CDAF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最小试点路径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A43AF-79A9-40CD-961C-CE0AB3D8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5B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0350D-A152-4EF3-A216-06B79C6A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C523D2-872B-443F-9624-E5E93D20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956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5BD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C1A91-A567-4DFC-BA74-F1BBBCFA1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DF466-B184-4E05-91BE-BC34003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5B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4EBBD6-3D19-4CB8-98C2-C057D916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2DFC96-F783-4EBD-9A5E-183CF439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5B5B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64275-5EDF-4FF1-B523-85925F77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19050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FCD6B-2182-4218-B42B-6546E120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52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FF"/>
          </a:solidFill>
          <a:ln xmlns:a="http://schemas.openxmlformats.org/drawingml/2006/main" w="14288">
            <a:solidFill>
              <a:srgbClr val="5B5B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728399-0BFD-47CA-890B-0167FB1D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8F2AF-E512-4224-A643-1FE374EF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3360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选一个真实问题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20F7E0-D41A-480D-8ADD-60135391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574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高频 · 高价值 · 有争议 · 有专家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E65340-9DEC-4B65-94E2-456C36B8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FF"/>
          </a:solidFill>
          <a:ln xmlns:a="http://schemas.openxmlformats.org/drawingml/2006/main" w="14288">
            <a:solidFill>
              <a:srgbClr val="5B5B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FD8D1-0431-4CDF-BBEB-9205D640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FC383-EADA-47FB-881D-B5619A5D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465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建立最小共同宪法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8C6E81-5000-4276-93D6-8BD366C9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身份 · 口径 · 版本 · 权限 · 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B0244-3B65-4F33-A486-EFA859A0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FF"/>
          </a:solidFill>
          <a:ln xmlns:a="http://schemas.openxmlformats.org/drawingml/2006/main" w="14288">
            <a:solidFill>
              <a:srgbClr val="5B5B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8AB15-92F8-4090-81D4-F64846A7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D9751-6CA8-48CC-AE9D-5E28D419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接入结构化反馈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AB1A40-7949-47B2-A607-70E6EE5F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195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错在哪 · 为什么错 · 谁判断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1C1A88-4F9B-4E3B-98B0-CB56F002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FF"/>
          </a:solidFill>
          <a:ln xmlns:a="http://schemas.openxmlformats.org/drawingml/2006/main" w="14288">
            <a:solidFill>
              <a:srgbClr val="5B5B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E0E6D6-4BB8-4BBD-AB9C-28CA2CAC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DFE5A6-044C-403B-B667-557276B3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7675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让规则受控演化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A4BF74-7367-463B-BE47-4E1485F3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0060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审批 · 回归 · 灰度 · 回退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99A6C2-B77C-4490-871E-81BEC4D4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3EE"/>
          </a:solidFill>
          <a:ln xmlns:a="http://schemas.openxmlformats.org/drawingml/2006/main" w="14288">
            <a:solidFill>
              <a:srgbClr val="1486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6DDF54-12FE-47EB-87DD-4CDAC66C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721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188430-E03B-4E82-909E-01896830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3067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只向相邻问题扩展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2D74C8-A097-49FE-A75F-EB6CCA97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816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复用对象与方法，不复制烟囱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AE8E9B-7CCF-4D4C-80A4-DDADA502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764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评价体系也必须换山头</a:t>
            </a:r>
          </a:p>
        </p:txBody>
      </p:sp>
      <p:graphicFrame>
        <p:nvGraphicFramePr>
          <p:cNvPr id="75" name=""/>
          <p:cNvGraphicFramePr/>
          <p:nvPr/>
        </p:nvGraphicFramePr>
        <p:xfrm>
          <a:off xmlns:a="http://schemas.openxmlformats.org/drawingml/2006/main" x="4991100" y="2133600"/>
          <a:ext xmlns:a="http://schemas.openxmlformats.org/drawingml/2006/main" cx="6667500" cy="3276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2095500"/>
                <a:gridCol w="2952750"/>
              </a:tblGrid>
              <a:tr h="468086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传统指标</a:t>
                      </a:r>
                    </a:p>
                  </a:txBody>
                  <a:tcPr marL="91440" marR="91440" marT="45720" marB="45720" anchor="ctr">
                    <a:solidFill>
                      <a:srgbClr val="171A2B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盲区</a:t>
                      </a:r>
                    </a:p>
                  </a:txBody>
                  <a:tcPr marL="91440" marR="91440" marT="45720" marB="45720" anchor="ctr">
                    <a:solidFill>
                      <a:srgbClr val="171A2B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更有价值的替代指标</a:t>
                      </a:r>
                    </a:p>
                  </a:txBody>
                  <a:tcPr marL="91440" marR="91440" marT="45720" marB="45720" anchor="ctr">
                    <a:solidFill>
                      <a:srgbClr val="171A2B"/>
                    </a:solidFill>
                  </a:tcPr>
                </a:tc>
              </a:tr>
              <a:tr h="468086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71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 准确率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只验证执行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5B5B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答案—证据一致性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8086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71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指标覆盖率</a:t>
                      </a:r>
                    </a:p>
                  </a:txBody>
                  <a:tcPr marL="91440" marR="91440" marT="45720" marB="45720" anchor="ctr">
                    <a:solidFill>
                      <a:srgbClr val="F1F3F8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覆盖越多歧义越多</a:t>
                      </a:r>
                    </a:p>
                  </a:txBody>
                  <a:tcPr marL="91440" marR="91440" marT="45720" marB="45720" anchor="ctr">
                    <a:solidFill>
                      <a:srgbClr val="F1F3F8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5B5B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歧义识别 + 可解释选择</a:t>
                      </a:r>
                    </a:p>
                  </a:txBody>
                  <a:tcPr marL="91440" marR="91440" marT="45720" marB="45720" anchor="ctr">
                    <a:solidFill>
                      <a:srgbClr val="F1F3F8"/>
                    </a:solidFill>
                  </a:tcPr>
                </a:tc>
              </a:tr>
              <a:tr h="468086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71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问题回答率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逼系统在未知时胡答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5B5B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可靠闭环 + 未知识别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8086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71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点赞 / 点踩</a:t>
                      </a:r>
                    </a:p>
                  </a:txBody>
                  <a:tcPr marL="91440" marR="91440" marT="45720" marB="45720" anchor="ctr">
                    <a:solidFill>
                      <a:srgbClr val="F1F3F8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无法定位错因</a:t>
                      </a:r>
                    </a:p>
                  </a:txBody>
                  <a:tcPr marL="91440" marR="91440" marT="45720" marB="45720" anchor="ctr">
                    <a:solidFill>
                      <a:srgbClr val="F1F3F8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5B5B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归因完整 + 重复错误下降</a:t>
                      </a:r>
                    </a:p>
                  </a:txBody>
                  <a:tcPr marL="91440" marR="91440" marT="45720" marB="45720" anchor="ctr">
                    <a:solidFill>
                      <a:srgbClr val="F1F3F8"/>
                    </a:solidFill>
                  </a:tcPr>
                </a:tc>
              </a:tr>
              <a:tr h="468086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71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资产数量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堆积不等于鲜活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5B5B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时效 + 复用 + 现实一致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8086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71A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响应时延</a:t>
                      </a:r>
                    </a:p>
                  </a:txBody>
                  <a:tcPr marL="91440" marR="91440" marT="45720" marB="45720" anchor="ctr">
                    <a:solidFill>
                      <a:srgbClr val="F1F3F8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66708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快答错题无价值</a:t>
                      </a:r>
                    </a:p>
                  </a:txBody>
                  <a:tcPr marL="91440" marR="91440" marT="45720" marB="45720" anchor="ctr">
                    <a:solidFill>
                      <a:srgbClr val="F1F3F8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5B5B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认知错误→受控修复周期</a:t>
                      </a:r>
                    </a:p>
                  </a:txBody>
                  <a:tcPr marL="91440" marR="91440" marT="45720" marB="45720" anchor="ctr">
                    <a:solidFill>
                      <a:srgbClr val="F1F3F8"/>
                    </a:solidFill>
                  </a:tcPr>
                </a:tc>
              </a:tr>
            </a:tbl>
          </a:graphicData>
        </a:graphic>
      </p:graphicFrame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60DC68-A3CD-49AE-A4BF-80344952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57850"/>
            <a:ext cx="1104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6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验收门槛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7AF2BE-FC4A-472A-83B3-728F59B6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57850"/>
            <a:ext cx="539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同类错误是否下降？纠正是否进入受控版本？行动结果是否能推翻原判断？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7FE398-1980-465D-92A8-BF4B8327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1030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不要先建一座更大的知识宫殿；先证明系统会因犯错而变聪明。</a:t>
            </a:r>
          </a:p>
        </p:txBody>
      </p:sp>
    </p:spTree>
    <p:extLst>
      <p:ext uri="{BB962C8B-B14F-4D97-AF65-F5344CB8AC3E}">
        <p14:creationId xmlns:p14="http://schemas.microsoft.com/office/powerpoint/2010/main" val="10116956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CHROME::S10::SECTION">
            <a:extLst xmlns:a="http://schemas.openxmlformats.org/drawingml/2006/main">
              <a:ext uri="{FF2B5EF4-FFF2-40B4-BE49-F238E27FC236}">
                <a16:creationId xmlns:a16="http://schemas.microsoft.com/office/drawing/2014/main" id="{D045A41E-593A-4A0D-ADD6-D09B9075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本质方法论｜三者缺一不可</a:t>
            </a:r>
          </a:p>
        </p:txBody>
      </p:sp>
      <p:sp>
        <p:nvSpPr>
          <p:cNvPr id="2" name="COPY::S10-C01">
            <a:extLst xmlns:a="http://schemas.openxmlformats.org/drawingml/2006/main">
              <a:ext uri="{FF2B5EF4-FFF2-40B4-BE49-F238E27FC236}">
                <a16:creationId xmlns:a16="http://schemas.microsoft.com/office/drawing/2014/main" id="{D5D9C355-9FBB-46EE-A39A-5C53E5A1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11125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71A2B"/>
                </a:solidFill>
                <a:latin typeface="Microsoft YaHei"/>
                <a:ea typeface="Microsoft YaHei"/>
                <a:cs typeface="Microsoft YaHei"/>
              </a:rPr>
              <a:t>三角方法论：秩序、纠错与调查缺一不可</a:t>
            </a:r>
          </a:p>
        </p:txBody>
      </p:sp>
      <p:sp>
        <p:nvSpPr>
          <p:cNvPr id="3" name="COPY::S10-C02">
            <a:extLst xmlns:a="http://schemas.openxmlformats.org/drawingml/2006/main">
              <a:ext uri="{FF2B5EF4-FFF2-40B4-BE49-F238E27FC236}">
                <a16:creationId xmlns:a16="http://schemas.microsoft.com/office/drawing/2014/main" id="{130D9291-6490-438F-862B-A1A15DE7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统一提供共同语言，反馈让分布式知识进入规则，调查研究让判断始终锚定真实业务现场。</a:t>
            </a:r>
          </a:p>
        </p:txBody>
      </p:sp>
      <p:sp>
        <p:nvSpPr>
          <p:cNvPr id="4" name="CHROME::S10::RULE">
            <a:extLst xmlns:a="http://schemas.openxmlformats.org/drawingml/2006/main">
              <a:ext uri="{FF2B5EF4-FFF2-40B4-BE49-F238E27FC236}">
                <a16:creationId xmlns:a16="http://schemas.microsoft.com/office/drawing/2014/main" id="{E5E2DB3A-E9AB-4010-BFDC-CF5B851E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CE8"/>
            </a:solidFill>
            <a:prstDash val="solid"/>
          </a:ln>
        </p:spPr>
      </p:sp>
      <p:sp>
        <p:nvSpPr>
          <p:cNvPr id="5" name="CHROME::S10::PAGE">
            <a:extLst xmlns:a="http://schemas.openxmlformats.org/drawingml/2006/main">
              <a:ext uri="{FF2B5EF4-FFF2-40B4-BE49-F238E27FC236}">
                <a16:creationId xmlns:a16="http://schemas.microsoft.com/office/drawing/2014/main" id="{B767E3C1-148D-43A8-867A-F65DE6B7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960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TRIANGLE::EDGE-ORDER-FEEDBACK">
            <a:extLst xmlns:a="http://schemas.openxmlformats.org/drawingml/2006/main">
              <a:ext uri="{FF2B5EF4-FFF2-40B4-BE49-F238E27FC236}">
                <a16:creationId xmlns:a16="http://schemas.microsoft.com/office/drawing/2014/main" id="{03A11B4F-A963-4A99-A710-B448FE7A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800350" y="2038350"/>
            <a:ext cx="329565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B5BD6"/>
            </a:solidFill>
            <a:prstDash val="solid"/>
          </a:ln>
        </p:spPr>
      </p:sp>
      <p:sp>
        <p:nvSpPr>
          <p:cNvPr id="7" name="TRIANGLE::EDGE-ORDER-INVESTIGATION">
            <a:extLst xmlns:a="http://schemas.openxmlformats.org/drawingml/2006/main">
              <a:ext uri="{FF2B5EF4-FFF2-40B4-BE49-F238E27FC236}">
                <a16:creationId xmlns:a16="http://schemas.microsoft.com/office/drawing/2014/main" id="{9D8DED23-EA8B-4549-9B5C-F7B1C624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329565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B5BD6"/>
            </a:solidFill>
            <a:prstDash val="solid"/>
          </a:ln>
        </p:spPr>
      </p:sp>
      <p:sp>
        <p:nvSpPr>
          <p:cNvPr id="8" name="TRIANGLE::EDGE-FEEDBACK-INVESTIGATION">
            <a:extLst xmlns:a="http://schemas.openxmlformats.org/drawingml/2006/main">
              <a:ext uri="{FF2B5EF4-FFF2-40B4-BE49-F238E27FC236}">
                <a16:creationId xmlns:a16="http://schemas.microsoft.com/office/drawing/2014/main" id="{83B35045-C65E-4D6D-9FA6-C37D55D8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181600"/>
            <a:ext cx="659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5B5B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FC37A-DB2E-4C68-943C-AE6917559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22860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B"/>
          </a:solidFill>
          <a:ln xmlns:a="http://schemas.openxmlformats.org/drawingml/2006/main" w="19050">
            <a:solidFill>
              <a:srgbClr val="171A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7201A-92A7-4D45-AFAA-E60E5EC2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145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统一秩序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3AED3-398E-4C05-8D66-3F9B202C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9550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C8C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CBD8"/>
                </a:solidFill>
                <a:latin typeface="Microsoft YaHei"/>
                <a:ea typeface="Microsoft YaHei"/>
                <a:cs typeface="Microsoft YaHei"/>
              </a:rPr>
              <a:t>身份 · 接口 · 版本 · 权限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C8CB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CBD8"/>
                </a:solidFill>
                <a:latin typeface="Microsoft YaHei"/>
                <a:ea typeface="Microsoft YaHei"/>
                <a:cs typeface="Microsoft YaHei"/>
              </a:rPr>
              <a:t>共同证据底线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725CA-7653-4A47-9B9E-1FBE33E6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23622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F3EE"/>
          </a:solidFill>
          <a:ln xmlns:a="http://schemas.openxmlformats.org/drawingml/2006/main" w="19050">
            <a:solidFill>
              <a:srgbClr val="1486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7CA4E-4DBE-4BE2-BC97-3B76120E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3870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866D"/>
                </a:solidFill>
                <a:latin typeface="Microsoft YaHei"/>
                <a:ea typeface="Microsoft YaHei"/>
                <a:cs typeface="Microsoft YaHei"/>
              </a:rPr>
              <a:t>制度化反馈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9C4A6-F1BC-43D1-A01B-E71F9B00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197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代表 · 挑战 · 举证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修订 · 问责 · 审计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29255-C9DF-44BA-B4AF-1AA31448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23622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19050">
            <a:solidFill>
              <a:srgbClr val="B779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7A18A-91FE-41EA-950D-0535CFFC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38700"/>
            <a:ext cx="1828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调查研究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927BE-5597-4C5F-9C54-00E60606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19700"/>
            <a:ext cx="1828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假设 · 现场 · 旁证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反证 · 暂定 · 未知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CD6E8-2431-4C54-833C-2006BA0D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19450"/>
            <a:ext cx="2476500" cy="1466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19050">
            <a:solidFill>
              <a:srgbClr val="5B5B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A5826-4911-4FD6-A458-F9BED1B7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48050"/>
            <a:ext cx="1943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ENTERPRISE</a:t>
            </a:r>
          </a:p>
          <a:p xmlns:a="http://schemas.openxmlformats.org/drawingml/2006/main">
            <a:pPr algn="ctr">
              <a:lnSpc>
                <a:spcPct val="92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EPISTEMIC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18FA82-D757-4ADD-AB8B-6ED558E9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338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企业认知系统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B679F9-56CB-4576-B905-4D3F6C89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只有统一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17477-F2E6-49C6-A498-0BFF6119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规则会固化为官僚机器；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现实被迫迁就模型。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428D5C-72CE-4CEB-9729-2ED112FB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只有反馈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39558C-53CB-48C2-BCC3-D33B5E79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781675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共同语言消失，系统重新碎片化。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1DE6E7-C225-40C4-9CC1-66E6BF9C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C24156"/>
                </a:solidFill>
                <a:latin typeface="Microsoft YaHei"/>
                <a:ea typeface="Microsoft YaHei"/>
                <a:cs typeface="Microsoft YaHei"/>
              </a:rPr>
              <a:t>只有调查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FFE677-F49A-4679-A720-1961472F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781675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每次依赖少数能人，无法组织化与规模化。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338CA9-3645-4CB7-A4C7-CB22DCF5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72200"/>
            <a:ext cx="880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5BD6"/>
                </a:solidFill>
                <a:latin typeface="Microsoft YaHei"/>
                <a:ea typeface="Microsoft YaHei"/>
                <a:cs typeface="Microsoft YaHei"/>
              </a:rPr>
              <a:t>AI 的位置：记录 · 连接 · 检索 · 提出候选 · 放大组织学习；但不取代人的判断与责任。</a:t>
            </a:r>
          </a:p>
        </p:txBody>
      </p:sp>
    </p:spTree>
    <p:extLst>
      <p:ext uri="{BB962C8B-B14F-4D97-AF65-F5344CB8AC3E}">
        <p14:creationId xmlns:p14="http://schemas.microsoft.com/office/powerpoint/2010/main" val="19230251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5C42B-0521-454F-BCD8-191E8664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5B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D20AF8-4B86-4F0D-B9BA-D66D0359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572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rPr>
              <a:t>最后留下一个问题</a:t>
            </a:r>
          </a:p>
        </p:txBody>
      </p:sp>
      <p:sp>
        <p:nvSpPr>
          <p:cNvPr id="3" name="COPY::S11-C01">
            <a:extLst xmlns:a="http://schemas.openxmlformats.org/drawingml/2006/main">
              <a:ext uri="{FF2B5EF4-FFF2-40B4-BE49-F238E27FC236}">
                <a16:creationId xmlns:a16="http://schemas.microsoft.com/office/drawing/2014/main" id="{A7737B4B-6F9F-4E20-B3CA-BF7D7BE0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0287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你的系统，允许谁用什么证据，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推翻一次“正确率很高”的答案？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B18A68-495D-4853-A8C9-FE2DEEBF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5B5B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52556-9BD3-429A-AB25-E4434FB7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>
                <a:solidFill>
                  <a:srgbClr val="D5D7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D5D7E3"/>
                </a:solidFill>
                <a:latin typeface="Microsoft YaHei"/>
                <a:ea typeface="Microsoft YaHei"/>
                <a:cs typeface="Microsoft YaHei"/>
              </a:rPr>
              <a:t>真正值得建设的，不是一个宣称已经完成的知识体系；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43E15-30D0-4AF1-867F-BADEBB99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而是一个允许现实不断纠正自己，并因此越来越可靠的企业认知系统。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845C97-484E-4315-B3D6-C6DEF338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BAFF"/>
                </a:solidFill>
                <a:latin typeface="Microsoft YaHei"/>
                <a:ea typeface="Microsoft YaHei"/>
                <a:cs typeface="Microsoft YaHei"/>
              </a:rPr>
              <a:t>统一秩序  ×  制度化反馈  ×  调查研究</a:t>
            </a:r>
          </a:p>
        </p:txBody>
      </p:sp>
    </p:spTree>
    <p:extLst>
      <p:ext uri="{BB962C8B-B14F-4D97-AF65-F5344CB8AC3E}">
        <p14:creationId xmlns:p14="http://schemas.microsoft.com/office/powerpoint/2010/main" val="831632894"/>
      </p:ext>
    </p:extLst>
  </p:cSld>
</p:sld>
</file>

<file path=ppt/theme/theme1.xml><?xml version="1.0" encoding="utf-8"?>
<a:theme xmlns:a="http://schemas.openxmlformats.org/drawingml/2006/main" name="ChatGPT">
  <a:themeElements>
    <a:clrScheme name="Clayz Neutral 0.3.0">
      <a:dk1>
        <a:srgbClr val="000000"/>
      </a:dk1>
      <a:lt1>
        <a:srgbClr val="FFFFFF"/>
      </a:lt1>
      <a:dk2>
        <a:srgbClr val="171A2B"/>
      </a:dk2>
      <a:lt2>
        <a:srgbClr val="D8DCE8"/>
      </a:lt2>
      <a:accent1>
        <a:srgbClr val="5B5BD6"/>
      </a:accent1>
      <a:accent2>
        <a:srgbClr val="14866D"/>
      </a:accent2>
      <a:accent3>
        <a:srgbClr val="B7791F"/>
      </a:accent3>
      <a:accent4>
        <a:srgbClr val="C24156"/>
      </a:accent4>
      <a:accent5>
        <a:srgbClr val="8367C7"/>
      </a:accent5>
      <a:accent6>
        <a:srgbClr val="2B6F8A"/>
      </a:accent6>
      <a:hlink>
        <a:srgbClr val="5B5BD6"/>
      </a:hlink>
      <a:folHlink>
        <a:srgbClr val="7C3AE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layz Neutral 0.3.0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2026-08-22T06:23:45.6970000Z</dcterms:created>
  <dcterms:modified xsi:type="dcterms:W3CDTF">2026-08-22T06:23:45.6970000Z</dcterms:modified>
</coreProperties>
</file>

<file path=docProps/custom.xml><?xml version="1.0" encoding="utf-8"?>
<ns0:Properties xmlns:ns0="http://schemas.openxmlformats.org/officeDocument/2006/custom-properties" xmlns:vt="http://schemas.openxmlformats.org/officeDocument/2006/docPropsVTypes">
  <ns0:property fmtid="{D5CDD505-2E9C-101B-9397-08002B2CF9AE}" pid="2" name="ClayzGenerator">
    <vt:lpwstr>clayz-presentation-skills</vt:lpwstr>
  </ns0:property>
  <ns0:property fmtid="{D5CDD505-2E9C-101B-9397-08002B2CF9AE}" pid="3" name="ClayzVersion">
    <vt:lpwstr>0.3.0</vt:lpwstr>
  </ns0:property>
  <ns0:property fmtid="{D5CDD505-2E9C-101B-9397-08002B2CF9AE}" pid="4" name="ClayzOriginalArchitecture">
    <vt:lpwstr>clayz</vt:lpwstr>
  </ns0:property>
  <ns0:property fmtid="{D5CDD505-2E9C-101B-9397-08002B2CF9AE}" pid="5" name="ClayzBrand">
    <vt:lpwstr>clayz</vt:lpwstr>
  </ns0:property>
  <ns0:property fmtid="{D5CDD505-2E9C-101B-9397-08002B2CF9AE}" pid="6" name="ClayzNamespace">
    <vt:lpwstr>io.clayz.presentation</vt:lpwstr>
  </ns0:property>
</ns0:Properties>
</file>