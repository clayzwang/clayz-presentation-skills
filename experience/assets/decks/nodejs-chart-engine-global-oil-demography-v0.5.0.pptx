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c4db59155a4fc5" /><Relationship Type="http://schemas.openxmlformats.org/officeDocument/2006/relationships/extended-properties" Target="/docProps/app.xml" Id="R1d23ca44f9ec45fc" /><Relationship Type="http://schemas.openxmlformats.org/officeDocument/2006/relationships/officeDocument" Target="/ppt/presentation.xml" Id="Rad11aaeb3d1342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75a4b4fd9e484d"/>
  </p:sldMasterIdLst>
  <p:notesMasterIdLst>
    <p:notesMasterId xmlns:r="http://schemas.openxmlformats.org/officeDocument/2006/relationships" r:id="R774335325be94756"/>
  </p:notesMasterIdLst>
  <p:sldIdLst>
    <p:sldId xmlns:r="http://schemas.openxmlformats.org/officeDocument/2006/relationships" id="256" r:id="Rad26391b2c7044a5"/>
    <p:sldId xmlns:r="http://schemas.openxmlformats.org/officeDocument/2006/relationships" id="257" r:id="R2adc1429891741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48d28c0dfd4c8a" /><Relationship Type="http://schemas.openxmlformats.org/officeDocument/2006/relationships/slideMaster" Target="/ppt/slideMasters/slideMaster1.xml" Id="R8b75a4b4fd9e484d" /><Relationship Type="http://schemas.openxmlformats.org/officeDocument/2006/relationships/notesMaster" Target="/ppt/notesMasters/notesMaster1.xml" Id="R774335325be94756" /><Relationship Type="http://schemas.openxmlformats.org/officeDocument/2006/relationships/presProps" Target="/ppt/presProps.xml" Id="Rb88e54a68ed14a32" /><Relationship Type="http://schemas.openxmlformats.org/officeDocument/2006/relationships/tableStyles" Target="/ppt/tableStyles.xml" Id="R5c7f3a0591754b48" /><Relationship Type="http://schemas.openxmlformats.org/officeDocument/2006/relationships/slide" Target="/ppt/slides/slide1.xml" Id="Rad26391b2c7044a5" /><Relationship Type="http://schemas.openxmlformats.org/officeDocument/2006/relationships/slide" Target="/ppt/slides/slide2.xml" Id="R2adc1429891741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000aa9196349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3c9c8c006d4df2" /><Relationship Type="http://schemas.openxmlformats.org/officeDocument/2006/relationships/notesMaster" Target="/ppt/notesMasters/notesMaster1.xml" Id="Rc9cf08f0bc434d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1629622f344dbc" /><Relationship Type="http://schemas.openxmlformats.org/officeDocument/2006/relationships/notesMaster" Target="/ppt/notesMasters/notesMaster1.xml" Id="R9ed3ca12130c47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https://www.energyinst.org/__data/assets/pdf_file/0007/1658077/Statistical-Review-of-World-Energy.pdf | Energy Institute Statistical Review of World Energy 2025; oil production and total liquids consumption tables for 2024 | accessed 2026-08-24</a:t>
            </a:r>
          </a:p>
          <a:p xmlns:a="http://schemas.openxmlformats.org/drawingml/2006/main">
            <a:r>
              <a:t>- https://echarts.apache.org/handbook/en/how-to/cross-platform/server/ | Apache ECharts server-side SVG rendering documentation | accessed 2026-08-24</a:t>
            </a:r>
          </a:p>
          <a:p xmlns:a="http://schemas.openxmlformats.org/drawingml/2006/main">
            <a:r>
              <a:t>- https://github.com/apache/echarts | Apache ECharts project and license | accessed 2026-08-24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note: Sankey widths are normalized independently to 100% on the production and consumption sides. The chart compares structural concentration and country scale; it does not encode bilateral trade flows.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https://data.worldbank.org/indicator/SP.POP.0014.TO.ZS | Population ages 0–14 (% of total population), 2024 | accessed 2026-08-24</a:t>
            </a:r>
          </a:p>
          <a:p xmlns:a="http://schemas.openxmlformats.org/drawingml/2006/main">
            <a:r>
              <a:t>- https://data.worldbank.org/indicator/SP.POP.1564.TO.ZS | Population ages 15–64 (% of total population), 2024 | accessed 2026-08-24</a:t>
            </a:r>
          </a:p>
          <a:p xmlns:a="http://schemas.openxmlformats.org/drawingml/2006/main">
            <a:r>
              <a:t>- https://data.worldbank.org/indicator/SP.POP.65UP.TO.ZS | Population ages 65 and above (% of total population), 2024 | accessed 2026-08-24</a:t>
            </a:r>
          </a:p>
          <a:p xmlns:a="http://schemas.openxmlformats.org/drawingml/2006/main">
            <a:r>
              <a:t>- https://echarts.apache.org/handbook/en/how-to/cross-platform/server/ | Apache ECharts server-side SVG rendering | accessed 2026-08-24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note: Every country sector has equal angular width. Radial layer thicknesses encode each country's within-country age shares and sum to 100%. Country population size is not encoded. The 15 countries plus world average are a representative analytical selection, not a complete ranking.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450f5f6d274f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2fe925c78249ea" /><Relationship Type="http://schemas.openxmlformats.org/officeDocument/2006/relationships/slideLayout" Target="/ppt/slideLayouts/slideLayout1.xml" Id="R6616ce6339294c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16ce6339294c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9b31720374764" /><Relationship Type="http://schemas.openxmlformats.org/officeDocument/2006/relationships/image" Target="/ppt/media/image.png" Id="R623f49a3a6a84d1c" /><Relationship Type="http://schemas.openxmlformats.org/officeDocument/2006/relationships/notesSlide" Target="/ppt/notesSlides/notesSlide1.xml" Id="Re863021ab5c44f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1835f99154642" /><Relationship Type="http://schemas.openxmlformats.org/officeDocument/2006/relationships/image" Target="/ppt/media/image2.png" Id="R96fcbf10ef6a445a" /><Relationship Type="http://schemas.openxmlformats.org/officeDocument/2006/relationships/notesSlide" Target="/ppt/notesSlides/notesSlide2.xml" Id="Re28524c93a4741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8DF09A-ACBB-4955-9981-363F67D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457A4-46F4-4E4F-B532-EB0F91E7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2024｜全球石油产业结构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9269D-506A-4FC7-BECF-5D876A11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全球石油生产与消费重心并不重合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8473C-95BB-4F30-A5DF-CDC5B9C5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美国供需规模接近；中国消费远高于国内产量；沙特与俄罗斯产量显著高于消费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0EFBA-1AD9-4BC4-857F-94A28E02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9575"/>
            <a:ext cx="13335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781C2-00ED-4DAC-B7BB-4404EC20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953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单位  Mb/d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4FD7F-6BAD-4EB8-B605-54171B61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E7490"/>
                </a:solidFill>
              </a:defRPr>
            </a:pPr>
            <a:r>
              <a:rPr sz="1050" b="1">
                <a:solidFill>
                  <a:srgbClr val="0E7490"/>
                </a:solidFill>
              </a:rPr>
              <a:t>生产端  ·  96.9 Mb/d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414B6-E6F3-4EE8-8082-57B400D1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323975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全球份额结构（两侧各归一化为 100%）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D232A-E6BA-4E1B-9860-30B420A3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239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D97706"/>
                </a:solidFill>
              </a:defRPr>
            </a:pPr>
            <a:r>
              <a:rPr sz="1050" b="1">
                <a:solidFill>
                  <a:srgbClr val="D97706"/>
                </a:solidFill>
              </a:rPr>
              <a:t>消费端  ·  104.7 Mb/d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f49a3a6a84d1c"/>
          <a:stretch xmlns:a="http://schemas.openxmlformats.org/drawingml/2006/main"/>
        </p:blipFill>
        <p:spPr>
          <a:xfrm xmlns:a="http://schemas.openxmlformats.org/drawingml/2006/main">
            <a:off x="980831" y="1504950"/>
            <a:ext cx="10230338" cy="35623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75E59-406D-4F64-A008-BAACD5DB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95600"/>
            <a:ext cx="14097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46000-4B94-4953-946D-C4075F52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全球油品体系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DFB04-D4F6-407C-868D-3BE4A6D0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908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>
                <a:solidFill>
                  <a:srgbClr val="CBD5E1"/>
                </a:solidFill>
              </a:defRPr>
            </a:pPr>
            <a:r>
              <a:rPr sz="750">
                <a:solidFill>
                  <a:srgbClr val="CBD5E1"/>
                </a:solidFill>
              </a:rPr>
              <a:t>100% 结构对比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623B6-AB38-4D6A-ACB8-C27DE153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33337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91C36-E54A-431C-B857-DDE52274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34352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BAB91-4F71-41CA-BD3C-E72B22A0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E7490"/>
                </a:solidFill>
              </a:defRPr>
            </a:pPr>
            <a:r>
              <a:rPr sz="1125" b="1">
                <a:solidFill>
                  <a:srgbClr val="0E7490"/>
                </a:solidFill>
              </a:rPr>
              <a:t>美国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EF5F7-E461-49E2-A02C-B0C6BE1B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9590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20.1  ≈  20.3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51093-8318-42C8-AFF4-D5BC2943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供需规模接近｜全球最大生产国，也是最大消费国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54513-8CE1-4191-AF0A-5ECDC916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19700"/>
            <a:ext cx="33337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4293C8-CAB0-4528-A495-BE830361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4352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6949C1-9A46-4D3F-A93C-2E5F8093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314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F4444"/>
                </a:solidFill>
              </a:defRPr>
            </a:pPr>
            <a:r>
              <a:rPr sz="1125" b="1">
                <a:solidFill>
                  <a:srgbClr val="EF4444"/>
                </a:solidFill>
              </a:rPr>
              <a:t>中国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CC24F-79A1-4FC4-8899-8189B452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29590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4.3  &lt;  16.5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7422E6-392A-4A63-93A7-EEC159FA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19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消费约为产量 3.9×｜需求显著高于国内供给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4B8565-94E0-4FD6-9B15-10984BC9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33337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3989C8-4E91-48B6-A43E-FD729DD1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34352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00205C-DAEF-4840-9531-E120C5C5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1495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沙特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4CF590-5BB7-4A2D-A070-C8F7042A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9590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10.9  &gt;  4.0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E5CB1E-2C22-42FB-983B-9991AD8C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19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产量约为消费 2.7×｜供给规模显著高于内需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35A1E0-98E8-4745-A196-15818915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2889DE-FF83-4C28-B887-A6A3F6E5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96025"/>
            <a:ext cx="8191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流宽表示各国在全球生产/消费中的规模，不代表双边贸易流向。生产与消费统计口径不同，不能据此推算库存变化。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410EF-47A6-4336-85BF-56DD844D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96025"/>
            <a:ext cx="304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来源：Energy Institute Statistical Review 2025（2024 数据）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03785E-3FC1-434E-84AE-6656A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2095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Mb/d = 百万桶/日</a:t>
            </a:r>
          </a:p>
        </p:txBody>
      </p:sp>
    </p:spTree>
    <p:extLst>
      <p:ext uri="{BB962C8B-B14F-4D97-AF65-F5344CB8AC3E}">
        <p14:creationId xmlns:p14="http://schemas.microsoft.com/office/powerpoint/2010/main" val="685056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8DF09A-ACBB-4955-9981-363F67D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457A4-46F4-4E4F-B532-EB0F91E7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2024｜全球人口年龄结构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9269D-506A-4FC7-BECF-5D876A11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全球人口年龄结构正在拉开代际差距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8473C-95BB-4F30-A5DF-CDC5B9C5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从尼日尔的“少儿近半”到日本的“65岁+接近三成”，中国已明显老于世界平均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0EFBA-1AD9-4BC4-857F-94A28E02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9575"/>
            <a:ext cx="13335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781C2-00ED-4DAC-B7BB-4404EC20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953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径向  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4FD7F-6BAD-4EB8-B605-54171B61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39A14"/>
                </a:solidFill>
              </a:defRPr>
            </a:pPr>
            <a:r>
              <a:rPr sz="1050" b="1">
                <a:solidFill>
                  <a:srgbClr val="D39A14"/>
                </a:solidFill>
              </a:rPr>
              <a:t>内圈  0–14岁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414B6-E6F3-4EE8-8082-57B400D1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239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7D8C"/>
                </a:solidFill>
              </a:defRPr>
            </a:pPr>
            <a:r>
              <a:rPr sz="1050" b="1">
                <a:solidFill>
                  <a:srgbClr val="2F7D8C"/>
                </a:solidFill>
              </a:rPr>
              <a:t>中圈  15–64岁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D232A-E6BA-4E1B-9860-30B420A3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3239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D95F59"/>
                </a:solidFill>
              </a:defRPr>
            </a:pPr>
            <a:r>
              <a:rPr sz="1050" b="1">
                <a:solidFill>
                  <a:srgbClr val="D95F59"/>
                </a:solidFill>
              </a:rPr>
              <a:t>外圈  65岁+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75E59-406D-4F64-A008-BAACD5DB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71850"/>
            <a:ext cx="1428750" cy="8572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46000-4B94-4953-946D-C4075F52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76625"/>
            <a:ext cx="1181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每个国家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DFB04-D4F6-407C-868D-3BE4A6D0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7814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>
                <a:solidFill>
                  <a:srgbClr val="CBD5E1"/>
                </a:solidFill>
              </a:defRPr>
            </a:pPr>
            <a:r>
              <a:rPr sz="750">
                <a:solidFill>
                  <a:srgbClr val="CBD5E1"/>
                </a:solidFill>
              </a:rPr>
              <a:t>扇区等宽｜合计100%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623B6-AB38-4D6A-ACB8-C27DE153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3381375" cy="1000125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91C36-E54A-431C-B857-DDE52274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57375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BAB91-4F71-41CA-BD3C-E72B22A0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288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E7490"/>
                </a:solidFill>
              </a:defRPr>
            </a:pPr>
            <a:r>
              <a:rPr sz="1125" b="1">
                <a:solidFill>
                  <a:srgbClr val="0E7490"/>
                </a:solidFill>
              </a:rPr>
              <a:t>世界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EF5F7-E461-49E2-A02C-B0C6BE1B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24.7 | 65.1 | 10.2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51093-8318-42C8-AFF4-D5BC2943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526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全球基准｜约四分之一为少儿，65岁+占一成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54513-8CE1-4191-AF0A-5ECDC916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05125"/>
            <a:ext cx="3381375" cy="1000125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4293C8-CAB0-4528-A495-BE830361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6949C1-9A46-4D3F-A93C-2E5F8093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194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EF4444"/>
                </a:solidFill>
              </a:defRPr>
            </a:pPr>
            <a:r>
              <a:rPr sz="1125" b="1">
                <a:solidFill>
                  <a:srgbClr val="EF4444"/>
                </a:solidFill>
              </a:rPr>
              <a:t>中国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CC24F-79A1-4FC4-8899-8189B452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00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16.0 | 69.3 | 14.7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7422E6-392A-4A63-93A7-EEC159FA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432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65岁+占比高于全球4.5个百分点，少儿占比更低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4B8565-94E0-4FD6-9B15-10984BC9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3381375" cy="1000125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3989C8-4E91-48B6-A43E-FD729DD1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38625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00205C-DAEF-4840-9531-E120C5C5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0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D97706"/>
                </a:solidFill>
              </a:defRPr>
            </a:pPr>
            <a:r>
              <a:rPr sz="1125" b="1">
                <a:solidFill>
                  <a:srgbClr val="D97706"/>
                </a:solidFill>
              </a:rPr>
              <a:t>日本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4CF590-5BB7-4A2D-A070-C8F7042A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191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11.4 | 58.8 | 29.8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E5CB1E-2C22-42FB-983B-9991AD8C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65岁+接近三成｜代表大型经济体的老龄化极端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35A1E0-98E8-4745-A196-15818915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2889DE-FF83-4C28-B887-A6A3F6E5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96025"/>
            <a:ext cx="8191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年龄段：0–14岁、15–64岁、65岁及以上；国家为代表性样本，不是全球完整排名。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410EF-47A6-4336-85BF-56DD844D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96025"/>
            <a:ext cx="3286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64748B"/>
                </a:solidFill>
              </a:defRPr>
            </a:pPr>
            <a:r>
              <a:rPr sz="750">
                <a:solidFill>
                  <a:srgbClr val="64748B"/>
                </a:solidFill>
              </a:rPr>
              <a:t>来源：World Bank WDI / UN World Population Prospects（2024）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03785E-3FC1-434E-84AE-6656A57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扇区等宽｜径向三层合计100%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cbf10ef6a445a"/>
          <a:stretch xmlns:a="http://schemas.openxmlformats.org/drawingml/2006/main"/>
        </p:blipFill>
        <p:spPr>
          <a:xfrm xmlns:a="http://schemas.openxmlformats.org/drawingml/2006/main">
            <a:off x="571500" y="1480283"/>
            <a:ext cx="7239000" cy="4640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56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2026-08-23T18:48:51.0180000Z</dcterms:created>
  <dcterms:modified xsi:type="dcterms:W3CDTF">2026-08-23T18:48:51.0180000Z</dcterms:modified>
</coreProperties>
</file>