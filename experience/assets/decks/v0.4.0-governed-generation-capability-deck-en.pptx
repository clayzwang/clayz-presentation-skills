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3eead4668c4916" /><Relationship Type="http://schemas.openxmlformats.org/officeDocument/2006/relationships/extended-properties" Target="/docProps/app.xml" Id="R4dcf96c19d974202" /><Relationship Type="http://schemas.openxmlformats.org/officeDocument/2006/relationships/officeDocument" Target="/ppt/presentation.xml" Id="Rddc6726e16e641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4124b234074338"/>
  </p:sldMasterIdLst>
  <p:notesMasterIdLst>
    <p:notesMasterId xmlns:r="http://schemas.openxmlformats.org/officeDocument/2006/relationships" r:id="Rb7a467cf47fe489f"/>
  </p:notesMasterIdLst>
  <p:sldIdLst>
    <p:sldId xmlns:r="http://schemas.openxmlformats.org/officeDocument/2006/relationships" id="256" r:id="Rb0a5a2077af84a8a"/>
    <p:sldId xmlns:r="http://schemas.openxmlformats.org/officeDocument/2006/relationships" id="257" r:id="R7219509508e648cf"/>
    <p:sldId xmlns:r="http://schemas.openxmlformats.org/officeDocument/2006/relationships" id="258" r:id="R189a425deacc40c2"/>
    <p:sldId xmlns:r="http://schemas.openxmlformats.org/officeDocument/2006/relationships" id="259" r:id="R785289f3466d4430"/>
    <p:sldId xmlns:r="http://schemas.openxmlformats.org/officeDocument/2006/relationships" id="260" r:id="R44987aba33a147b8"/>
    <p:sldId xmlns:r="http://schemas.openxmlformats.org/officeDocument/2006/relationships" id="261" r:id="R007dcc81010a4baa"/>
    <p:sldId xmlns:r="http://schemas.openxmlformats.org/officeDocument/2006/relationships" id="262" r:id="Ra2e4e05f2c044651"/>
    <p:sldId xmlns:r="http://schemas.openxmlformats.org/officeDocument/2006/relationships" id="263" r:id="R1b4e174d31db4447"/>
    <p:sldId xmlns:r="http://schemas.openxmlformats.org/officeDocument/2006/relationships" id="264" r:id="Rfed9854be6dd41a6"/>
    <p:sldId xmlns:r="http://schemas.openxmlformats.org/officeDocument/2006/relationships" id="265" r:id="R041198044dcc4d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8dc8524cfa4b3a" /><Relationship Type="http://schemas.openxmlformats.org/officeDocument/2006/relationships/slideMaster" Target="/ppt/slideMasters/slideMaster1.xml" Id="R104124b234074338" /><Relationship Type="http://schemas.openxmlformats.org/officeDocument/2006/relationships/notesMaster" Target="/ppt/notesMasters/notesMaster1.xml" Id="Rb7a467cf47fe489f" /><Relationship Type="http://schemas.openxmlformats.org/officeDocument/2006/relationships/presProps" Target="/ppt/presProps.xml" Id="R86389de6e4d94e11" /><Relationship Type="http://schemas.openxmlformats.org/officeDocument/2006/relationships/viewProps" Target="/ppt/viewProps.xml" Id="R9455895648b64635" /><Relationship Type="http://schemas.openxmlformats.org/officeDocument/2006/relationships/tableStyles" Target="/ppt/tableStyles.xml" Id="R3385715e95be491f" /><Relationship Type="http://schemas.openxmlformats.org/officeDocument/2006/relationships/slide" Target="/ppt/slides/slide1.xml" Id="Rb0a5a2077af84a8a" /><Relationship Type="http://schemas.openxmlformats.org/officeDocument/2006/relationships/slide" Target="/ppt/slides/slide2.xml" Id="R7219509508e648cf" /><Relationship Type="http://schemas.openxmlformats.org/officeDocument/2006/relationships/slide" Target="/ppt/slides/slide3.xml" Id="R189a425deacc40c2" /><Relationship Type="http://schemas.openxmlformats.org/officeDocument/2006/relationships/slide" Target="/ppt/slides/slide4.xml" Id="R785289f3466d4430" /><Relationship Type="http://schemas.openxmlformats.org/officeDocument/2006/relationships/slide" Target="/ppt/slides/slide5.xml" Id="R44987aba33a147b8" /><Relationship Type="http://schemas.openxmlformats.org/officeDocument/2006/relationships/slide" Target="/ppt/slides/slide6.xml" Id="R007dcc81010a4baa" /><Relationship Type="http://schemas.openxmlformats.org/officeDocument/2006/relationships/slide" Target="/ppt/slides/slide7.xml" Id="Ra2e4e05f2c044651" /><Relationship Type="http://schemas.openxmlformats.org/officeDocument/2006/relationships/slide" Target="/ppt/slides/slide8.xml" Id="R1b4e174d31db4447" /><Relationship Type="http://schemas.openxmlformats.org/officeDocument/2006/relationships/slide" Target="/ppt/slides/slide9.xml" Id="Rfed9854be6dd41a6" /><Relationship Type="http://schemas.openxmlformats.org/officeDocument/2006/relationships/slide" Target="/ppt/slides/slide10.xml" Id="R041198044dcc4d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e7c2ac34f349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Consulting Blue">
      <a:dk1>
        <a:srgbClr val="051C2C"/>
      </a:dk1>
      <a:lt1>
        <a:srgbClr val="FFFFFF"/>
      </a:lt1>
      <a:dk2>
        <a:srgbClr val="153E5C"/>
      </a:dk2>
      <a:lt2>
        <a:srgbClr val="D6DEE3"/>
      </a:lt2>
      <a:accent1>
        <a:srgbClr val="2251FF"/>
      </a:accent1>
      <a:accent2>
        <a:srgbClr val="00A9F4"/>
      </a:accent2>
      <a:accent3>
        <a:srgbClr val="007C91"/>
      </a:accent3>
      <a:accent4>
        <a:srgbClr val="B26A00"/>
      </a:accent4>
      <a:accent5>
        <a:srgbClr val="B73A3A"/>
      </a:accent5>
      <a:accent6>
        <a:srgbClr val="5B6770"/>
      </a:accent6>
      <a:hlink>
        <a:srgbClr val="2251FF"/>
      </a:hlink>
      <a:folHlink>
        <a:srgbClr val="007C91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nsulting Blue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84c9953f614586" /><Relationship Type="http://schemas.openxmlformats.org/officeDocument/2006/relationships/notesMaster" Target="/ppt/notesMasters/notesMaster1.xml" Id="Rf3d0aa9409f84b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d21aeb836e42ce" /><Relationship Type="http://schemas.openxmlformats.org/officeDocument/2006/relationships/notesMaster" Target="/ppt/notesMasters/notesMaster1.xml" Id="Rb38bf9d037d840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1b6258e1544b84" /><Relationship Type="http://schemas.openxmlformats.org/officeDocument/2006/relationships/notesMaster" Target="/ppt/notesMasters/notesMaster1.xml" Id="R7bff1a3ce9a348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afb52e762243e7" /><Relationship Type="http://schemas.openxmlformats.org/officeDocument/2006/relationships/notesMaster" Target="/ppt/notesMasters/notesMaster1.xml" Id="Rd883d50129a34c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6c11e01c6b4f54" /><Relationship Type="http://schemas.openxmlformats.org/officeDocument/2006/relationships/notesMaster" Target="/ppt/notesMasters/notesMaster1.xml" Id="Re20556346c9544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7f9ebe0d384a65" /><Relationship Type="http://schemas.openxmlformats.org/officeDocument/2006/relationships/notesMaster" Target="/ppt/notesMasters/notesMaster1.xml" Id="R4a217aeee04640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2682d29b4340bf" /><Relationship Type="http://schemas.openxmlformats.org/officeDocument/2006/relationships/notesMaster" Target="/ppt/notesMasters/notesMaster1.xml" Id="R03e4a6bcb3fc4a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5ca1f5a67a4ec4" /><Relationship Type="http://schemas.openxmlformats.org/officeDocument/2006/relationships/notesMaster" Target="/ppt/notesMasters/notesMaster1.xml" Id="Radca4cf354454f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a33aab6d794575" /><Relationship Type="http://schemas.openxmlformats.org/officeDocument/2006/relationships/notesMaster" Target="/ppt/notesMasters/notesMaster1.xml" Id="Rb2410b031e7f43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c83b3be6264726" /><Relationship Type="http://schemas.openxmlformats.org/officeDocument/2006/relationships/notesMaster" Target="/ppt/notesMasters/notesMaster1.xml" Id="R537695f67ce247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implementation: packages/layout/layout_contract.py and packages/layout/solve_relative_layout.py</a:t>
            </a:r>
          </a:p>
          <a:p xmlns:a="http://schemas.openxmlformats.org/drawingml/2006/main">
            <a:r>
              <a:t>- Local schemas and fixture: packages/contracts/layout-contract*.schema.json; examples/synthetic-layout-contract/</a:t>
            </a:r>
          </a:p>
          <a:p xmlns:a="http://schemas.openxmlformats.org/drawingml/2006/main">
            <a:r>
              <a:t>- Conceptual influence only: https://github.com/zcag/tahta/tree/7720bc9fc139e8561c282259a4a2519b0c0877bd (MIT). No upstream code, contract, layout, variant, font, asset, theme, template, or media 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regression tests: tests/test_layout_contracts.py (8 Stage 3 tests)</a:t>
            </a:r>
          </a:p>
          <a:p xmlns:a="http://schemas.openxmlformats.org/drawingml/2006/main">
            <a:r>
              <a:t>- Full repository validation: scripts/validate_all.py; 38 tests passed on 2026-08-23</a:t>
            </a:r>
          </a:p>
          <a:p xmlns:a="http://schemas.openxmlformats.org/drawingml/2006/main">
            <a:r>
              <a:t>- Synthetic evidence only: examples/synthetic-layout-contract/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implementation: packages/patterns/pattern_library.py</a:t>
            </a:r>
          </a:p>
          <a:p xmlns:a="http://schemas.openxmlformats.org/drawingml/2006/main">
            <a:r>
              <a:t>- Local contracts: packages/contracts/composition-pattern*.schema.json; packages/contracts/failure-pattern.schema.json</a:t>
            </a:r>
          </a:p>
          <a:p xmlns:a="http://schemas.openxmlformats.org/drawingml/2006/main">
            <a:r>
              <a:t>- Synthetic evidence: examples/synthetic-pattern-library/comparison-request.json; comparison-pattern-receipt.json; comparison-failure-receipt.json; comparison-composition-plan.json</a:t>
            </a:r>
          </a:p>
          <a:p xmlns:a="http://schemas.openxmlformats.org/drawingml/2006/main">
            <a:r>
              <a:t>- Conceptual references only: https://github.com/MiniMax-AI/skills/tree/60aaae52bb2af8162732751a4332f62a5fef518b; https://github.com/HKUDS/PosterCopilot/tree/aa1de672034facb9e2b7b472ab6ea56234a5b80c; https://github.com/PKU-YuanGroup/PosterVerse/tree/158104943e2f0fd33167cfed0ac7ffa09e2c9e6e. No upstream code, assets, data, templates, fonts, or models 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exporter and validator: packages/patterns/pattern_library.py; scripts/validate_pattern_library.py</a:t>
            </a:r>
          </a:p>
          <a:p xmlns:a="http://schemas.openxmlformats.org/drawingml/2006/main">
            <a:r>
              <a:t>- Local schemas: packages/contracts/reference-record.schema.json; sequence-record.schema.json; metadata-dataset-export.schema.json</a:t>
            </a:r>
          </a:p>
          <a:p xmlns:a="http://schemas.openxmlformats.org/drawingml/2006/main">
            <a:r>
              <a:t>- Synthetic dataset fixture: examples/synthetic-pattern-library/metadata-dataset-export.json (11 Stage 4 records; provider snapshot contains 24 public catalog records)</a:t>
            </a:r>
          </a:p>
          <a:p xmlns:a="http://schemas.openxmlformats.org/drawingml/2006/main">
            <a:r>
              <a:t>- Local regression suite: tests/test_pattern_library.py (10 Stage 4 tests); scripts/validate_all.py (48 tests passed on 2026-08-23)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feedback runtime: packages/feedback/learning.py</a:t>
            </a:r>
          </a:p>
          <a:p xmlns:a="http://schemas.openxmlformats.org/drawingml/2006/main">
            <a:r>
              <a:t>- Local contracts: packages/contracts/learning-record.schema.json; packages/contracts/learning-admission.schema.json; packages/contracts/feedback-index-report.schema.json</a:t>
            </a:r>
          </a:p>
          <a:p xmlns:a="http://schemas.openxmlformats.org/drawingml/2006/main">
            <a:r>
              <a:t>- Synthetic evidence: examples/synthetic-feedback-loop/learning-records.jsonl; learning-admissions.jsonl; feedback-index-report.json</a:t>
            </a:r>
          </a:p>
          <a:p xmlns:a="http://schemas.openxmlformats.org/drawingml/2006/main">
            <a:r>
              <a:t>- Local governance: packages/contracts/knowledge-learning.md; skills/clayz-presentation-supervisor/references/feedback-index-routing.md</a:t>
            </a:r>
          </a:p>
          <a:p xmlns:a="http://schemas.openxmlformats.org/drawingml/2006/main">
            <a:r>
              <a:t>- No upstream code, presentation assets, templates, masters, fonts, corporate data, datasets, model features, or model weights 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benchmark: packages/feedback/benchmark.py; examples/synthetic-feedback-loop/retrieval-benchmark.json; retrieval-benchmark-report.json</a:t>
            </a:r>
          </a:p>
          <a:p xmlns:a="http://schemas.openxmlformats.org/drawingml/2006/main">
            <a:r>
              <a:t>- Local migration: packages/feedback/migration.py; examples/synthetic-feedback-loop/legacy-migration-report.json</a:t>
            </a:r>
          </a:p>
          <a:p xmlns:a="http://schemas.openxmlformats.org/drawingml/2006/main">
            <a:r>
              <a:t>- Local readiness: packages/feedback/readiness.py; release/v0.4.0-readiness.json</a:t>
            </a:r>
          </a:p>
          <a:p xmlns:a="http://schemas.openxmlformats.org/drawingml/2006/main">
            <a:r>
              <a:t>- Local validation: tests/test_feedback_benchmark.py (11 Stage 5 tests); scripts/validate_all.py (59 tests passed on 2026-08-23)</a:t>
            </a:r>
          </a:p>
          <a:p xmlns:a="http://schemas.openxmlformats.org/drawingml/2006/main">
            <a:r>
              <a:t>- No upstream code, presentation assets, templates, masters, fonts, corporate data, datasets, model features, or model weights 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85b8516aab487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9ea1b311574fb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289d2777be49b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0a02dc82bd466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4c958e9bf149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c06a8f4400405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778278fe584e7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63092c71fb489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b893ea0e4941c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bda34ee327488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e9a14c6a894d1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8363074dd44ea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84278e5e9d4b8e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DBA26CC-35C6-4C53-8470-0DAFBED38B2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1F195FA-54AD-4672-80E3-10B3B8BF727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540FF8B-A06C-4AF9-B9C1-B8E55BCEB3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2026/8/23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70D5008-23EE-41C7-922C-2E79D0C04A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BEE13FF-8685-4663-A2A4-067E75E683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107D890-ED7B-4D2C-8522-ED4EED241F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39DC10F-7E5F-4A21-AAD9-FC4E759FDD3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A076387-D044-493E-BD16-3D66B8CF82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2026/8/23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8292CDB-8E75-4ECB-AC81-138F84D746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E5010F3-772C-44F3-AA6C-678D5167C4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3066835-2F40-49B1-B313-59B9518516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E83A691-697D-464E-B9B4-098B0AFF52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01EFCFF-D5AB-4281-8102-C9CBE867DE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2026/8/23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E5C383C-CF11-4CDA-974A-B12558F469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69BC40B-3B7C-426E-89F8-6EE6FCE394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DA64E67-D55F-44B1-8721-29D9200A15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228D526-0258-491B-AE10-2E493EA2384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B9416EF-AEE8-4718-9AD7-A8CF6B78753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F7393AB-926C-4F52-86D3-2CF3C264A4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2026/8/23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F7A5548-BFE9-44C7-B011-43F399041D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2D773E7E-D909-4DF0-957B-556A26AF42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12091B6-8C21-4A6A-9D83-D0B6683569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227C165-D237-4B93-91A0-6E4CF26A26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50D0934-45D7-4F1F-873E-B375E7F0A7C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017EE200-7D5D-49AF-82D9-FD1A99AAFFF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1FEB0CA6-B8D3-4422-9CE3-A69162A343E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4C3D0223-8C19-4A8B-9089-8E0EA56C4A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2026/8/23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3D9D917-C463-46DD-94FF-3BD2972FE1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2608368-FCF8-4B7E-B967-5679D7F855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125260C-A7B4-4F9E-ABE9-AA98EF69D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1CB70C6-1191-4C70-9827-99B695CCE0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2026/8/23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6F06D2D-3480-47EE-9D9A-4FA4A67168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89C5AAB8-F4DA-4B0D-8AF7-BBCD092593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C9BB81C-51B1-4F6C-B4EF-9FC09BD900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2026/8/23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8A6CC0A-EFF7-4A43-9428-4EFBE26216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9D6B76F1-1914-4A53-A062-6E278831A4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4F78D46-900B-4DBA-B123-5D5E1D7024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D1CE42-DEF7-4D3C-BB5C-907257EAAB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0089BA9-21AB-4332-8880-7A67C0FDFDA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4D6AA21-1FA0-4733-9E17-1E953B6205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2026/8/23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BAA5005-51C5-4CD1-ADC5-97E4A6CD77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8B96BC5-1C66-474B-BA22-34842C66C1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2238B40-2880-4F4F-9D45-AED64C774D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A862E81C-8525-4475-B3EF-C8AD38A58E7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857097D-F5B6-453C-9522-762A504DF8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A8A7029-FE6C-4C32-9487-11AC8E5ABA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2026/8/23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32F78CF-59F5-4549-8D54-A8B5D7F4DF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225C3FE-07A2-4E50-8C8A-C85ECCE8BD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4197CF-B0A9-4C21-8D09-BC93FD7735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6A1FFE03-6D1D-48F1-B723-0FE7A3DC7E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2B3EDD-8517-4826-865E-95B625D11D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2026/8/23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D4A5C6E-CDA5-465C-BC52-4D83D085CD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1F54017-63BF-45BA-B008-1ADD7BCAC6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D6883ACB-97BD-4427-9EAF-23DA58FB11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8FFA5022-75B6-4A81-B01B-F54CFCA68D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4525E23-F4FA-426B-8F1B-40DBCAE456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2026/8/23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D6AE3D6-27EB-45F1-B630-1527386488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B4E5716-F9BD-499F-AAFB-AA46BC4EFD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18cd79457e4eff" /><Relationship Type="http://schemas.openxmlformats.org/officeDocument/2006/relationships/slideLayout" Target="/ppt/slideLayouts/slideLayout1.xml" Id="Rd4f6884ffb5e4b1d" /><Relationship Type="http://schemas.openxmlformats.org/officeDocument/2006/relationships/slideLayout" Target="/ppt/slideLayouts/slideLayout2.xml" Id="Rdf3220d205554ef6" /><Relationship Type="http://schemas.openxmlformats.org/officeDocument/2006/relationships/slideLayout" Target="/ppt/slideLayouts/slideLayout3.xml" Id="Ra29f64c782844535" /><Relationship Type="http://schemas.openxmlformats.org/officeDocument/2006/relationships/slideLayout" Target="/ppt/slideLayouts/slideLayout4.xml" Id="Rce77aef3a9c64095" /><Relationship Type="http://schemas.openxmlformats.org/officeDocument/2006/relationships/slideLayout" Target="/ppt/slideLayouts/slideLayout5.xml" Id="R8e91e39958a24e8c" /><Relationship Type="http://schemas.openxmlformats.org/officeDocument/2006/relationships/slideLayout" Target="/ppt/slideLayouts/slideLayout6.xml" Id="Rd4159c5bf9cd4dbb" /><Relationship Type="http://schemas.openxmlformats.org/officeDocument/2006/relationships/slideLayout" Target="/ppt/slideLayouts/slideLayout7.xml" Id="R0e7c409f30f74c4e" /><Relationship Type="http://schemas.openxmlformats.org/officeDocument/2006/relationships/slideLayout" Target="/ppt/slideLayouts/slideLayout8.xml" Id="R576665424da44649" /><Relationship Type="http://schemas.openxmlformats.org/officeDocument/2006/relationships/slideLayout" Target="/ppt/slideLayouts/slideLayout9.xml" Id="Rfbfe283bd7374fee" /><Relationship Type="http://schemas.openxmlformats.org/officeDocument/2006/relationships/slideLayout" Target="/ppt/slideLayouts/slideLayout10.xml" Id="R0e9608cb7f3a46f1" /><Relationship Type="http://schemas.openxmlformats.org/officeDocument/2006/relationships/slideLayout" Target="/ppt/slideLayouts/slideLayout11.xml" Id="Rdf1f25aa067b4db9" /><Relationship Type="http://schemas.openxmlformats.org/officeDocument/2006/relationships/slideLayout" Target="/ppt/slideLayouts/slideLayout12.xml" Id="R547fc31075ea44eb" /><Relationship Type="http://schemas.openxmlformats.org/officeDocument/2006/relationships/slideLayout" Target="/ppt/slideLayouts/slideLayout13.xml" Id="Rf40c019cf1004f0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DB63595A-894F-4F30-9E9C-F48B18C249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8DDD7C-E9E2-4367-B58F-38EBC058AB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9CBDBA6-A799-4B29-9EAE-27130D01FDB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997B5FA-0921-464F-AAE1-844C04324D75}" type="datetimeFigureOut">
              <a:t>2026/8/23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D47D6A6-5DBA-4C6F-BBEA-DAE18E2C1B8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25CCA88-A525-4D61-A6DD-7D577C69EBA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f6884ffb5e4b1d"/>
    <p:sldLayoutId xmlns:r="http://schemas.openxmlformats.org/officeDocument/2006/relationships" id="2147483650" r:id="Rdf3220d205554ef6"/>
    <p:sldLayoutId xmlns:r="http://schemas.openxmlformats.org/officeDocument/2006/relationships" id="2147483651" r:id="Ra29f64c782844535"/>
    <p:sldLayoutId xmlns:r="http://schemas.openxmlformats.org/officeDocument/2006/relationships" id="2147483652" r:id="Rce77aef3a9c64095"/>
    <p:sldLayoutId xmlns:r="http://schemas.openxmlformats.org/officeDocument/2006/relationships" id="2147483653" r:id="R8e91e39958a24e8c"/>
    <p:sldLayoutId xmlns:r="http://schemas.openxmlformats.org/officeDocument/2006/relationships" id="2147483654" r:id="Rd4159c5bf9cd4dbb"/>
    <p:sldLayoutId xmlns:r="http://schemas.openxmlformats.org/officeDocument/2006/relationships" id="2147483655" r:id="R0e7c409f30f74c4e"/>
    <p:sldLayoutId xmlns:r="http://schemas.openxmlformats.org/officeDocument/2006/relationships" id="2147483656" r:id="R576665424da44649"/>
    <p:sldLayoutId xmlns:r="http://schemas.openxmlformats.org/officeDocument/2006/relationships" id="2147483657" r:id="Rfbfe283bd7374fee"/>
    <p:sldLayoutId xmlns:r="http://schemas.openxmlformats.org/officeDocument/2006/relationships" id="2147483658" r:id="R0e9608cb7f3a46f1"/>
    <p:sldLayoutId xmlns:r="http://schemas.openxmlformats.org/officeDocument/2006/relationships" id="2147483659" r:id="Rdf1f25aa067b4db9"/>
    <p:sldLayoutId xmlns:r="http://schemas.openxmlformats.org/officeDocument/2006/relationships" id="2147483660" r:id="R547fc31075ea44eb"/>
    <p:sldLayoutId xmlns:r="http://schemas.openxmlformats.org/officeDocument/2006/relationships" id="2147483661" r:id="Rf40c019cf1004f0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188f1fa81594cf2" /><Relationship Type="http://schemas.openxmlformats.org/officeDocument/2006/relationships/notesSlide" Target="/ppt/notesSlides/notesSlide1.xml" Id="Racbcb11c17b048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be8add8a70d4e28" /><Relationship Type="http://schemas.openxmlformats.org/officeDocument/2006/relationships/notesSlide" Target="/ppt/notesSlides/notesSlide2.xml" Id="Rb5c2b339b18944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fc3362e17f64824" /><Relationship Type="http://schemas.openxmlformats.org/officeDocument/2006/relationships/notesSlide" Target="/ppt/notesSlides/notesSlide3.xml" Id="R28b7baf2cb224c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3096037540d43e0" /><Relationship Type="http://schemas.openxmlformats.org/officeDocument/2006/relationships/notesSlide" Target="/ppt/notesSlides/notesSlide4.xml" Id="R6af55eb83af74d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e0f55d3393dc44ab" /><Relationship Type="http://schemas.openxmlformats.org/officeDocument/2006/relationships/notesSlide" Target="/ppt/notesSlides/notesSlide5.xml" Id="Rc6747de9fbc042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e5096b0780384e13" /><Relationship Type="http://schemas.openxmlformats.org/officeDocument/2006/relationships/notesSlide" Target="/ppt/notesSlides/notesSlide6.xml" Id="R2335e6c8eed14b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5a671695f4724bea" /><Relationship Type="http://schemas.openxmlformats.org/officeDocument/2006/relationships/notesSlide" Target="/ppt/notesSlides/notesSlide7.xml" Id="Ra40c21013b1a47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b6f5df67d63e4507" /><Relationship Type="http://schemas.openxmlformats.org/officeDocument/2006/relationships/notesSlide" Target="/ppt/notesSlides/notesSlide8.xml" Id="Rda3827d7696d46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70b5dea0bd6843ee" /><Relationship Type="http://schemas.openxmlformats.org/officeDocument/2006/relationships/notesSlide" Target="/ppt/notesSlides/notesSlide9.xml" Id="Rad7a5e255e2e49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1dab7c192f7b450b" /><Relationship Type="http://schemas.openxmlformats.org/officeDocument/2006/relationships/notesSlide" Target="/ppt/notesSlides/notesSlide10.xml" Id="Rccfda940a75b402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F548BD7-B77C-40D4-825D-8E8FCD9E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50">
                <a:solidFill>
                  <a:srgbClr val="2251FF"/>
                </a:solidFill>
                <a:latin typeface="Noto Sans CJK SC"/>
                <a:ea typeface="Noto Sans CJK SC"/>
                <a:cs typeface="Noto Sans CJK SC"/>
              </a:rPr>
              <a:t>STAGE 01 / INDEX FOUNDATION</a:t>
            </a:r>
            <a:endParaRPr sz="9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8E8F1C2-91AE-4CEF-9A8B-EABD09B8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30352"/>
            <a:ext cx="81381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051C2C"/>
                </a:solidFill>
                <a:latin typeface="Noto Sans CJK SC"/>
                <a:ea typeface="Noto Sans CJK SC"/>
                <a:cs typeface="Noto Sans CJK SC"/>
              </a:rPr>
              <a:t>The Index Becomes First-Class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FFA2C0D-873F-43AA-B78F-7DD51FD1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078992"/>
            <a:ext cx="868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20">
                <a:solidFill>
                  <a:srgbClr val="5B6770"/>
                </a:solidFill>
                <a:latin typeface="Noto Sans CJK SC"/>
                <a:ea typeface="Noto Sans CJK SC"/>
                <a:cs typeface="Noto Sans CJK SC"/>
              </a:rPr>
              <a:t>Not “just another search box”: provenance, licenses, provider identity, and selection evidence enter the production chain.</a:t>
            </a:r>
            <a:endParaRPr sz="112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6FAC0A8-53D2-4C94-93C8-8C4BC11F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0040"/>
            <a:ext cx="1828800" cy="310896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12700">
            <a:solidFill>
              <a:srgbClr val="051C2C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A8F5C5D-2E12-4399-B90E-9840F597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4612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UNRELEASED · v0.3.0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7B358F2-196D-42B1-96F1-121E2520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81328"/>
            <a:ext cx="111739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DEE3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0F9CC61-F0FB-492C-9DC0-F1DF66F8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91640"/>
            <a:ext cx="1673352" cy="658368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2700">
            <a:solidFill>
              <a:srgbClr val="E8F1F8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1B092C5-A7CA-4B82-BECA-045EBBC4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1764792"/>
            <a:ext cx="14173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2251FF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sz="2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1F2F6D5-79C8-40C3-8BE2-1CB60289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2084832"/>
            <a:ext cx="1417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30">
                <a:solidFill>
                  <a:srgbClr val="153E5C"/>
                </a:solidFill>
                <a:latin typeface="Noto Sans CJK SC"/>
                <a:ea typeface="Noto Sans CJK SC"/>
                <a:cs typeface="Noto Sans CJK SC"/>
              </a:rPr>
              <a:t>Independent providers; provenance intact</a:t>
            </a:r>
            <a:endParaRPr sz="83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E9B87FE-109C-4CEF-9BC4-A262D861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91640"/>
            <a:ext cx="1673352" cy="658368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5F3F6"/>
          </a:solidFill>
          <a:ln xmlns:a="http://schemas.openxmlformats.org/drawingml/2006/main" w="12700">
            <a:solidFill>
              <a:srgbClr val="E5F3F6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80DAEED-E01F-44D1-9CD4-DE34F802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016" y="1764792"/>
            <a:ext cx="14173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007C91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sz="2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3BF0AAB-6AE9-40DB-8711-7411009A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016" y="2084832"/>
            <a:ext cx="1417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30">
                <a:solidFill>
                  <a:srgbClr val="153E5C"/>
                </a:solidFill>
                <a:latin typeface="Noto Sans CJK SC"/>
                <a:ea typeface="Noto Sans CJK SC"/>
                <a:cs typeface="Noto Sans CJK SC"/>
              </a:rPr>
              <a:t>Candidates available in public mode</a:t>
            </a:r>
            <a:endParaRPr sz="83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C936115-D89E-402E-96B5-ED432D59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691640"/>
            <a:ext cx="1673352" cy="658368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E8E6"/>
          </a:solidFill>
          <a:ln xmlns:a="http://schemas.openxmlformats.org/drawingml/2006/main" w="12700">
            <a:solidFill>
              <a:srgbClr val="F7E8E6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10BBB25-A824-4549-974D-A625B0A2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096" y="1764792"/>
            <a:ext cx="14173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B73A3A"/>
                </a:solidFill>
                <a:latin typeface="Noto Sans CJK SC"/>
                <a:ea typeface="Noto Sans CJK SC"/>
                <a:cs typeface="Noto Sans CJK SC"/>
              </a:rPr>
              <a:t>0</a:t>
            </a:r>
            <a:endParaRPr sz="21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4CC3995-E8A0-48A8-81DA-1FF9915F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096" y="2084832"/>
            <a:ext cx="1417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30">
                <a:solidFill>
                  <a:srgbClr val="153E5C"/>
                </a:solidFill>
                <a:latin typeface="Noto Sans CJK SC"/>
                <a:ea typeface="Noto Sans CJK SC"/>
                <a:cs typeface="Noto Sans CJK SC"/>
              </a:rPr>
              <a:t>Records permitted to be invented</a:t>
            </a:r>
            <a:endParaRPr sz="83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0DB3A73-834A-4193-8D8E-D3EA8CAC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42032"/>
            <a:ext cx="2048256" cy="3529584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12700">
            <a:solidFill>
              <a:srgbClr val="051C2C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22DB8DF-4351-42FE-9542-289C7611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4056"/>
            <a:ext cx="1389888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51FF"/>
          </a:solidFill>
          <a:ln xmlns:a="http://schemas.openxmlformats.org/drawingml/2006/main" w="12700">
            <a:solidFill>
              <a:srgbClr val="2251FF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0C5F-ED5C-4F1C-9DBE-8D964BC4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8628"/>
            <a:ext cx="138988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STRUCTURED REQUEST</a:t>
            </a:r>
            <a:endParaRPr sz="78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84646A7-A86C-4AD3-B4FA-393FD80B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7248"/>
            <a:ext cx="15727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What must this slide solve?</a:t>
            </a:r>
            <a:endParaRPr sz="17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676AFD1-CC99-436F-9F99-87C1D5A3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4760"/>
            <a:ext cx="640080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60">
                <a:solidFill>
                  <a:srgbClr val="A8B5BE"/>
                </a:solidFill>
                <a:latin typeface="Noto Sans CJK SC"/>
                <a:ea typeface="Noto Sans CJK SC"/>
                <a:cs typeface="Noto Sans CJK SC"/>
              </a:rPr>
              <a:t>stage</a:t>
            </a:r>
            <a:endParaRPr sz="76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BA04030-DF12-444B-84CD-36717334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785616"/>
            <a:ext cx="94183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art-direction</a:t>
            </a:r>
            <a:endParaRPr sz="86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C5A08C8-F358-4E66-B6EA-2800AC5F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9936"/>
            <a:ext cx="15910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5B6770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6C7E37A-2802-4DA0-8307-A678DB0D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0248"/>
            <a:ext cx="640080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60">
                <a:solidFill>
                  <a:srgbClr val="A8B5BE"/>
                </a:solidFill>
                <a:latin typeface="Noto Sans CJK SC"/>
                <a:ea typeface="Noto Sans CJK SC"/>
                <a:cs typeface="Noto Sans CJK SC"/>
              </a:rPr>
              <a:t>page_role</a:t>
            </a:r>
            <a:endParaRPr sz="76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7A1F02A-61E7-47A7-A6B2-99FD370D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261104"/>
            <a:ext cx="94183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comparison</a:t>
            </a:r>
            <a:endParaRPr sz="86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0D8E157-9E15-4214-89C3-DC909A10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5424"/>
            <a:ext cx="15910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5B6770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FC63E89-24B1-447E-B472-856A079A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5736"/>
            <a:ext cx="640080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60">
                <a:solidFill>
                  <a:srgbClr val="A8B5BE"/>
                </a:solidFill>
                <a:latin typeface="Noto Sans CJK SC"/>
                <a:ea typeface="Noto Sans CJK SC"/>
                <a:cs typeface="Noto Sans CJK SC"/>
              </a:rPr>
              <a:t>purpose</a:t>
            </a:r>
            <a:endParaRPr sz="76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6F706ED-BD1A-4C22-B8E1-108CBBA9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736592"/>
            <a:ext cx="94183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high-density</a:t>
            </a:r>
            <a:endParaRPr sz="86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96ED4F08-CCE4-4F34-B509-3478F0C0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912"/>
            <a:ext cx="15910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5B6770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42C85CEC-C72E-4DAF-A6EB-BFB602F3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1224"/>
            <a:ext cx="640080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60">
                <a:solidFill>
                  <a:srgbClr val="A8B5BE"/>
                </a:solidFill>
                <a:latin typeface="Noto Sans CJK SC"/>
                <a:ea typeface="Noto Sans CJK SC"/>
                <a:cs typeface="Noto Sans CJK SC"/>
              </a:rPr>
              <a:t>rights</a:t>
            </a:r>
            <a:endParaRPr sz="76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C002302-FEF4-4B7B-B275-0B3C9083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212080"/>
            <a:ext cx="94183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public-open-source</a:t>
            </a:r>
            <a:endParaRPr sz="86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0C29894-220D-4F63-9623-3826C626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13832"/>
            <a:ext cx="157276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60">
                <a:solidFill>
                  <a:srgbClr val="A8B5BE"/>
                </a:solidFill>
                <a:latin typeface="Noto Sans CJK SC"/>
                <a:ea typeface="Noto Sans CJK SC"/>
                <a:cs typeface="Noto Sans CJK SC"/>
              </a:rPr>
              <a:t>The request sets task and rights boundaries</a:t>
            </a:r>
            <a:endParaRPr sz="860"/>
          </a:p>
          <a:p xmlns:a="http://schemas.openxmlformats.org/drawingml/2006/main">
            <a:pPr marL="0" indent="0" algn="l">
              <a:buNone/>
            </a:pPr>
            <a:r>
              <a:rPr sz="860">
                <a:solidFill>
                  <a:srgbClr val="A8B5BE"/>
                </a:solidFill>
                <a:latin typeface="Noto Sans CJK SC"/>
                <a:ea typeface="Noto Sans CJK SC"/>
                <a:cs typeface="Noto Sans CJK SC"/>
              </a:rPr>
              <a:t>before retrieval can begin.</a:t>
            </a:r>
            <a:endParaRPr sz="86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F2A65493-EB0F-41CB-A19F-34DF9DB9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2542032"/>
            <a:ext cx="4416552" cy="3529584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12700">
            <a:solidFill>
              <a:srgbClr val="D6DEE3"/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9786F1F0-126E-4D10-AAAE-E124C10A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734056"/>
            <a:ext cx="98755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12700">
            <a:solidFill>
              <a:srgbClr val="051C2C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85A3AC7-7473-4954-BD76-1DF877EE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738628"/>
            <a:ext cx="987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INDEX RUNTIME</a:t>
            </a:r>
            <a:endParaRPr sz="78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B0B3F7A-DFF3-4602-B51E-D12DE02F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099816"/>
            <a:ext cx="3794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051C2C"/>
                </a:solidFill>
                <a:latin typeface="Noto Sans CJK SC"/>
                <a:ea typeface="Noto Sans CJK SC"/>
                <a:cs typeface="Noto Sans CJK SC"/>
              </a:rPr>
              <a:t>Hard filter → structured match → lexical rank → neighbor expansion</a:t>
            </a:r>
            <a:endParaRPr sz="11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1EDD8BE3-0A80-4467-A4FC-80DE028E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401568"/>
            <a:ext cx="37947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70">
                <a:solidFill>
                  <a:srgbClr val="5B6770"/>
                </a:solidFill>
                <a:latin typeface="Noto Sans CJK SC"/>
                <a:ea typeface="Noto Sans CJK SC"/>
                <a:cs typeface="Noto Sans CJK SC"/>
              </a:rPr>
              <a:t>One query reads three providers; every candidate retains its provenance, version, and rights.</a:t>
            </a:r>
            <a:endParaRPr sz="87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C5213082-1C6B-44A1-BBA2-7D23F44C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867912"/>
            <a:ext cx="1225296" cy="1618488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16510">
            <a:solidFill>
              <a:srgbClr val="2251FF"/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6E9D5556-0E00-42EC-A051-9B664BC0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4005072"/>
            <a:ext cx="658368" cy="246888"/>
          </a:xfrm>
          <a:prstGeom xmlns:a="http://schemas.openxmlformats.org/drawingml/2006/main" prst="roundRect">
            <a:avLst>
              <a:gd name="adj" fmla="val 51852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2700">
            <a:solidFill>
              <a:srgbClr val="E8F1F8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BB30B08F-7BFD-491F-A318-3B49B0D7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4009644"/>
            <a:ext cx="65836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2251FF"/>
                </a:solidFill>
                <a:latin typeface="Noto Sans CJK SC"/>
                <a:ea typeface="Noto Sans CJK SC"/>
                <a:cs typeface="Noto Sans CJK SC"/>
              </a:rPr>
              <a:t>BUILT-IN</a:t>
            </a:r>
            <a:endParaRPr sz="82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C8710205-6EA1-45C8-96B4-5BA6DA6D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4343400"/>
            <a:ext cx="93268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20" b="1">
                <a:solidFill>
                  <a:srgbClr val="051C2C"/>
                </a:solidFill>
                <a:latin typeface="Noto Sans CJK SC"/>
                <a:ea typeface="Noto Sans CJK SC"/>
                <a:cs typeface="Noto Sans CJK SC"/>
              </a:rPr>
              <a:t>Built-in Catalog</a:t>
            </a:r>
            <a:endParaRPr sz="132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5C6797E8-DE2B-4F3A-9682-63FDE4A8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4645152"/>
            <a:ext cx="93268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411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70">
                <a:solidFill>
                  <a:srgbClr val="5B6770"/>
                </a:solidFill>
                <a:latin typeface="Noto Sans CJK SC"/>
                <a:ea typeface="Noto Sans CJK SC"/>
                <a:cs typeface="Noto Sans CJK SC"/>
              </a:rPr>
              <a:t>Original contracts and failure modes</a:t>
            </a:r>
            <a:endParaRPr sz="870"/>
          </a:p>
          <a:p xmlns:a="http://schemas.openxmlformats.org/drawingml/2006/main">
            <a:pPr marL="0" indent="0" algn="l">
              <a:buNone/>
            </a:pPr>
            <a:r>
              <a:rPr sz="870">
                <a:solidFill>
                  <a:srgbClr val="5B6770"/>
                </a:solidFill>
                <a:latin typeface="Noto Sans CJK SC"/>
                <a:ea typeface="Noto Sans CJK SC"/>
                <a:cs typeface="Noto Sans CJK SC"/>
              </a:rPr>
              <a:t>safe to distribute with the open-source repo</a:t>
            </a:r>
            <a:endParaRPr sz="87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C54DDEFD-8742-4927-80E9-9542A1AF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5047488"/>
            <a:ext cx="9326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6DEE3"/>
            </a:solidFill>
            <a:prstDash val="solid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5679BB53-7BF3-48C3-8145-8F28A459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5138928"/>
            <a:ext cx="9326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007C91"/>
                </a:solidFill>
                <a:latin typeface="Noto Sans CJK SC"/>
                <a:ea typeface="Noto Sans CJK SC"/>
                <a:cs typeface="Noto Sans CJK SC"/>
              </a:rPr>
              <a:t>Returnable · materializable</a:t>
            </a:r>
            <a:endParaRPr sz="85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F7AEA9D8-145F-4A78-B62A-E391DBAC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696" y="3867912"/>
            <a:ext cx="1225296" cy="1618488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16510">
            <a:solidFill>
              <a:srgbClr val="B26A00"/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00256893-1C5F-4C52-ADF0-1B2DC1F4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5072"/>
            <a:ext cx="713232" cy="246888"/>
          </a:xfrm>
          <a:prstGeom xmlns:a="http://schemas.openxmlformats.org/drawingml/2006/main" prst="roundRect">
            <a:avLst>
              <a:gd name="adj" fmla="val 51852"/>
            </a:avLst>
          </a:prstGeom>
          <a:solidFill xmlns:a="http://schemas.openxmlformats.org/drawingml/2006/main">
            <a:srgbClr val="FFF1DB"/>
          </a:solidFill>
          <a:ln xmlns:a="http://schemas.openxmlformats.org/drawingml/2006/main" w="12700">
            <a:solidFill>
              <a:srgbClr val="FFF1DB"/>
            </a:solidFill>
            <a:prstDash val="solid"/>
          </a:ln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4C7725F0-7291-4E0C-8871-BA068F66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9644"/>
            <a:ext cx="713232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B26A00"/>
                </a:solidFill>
                <a:latin typeface="Noto Sans CJK SC"/>
                <a:ea typeface="Noto Sans CJK SC"/>
                <a:cs typeface="Noto Sans CJK SC"/>
              </a:rPr>
              <a:t>EXTERNAL</a:t>
            </a:r>
            <a:endParaRPr sz="820"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C3F3A00D-55F1-4B2A-8752-B4FFE525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43400"/>
            <a:ext cx="93268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20" b="1">
                <a:solidFill>
                  <a:srgbClr val="051C2C"/>
                </a:solidFill>
                <a:latin typeface="Noto Sans CJK SC"/>
                <a:ea typeface="Noto Sans CJK SC"/>
                <a:cs typeface="Noto Sans CJK SC"/>
              </a:rPr>
              <a:t>Ephemeral External</a:t>
            </a:r>
            <a:endParaRPr sz="132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7D77363A-F3CD-415C-A9E1-C31DB7DF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45152"/>
            <a:ext cx="93268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70">
                <a:solidFill>
                  <a:srgbClr val="5B6770"/>
                </a:solidFill>
                <a:latin typeface="Noto Sans CJK SC"/>
                <a:ea typeface="Noto Sans CJK SC"/>
                <a:cs typeface="Noto Sans CJK SC"/>
              </a:rPr>
              <a:t>Research metadata only</a:t>
            </a:r>
            <a:endParaRPr sz="870"/>
          </a:p>
          <a:p xmlns:a="http://schemas.openxmlformats.org/drawingml/2006/main">
            <a:pPr marL="0" indent="0" algn="l">
              <a:buNone/>
            </a:pPr>
            <a:r>
              <a:rPr sz="870">
                <a:solidFill>
                  <a:srgbClr val="5B6770"/>
                </a:solidFill>
                <a:latin typeface="Noto Sans CJK SC"/>
                <a:ea typeface="Noto Sans CJK SC"/>
                <a:cs typeface="Noto Sans CJK SC"/>
              </a:rPr>
              <a:t>No copied graphics, layouts, or media</a:t>
            </a:r>
            <a:endParaRPr sz="870"/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66544333-47AA-464A-81D8-DEEA6C89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47488"/>
            <a:ext cx="9326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6DEE3"/>
            </a:solidFill>
            <a:prstDash val="solid"/>
          </a:ln>
        </p:spPr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BBDBEF6F-58F6-4676-BD60-CD326712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38928"/>
            <a:ext cx="9326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B26A00"/>
                </a:solidFill>
                <a:latin typeface="Noto Sans CJK SC"/>
                <a:ea typeface="Noto Sans CJK SC"/>
                <a:cs typeface="Noto Sans CJK SC"/>
              </a:rPr>
              <a:t>Returnable · not materializable</a:t>
            </a:r>
            <a:endParaRPr sz="850"/>
          </a:p>
        </p:txBody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24A5ED23-64FB-4A29-A472-0591A01D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3867912"/>
            <a:ext cx="1225296" cy="1618488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16510">
            <a:solidFill>
              <a:srgbClr val="B73A3A"/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3355C9E0-6C52-4697-A270-533DB875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4005072"/>
            <a:ext cx="640080" cy="246888"/>
          </a:xfrm>
          <a:prstGeom xmlns:a="http://schemas.openxmlformats.org/drawingml/2006/main" prst="roundRect">
            <a:avLst>
              <a:gd name="adj" fmla="val 51852"/>
            </a:avLst>
          </a:prstGeom>
          <a:solidFill xmlns:a="http://schemas.openxmlformats.org/drawingml/2006/main">
            <a:srgbClr val="F7E8E6"/>
          </a:solidFill>
          <a:ln xmlns:a="http://schemas.openxmlformats.org/drawingml/2006/main" w="12700">
            <a:solidFill>
              <a:srgbClr val="F7E8E6"/>
            </a:solidFill>
            <a:prstDash val="solid"/>
          </a:ln>
        </p:spPr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B11EFAA1-7FFD-439C-97B6-9A240EAA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4009644"/>
            <a:ext cx="64008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B73A3A"/>
                </a:solidFill>
                <a:latin typeface="Noto Sans CJK SC"/>
                <a:ea typeface="Noto Sans CJK SC"/>
                <a:cs typeface="Noto Sans CJK SC"/>
              </a:rPr>
              <a:t>PRIVATE</a:t>
            </a:r>
            <a:endParaRPr sz="820"/>
          </a:p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DB6CC5D4-22EA-4E2F-B0AF-6E853158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4343400"/>
            <a:ext cx="93268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20" b="1">
                <a:solidFill>
                  <a:srgbClr val="051C2C"/>
                </a:solidFill>
                <a:latin typeface="Noto Sans CJK SC"/>
                <a:ea typeface="Noto Sans CJK SC"/>
                <a:cs typeface="Noto Sans CJK SC"/>
              </a:rPr>
              <a:t>Private Library</a:t>
            </a:r>
            <a:endParaRPr sz="1320"/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FA8993D0-5414-445A-9049-EA085FF9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4645152"/>
            <a:ext cx="93268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411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70">
                <a:solidFill>
                  <a:srgbClr val="5B6770"/>
                </a:solidFill>
                <a:latin typeface="Noto Sans CJK SC"/>
                <a:ea typeface="Noto Sans CJK SC"/>
                <a:cs typeface="Noto Sans CJK SC"/>
              </a:rPr>
              <a:t>Enterprise masters remain owner-local</a:t>
            </a:r>
            <a:endParaRPr sz="870"/>
          </a:p>
          <a:p xmlns:a="http://schemas.openxmlformats.org/drawingml/2006/main">
            <a:pPr marL="0" indent="0" algn="l">
              <a:buNone/>
            </a:pPr>
            <a:r>
              <a:rPr sz="870">
                <a:solidFill>
                  <a:srgbClr val="5B6770"/>
                </a:solidFill>
                <a:latin typeface="Noto Sans CJK SC"/>
                <a:ea typeface="Noto Sans CJK SC"/>
                <a:cs typeface="Noto Sans CJK SC"/>
              </a:rPr>
              <a:t>for authorized use only</a:t>
            </a:r>
            <a:endParaRPr sz="870"/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A24FEABE-8E93-46F0-BE09-41F0AD91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5047488"/>
            <a:ext cx="9326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6DEE3"/>
            </a:solidFill>
            <a:prstDash val="solid"/>
          </a:ln>
        </p:spPr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63AAE277-7F68-41BE-B573-D30F887A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5138928"/>
            <a:ext cx="9326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B73A3A"/>
                </a:solidFill>
                <a:latin typeface="Noto Sans CJK SC"/>
                <a:ea typeface="Noto Sans CJK SC"/>
                <a:cs typeface="Noto Sans CJK SC"/>
              </a:rPr>
              <a:t>Public mode: excluded</a:t>
            </a:r>
            <a:endParaRPr sz="850"/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797F72F0-73FB-4FB2-92EE-7F87C235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5623560"/>
            <a:ext cx="1920240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3F6"/>
          </a:solidFill>
          <a:ln xmlns:a="http://schemas.openxmlformats.org/drawingml/2006/main" w="12700">
            <a:solidFill>
              <a:srgbClr val="E5F3F6"/>
            </a:solidFill>
            <a:prstDash val="solid"/>
          </a:ln>
        </p:spPr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9B5693BD-2439-49DB-9178-49B1152F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5628132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0" b="1">
                <a:solidFill>
                  <a:srgbClr val="007C91"/>
                </a:solidFill>
                <a:latin typeface="Noto Sans CJK SC"/>
                <a:ea typeface="Noto Sans CJK SC"/>
                <a:cs typeface="Noto Sans CJK SC"/>
              </a:rPr>
              <a:t>PROVIDER IDENTITY RETAINED</a:t>
            </a:r>
            <a:endParaRPr sz="780"/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7E76474D-7979-4293-B89E-55939C9E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8" y="5623560"/>
            <a:ext cx="171907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2700">
            <a:solidFill>
              <a:srgbClr val="E8F1F8"/>
            </a:solidFill>
            <a:prstDash val="solid"/>
          </a:ln>
        </p:spPr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E8B3D776-1BFA-4798-A511-7BDB7951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8" y="5628132"/>
            <a:ext cx="17190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0" b="1">
                <a:solidFill>
                  <a:srgbClr val="2251FF"/>
                </a:solidFill>
                <a:latin typeface="Noto Sans CJK SC"/>
                <a:ea typeface="Noto Sans CJK SC"/>
                <a:cs typeface="Noto Sans CJK SC"/>
              </a:rPr>
              <a:t>RIGHTS BEFORE RANKING</a:t>
            </a:r>
            <a:endParaRPr sz="780"/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DD17B952-722F-405D-8696-5BA54219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1176" y="4297680"/>
            <a:ext cx="3017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2251FF"/>
            </a:solidFill>
            <a:prstDash val="solid"/>
            <a:tailEnd type="triangle"/>
          </a:ln>
        </p:spPr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E4D5BF09-C400-4FF6-A607-86D92054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297680"/>
            <a:ext cx="3017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2251FF"/>
            </a:solidFill>
            <a:prstDash val="solid"/>
            <a:tailEnd type="triangle"/>
          </a:ln>
        </p:spPr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8AC70916-3B4A-489A-873F-6C14EC93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2" y="2542032"/>
            <a:ext cx="4105656" cy="3529584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16510">
            <a:solidFill>
              <a:srgbClr val="2251FF"/>
            </a:solidFill>
            <a:prstDash val="solid"/>
          </a:ln>
        </p:spPr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A4E9D35A-8CA3-4502-8379-D3B5D69C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734056"/>
            <a:ext cx="1316736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51FF"/>
          </a:solidFill>
          <a:ln xmlns:a="http://schemas.openxmlformats.org/drawingml/2006/main" w="12700">
            <a:solidFill>
              <a:srgbClr val="2251FF"/>
            </a:solidFill>
            <a:prstDash val="solid"/>
          </a:ln>
        </p:spPr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1EB7A2AD-D32C-4853-AD60-44E2F07C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738628"/>
            <a:ext cx="13167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RETRIEVAL RECEIPT</a:t>
            </a:r>
            <a:endParaRPr sz="780"/>
          </a:p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3411774F-C99C-482D-AA6D-AC132293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3099816"/>
            <a:ext cx="3401568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40" b="1">
                <a:solidFill>
                  <a:srgbClr val="051C2C"/>
                </a:solidFill>
                <a:latin typeface="Noto Sans CJK SC"/>
                <a:ea typeface="Noto Sans CJK SC"/>
                <a:cs typeface="Noto Sans CJK SC"/>
              </a:rPr>
              <a:t>Every retrieval is traceable</a:t>
            </a:r>
            <a:endParaRPr sz="1440"/>
          </a:p>
        </p:txBody>
      </p:sp>
      <p:sp>
        <p:nvSpPr>
          <p:cNvPr id="69" name="Text 67">
            <a:extLst xmlns:a="http://schemas.openxmlformats.org/drawingml/2006/main">
              <a:ext uri="{FF2B5EF4-FFF2-40B4-BE49-F238E27FC236}">
                <a16:creationId xmlns:a16="http://schemas.microsoft.com/office/drawing/2014/main" id="{A3FF3AF8-A98B-40EF-9B92-3616AE80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3401568"/>
            <a:ext cx="34015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70">
                <a:solidFill>
                  <a:srgbClr val="5B6770"/>
                </a:solidFill>
                <a:latin typeface="Noto Sans CJK SC"/>
                <a:ea typeface="Noto Sans CJK SC"/>
                <a:cs typeface="Noto Sans CJK SC"/>
              </a:rPr>
              <a:t>Candidates must be registered; adoption and rejection both require explicit reasons.</a:t>
            </a:r>
            <a:endParaRPr sz="870"/>
          </a:p>
        </p:txBody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5141527C-B39F-4E05-8D44-7E67BC63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3840480"/>
            <a:ext cx="3529584" cy="612648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8890">
            <a:solidFill>
              <a:srgbClr val="D6DEE3"/>
            </a:solidFill>
            <a:prstDash val="solid"/>
          </a:ln>
        </p:spPr>
      </p:sp>
      <p:sp>
        <p:nvSpPr>
          <p:cNvPr id="71" name="Text 69">
            <a:extLst xmlns:a="http://schemas.openxmlformats.org/drawingml/2006/main">
              <a:ext uri="{FF2B5EF4-FFF2-40B4-BE49-F238E27FC236}">
                <a16:creationId xmlns:a16="http://schemas.microsoft.com/office/drawing/2014/main" id="{B79FE9C5-4692-499D-913F-C6A06586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3931920"/>
            <a:ext cx="2240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 b="1">
                <a:solidFill>
                  <a:srgbClr val="153E5C"/>
                </a:solidFill>
                <a:latin typeface="Noto Sans CJK SC"/>
                <a:ea typeface="Noto Sans CJK SC"/>
                <a:cs typeface="Noto Sans CJK SC"/>
              </a:rPr>
              <a:t>layout.compare.evidence-split</a:t>
            </a:r>
            <a:endParaRPr sz="840"/>
          </a:p>
        </p:txBody>
      </p:sp>
      <p:sp>
        <p:nvSpPr>
          <p:cNvPr id="72" name="Text 70">
            <a:extLst xmlns:a="http://schemas.openxmlformats.org/drawingml/2006/main">
              <a:ext uri="{FF2B5EF4-FFF2-40B4-BE49-F238E27FC236}">
                <a16:creationId xmlns:a16="http://schemas.microsoft.com/office/drawing/2014/main" id="{86CF51E7-D154-4A12-804E-B0DB7EC7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4169664"/>
            <a:ext cx="2240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70">
                <a:solidFill>
                  <a:srgbClr val="5B6770"/>
                </a:solidFill>
                <a:latin typeface="Noto Sans CJK SC"/>
                <a:ea typeface="Noto Sans CJK SC"/>
                <a:cs typeface="Noto Sans CJK SC"/>
              </a:rPr>
              <a:t>Built-in · materializable</a:t>
            </a:r>
            <a:endParaRPr sz="770"/>
          </a:p>
        </p:txBody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6D8D48CA-FE49-426C-BEA7-6CF56B28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4005072"/>
            <a:ext cx="658368" cy="246888"/>
          </a:xfrm>
          <a:prstGeom xmlns:a="http://schemas.openxmlformats.org/drawingml/2006/main" prst="roundRect">
            <a:avLst>
              <a:gd name="adj" fmla="val 51852"/>
            </a:avLst>
          </a:prstGeom>
          <a:solidFill xmlns:a="http://schemas.openxmlformats.org/drawingml/2006/main">
            <a:srgbClr val="E5F3F6"/>
          </a:solidFill>
          <a:ln xmlns:a="http://schemas.openxmlformats.org/drawingml/2006/main" w="12700">
            <a:solidFill>
              <a:srgbClr val="E5F3F6"/>
            </a:solidFill>
            <a:prstDash val="solid"/>
          </a:ln>
        </p:spPr>
      </p:sp>
      <p:sp>
        <p:nvSpPr>
          <p:cNvPr id="74" name="Text 72">
            <a:extLst xmlns:a="http://schemas.openxmlformats.org/drawingml/2006/main">
              <a:ext uri="{FF2B5EF4-FFF2-40B4-BE49-F238E27FC236}">
                <a16:creationId xmlns:a16="http://schemas.microsoft.com/office/drawing/2014/main" id="{FEAE15D0-0BAD-4338-9714-4306AADE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4009644"/>
            <a:ext cx="65836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007C91"/>
                </a:solidFill>
                <a:latin typeface="Noto Sans CJK SC"/>
                <a:ea typeface="Noto Sans CJK SC"/>
                <a:cs typeface="Noto Sans CJK SC"/>
              </a:rPr>
              <a:t>ALLOWED</a:t>
            </a:r>
            <a:endParaRPr sz="750"/>
          </a:p>
        </p:txBody>
      </p:sp>
      <p:sp>
        <p:nvSpPr>
          <p:cNvPr id="75" name="Shape 73">
            <a:extLst xmlns:a="http://schemas.openxmlformats.org/drawingml/2006/main">
              <a:ext uri="{FF2B5EF4-FFF2-40B4-BE49-F238E27FC236}">
                <a16:creationId xmlns:a16="http://schemas.microsoft.com/office/drawing/2014/main" id="{2AE0B88F-DBBD-4FE0-87DF-EFD83923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4590288"/>
            <a:ext cx="3529584" cy="612648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8890">
            <a:solidFill>
              <a:srgbClr val="D6DEE3"/>
            </a:solidFill>
            <a:prstDash val="solid"/>
          </a:ln>
        </p:spPr>
      </p:sp>
      <p:sp>
        <p:nvSpPr>
          <p:cNvPr id="76" name="Text 74">
            <a:extLst xmlns:a="http://schemas.openxmlformats.org/drawingml/2006/main">
              <a:ext uri="{FF2B5EF4-FFF2-40B4-BE49-F238E27FC236}">
                <a16:creationId xmlns:a16="http://schemas.microsoft.com/office/drawing/2014/main" id="{B27D8E52-F3DA-4FD8-9E2D-625BCA2D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4681728"/>
            <a:ext cx="2240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40" b="1">
                <a:solidFill>
                  <a:srgbClr val="153E5C"/>
                </a:solidFill>
                <a:latin typeface="Noto Sans CJK SC"/>
                <a:ea typeface="Noto Sans CJK SC"/>
                <a:cs typeface="Noto Sans CJK SC"/>
              </a:rPr>
              <a:t>reference.external.layout-research</a:t>
            </a:r>
            <a:endParaRPr sz="840"/>
          </a:p>
        </p:txBody>
      </p:sp>
      <p:sp>
        <p:nvSpPr>
          <p:cNvPr id="77" name="Text 75">
            <a:extLst xmlns:a="http://schemas.openxmlformats.org/drawingml/2006/main">
              <a:ext uri="{FF2B5EF4-FFF2-40B4-BE49-F238E27FC236}">
                <a16:creationId xmlns:a16="http://schemas.microsoft.com/office/drawing/2014/main" id="{AA825D50-A3C5-45C2-AED5-EF684776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4919472"/>
            <a:ext cx="2240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70">
                <a:solidFill>
                  <a:srgbClr val="5B6770"/>
                </a:solidFill>
                <a:latin typeface="Noto Sans CJK SC"/>
                <a:ea typeface="Noto Sans CJK SC"/>
                <a:cs typeface="Noto Sans CJK SC"/>
              </a:rPr>
              <a:t>External · metadata only</a:t>
            </a:r>
            <a:endParaRPr sz="770"/>
          </a:p>
        </p:txBody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FB8EBA56-94A2-4A40-B505-8C54F9D5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4754880"/>
            <a:ext cx="658368" cy="246888"/>
          </a:xfrm>
          <a:prstGeom xmlns:a="http://schemas.openxmlformats.org/drawingml/2006/main" prst="roundRect">
            <a:avLst>
              <a:gd name="adj" fmla="val 51852"/>
            </a:avLst>
          </a:prstGeom>
          <a:solidFill xmlns:a="http://schemas.openxmlformats.org/drawingml/2006/main">
            <a:srgbClr val="FFF1DB"/>
          </a:solidFill>
          <a:ln xmlns:a="http://schemas.openxmlformats.org/drawingml/2006/main" w="12700">
            <a:solidFill>
              <a:srgbClr val="FFF1DB"/>
            </a:solidFill>
            <a:prstDash val="solid"/>
          </a:ln>
        </p:spPr>
      </p:sp>
      <p:sp>
        <p:nvSpPr>
          <p:cNvPr id="79" name="Text 77">
            <a:extLst xmlns:a="http://schemas.openxmlformats.org/drawingml/2006/main">
              <a:ext uri="{FF2B5EF4-FFF2-40B4-BE49-F238E27FC236}">
                <a16:creationId xmlns:a16="http://schemas.microsoft.com/office/drawing/2014/main" id="{303A5BAF-ABA8-40F1-9E84-1BBC48E3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4759452"/>
            <a:ext cx="65836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B26A00"/>
                </a:solidFill>
                <a:latin typeface="Noto Sans CJK SC"/>
                <a:ea typeface="Noto Sans CJK SC"/>
                <a:cs typeface="Noto Sans CJK SC"/>
              </a:rPr>
              <a:t>META</a:t>
            </a:r>
            <a:endParaRPr sz="750"/>
          </a:p>
        </p:txBody>
      </p:sp>
      <p:sp>
        <p:nvSpPr>
          <p:cNvPr id="80" name="Shape 78">
            <a:extLst xmlns:a="http://schemas.openxmlformats.org/drawingml/2006/main">
              <a:ext uri="{FF2B5EF4-FFF2-40B4-BE49-F238E27FC236}">
                <a16:creationId xmlns:a16="http://schemas.microsoft.com/office/drawing/2014/main" id="{6727B3E1-6D6B-4A3B-B8FD-1FCE7AC0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5358384"/>
            <a:ext cx="3529584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12700">
            <a:solidFill>
              <a:srgbClr val="051C2C"/>
            </a:solidFill>
            <a:prstDash val="solid"/>
          </a:ln>
        </p:spPr>
      </p:sp>
      <p:sp>
        <p:nvSpPr>
          <p:cNvPr id="81" name="Text 79">
            <a:extLst xmlns:a="http://schemas.openxmlformats.org/drawingml/2006/main">
              <a:ext uri="{FF2B5EF4-FFF2-40B4-BE49-F238E27FC236}">
                <a16:creationId xmlns:a16="http://schemas.microsoft.com/office/drawing/2014/main" id="{0AD9F2C7-B19B-4F9C-B6D9-B193701B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5468112"/>
            <a:ext cx="170992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>
                <a:solidFill>
                  <a:srgbClr val="A8B5BE"/>
                </a:solidFill>
                <a:latin typeface="Noto Sans CJK SC"/>
                <a:ea typeface="Noto Sans CJK SC"/>
                <a:cs typeface="Noto Sans CJK SC"/>
              </a:rPr>
              <a:t>only_registered_records</a:t>
            </a:r>
            <a:endParaRPr sz="800"/>
          </a:p>
        </p:txBody>
      </p:sp>
      <p:sp>
        <p:nvSpPr>
          <p:cNvPr id="82" name="Text 80">
            <a:extLst xmlns:a="http://schemas.openxmlformats.org/drawingml/2006/main">
              <a:ext uri="{FF2B5EF4-FFF2-40B4-BE49-F238E27FC236}">
                <a16:creationId xmlns:a16="http://schemas.microsoft.com/office/drawing/2014/main" id="{9DFAF1A2-7882-4AD9-9FF3-BC9689E4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458968"/>
            <a:ext cx="51206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007C91"/>
                </a:solidFill>
                <a:latin typeface="Noto Sans CJK SC"/>
                <a:ea typeface="Noto Sans CJK SC"/>
                <a:cs typeface="Noto Sans CJK SC"/>
              </a:rPr>
              <a:t>TRUE</a:t>
            </a:r>
            <a:endParaRPr sz="900"/>
          </a:p>
        </p:txBody>
      </p:sp>
      <p:sp>
        <p:nvSpPr>
          <p:cNvPr id="83" name="Text 81">
            <a:extLst xmlns:a="http://schemas.openxmlformats.org/drawingml/2006/main">
              <a:ext uri="{FF2B5EF4-FFF2-40B4-BE49-F238E27FC236}">
                <a16:creationId xmlns:a16="http://schemas.microsoft.com/office/drawing/2014/main" id="{8CC98971-B581-4AA6-9AE2-AC66425B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144" y="5468112"/>
            <a:ext cx="6583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>
                <a:solidFill>
                  <a:srgbClr val="A8B5BE"/>
                </a:solidFill>
                <a:latin typeface="Noto Sans CJK SC"/>
                <a:ea typeface="Noto Sans CJK SC"/>
                <a:cs typeface="Noto Sans CJK SC"/>
              </a:rPr>
              <a:t>invented_record_count</a:t>
            </a:r>
            <a:endParaRPr sz="720"/>
          </a:p>
        </p:txBody>
      </p:sp>
      <p:sp>
        <p:nvSpPr>
          <p:cNvPr id="84" name="Text 82">
            <a:extLst xmlns:a="http://schemas.openxmlformats.org/drawingml/2006/main">
              <a:ext uri="{FF2B5EF4-FFF2-40B4-BE49-F238E27FC236}">
                <a16:creationId xmlns:a16="http://schemas.microsoft.com/office/drawing/2014/main" id="{0F63805D-563C-4575-9CC6-10CD73E6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5952" y="5449824"/>
            <a:ext cx="14630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</a:t>
            </a:r>
            <a:endParaRPr sz="1020"/>
          </a:p>
        </p:txBody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A265B128-1E32-4903-A0C0-98F7F4C0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92240"/>
            <a:ext cx="111739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6DEE3"/>
            </a:solidFill>
            <a:prstDash val="solid"/>
          </a:ln>
        </p:spPr>
      </p:sp>
      <p:sp>
        <p:nvSpPr>
          <p:cNvPr id="86" name="Text 84">
            <a:extLst xmlns:a="http://schemas.openxmlformats.org/drawingml/2006/main">
              <a:ext uri="{FF2B5EF4-FFF2-40B4-BE49-F238E27FC236}">
                <a16:creationId xmlns:a16="http://schemas.microsoft.com/office/drawing/2014/main" id="{B4A12030-C4F1-4CB1-AA74-8C5249F1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47104"/>
            <a:ext cx="9966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60">
                <a:solidFill>
                  <a:srgbClr val="5B6770"/>
                </a:solidFill>
                <a:latin typeface="Noto Sans CJK SC"/>
                <a:ea typeface="Noto Sans CJK SC"/>
                <a:cs typeface="Noto Sans CJK SC"/>
              </a:rPr>
              <a:t>All content, names, and numbers are synthetic examples · No third-party templates, logos, fonts, brand assets, or company data used</a:t>
            </a:r>
            <a:endParaRPr sz="760"/>
          </a:p>
        </p:txBody>
      </p:sp>
      <p:sp>
        <p:nvSpPr>
          <p:cNvPr id="87" name="Text 85">
            <a:extLst xmlns:a="http://schemas.openxmlformats.org/drawingml/2006/main">
              <a:ext uri="{FF2B5EF4-FFF2-40B4-BE49-F238E27FC236}">
                <a16:creationId xmlns:a16="http://schemas.microsoft.com/office/drawing/2014/main" id="{DEC97A03-37FB-423D-91CF-A65C643A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528816"/>
            <a:ext cx="56692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20" b="1">
                <a:solidFill>
                  <a:srgbClr val="2251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820"/>
          </a:p>
        </p:txBody>
      </p:sp>
    </p:spTree>
    <p:extLst>
      <p:ext uri="{BB962C8B-B14F-4D97-AF65-F5344CB8AC3E}">
        <p14:creationId xmlns:p14="http://schemas.microsoft.com/office/powerpoint/2010/main" val="18769656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E09BD89-C768-49F9-BE94-F75B90E4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50">
                <a:solidFill>
                  <a:srgbClr val="2251FF"/>
                </a:solidFill>
                <a:latin typeface="Noto Sans CJK SC"/>
                <a:ea typeface="Noto Sans CJK SC"/>
                <a:cs typeface="Noto Sans CJK SC"/>
              </a:rPr>
              <a:t>STAGE 01 / GOVERNANCE PROOF</a:t>
            </a:r>
            <a:endParaRPr sz="9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7933658-18F3-466C-A399-7668F65A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30352"/>
            <a:ext cx="81381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051C2C"/>
                </a:solidFill>
                <a:latin typeface="Noto Sans CJK SC"/>
                <a:ea typeface="Noto Sans CJK SC"/>
                <a:cs typeface="Noto Sans CJK SC"/>
              </a:rPr>
              <a:t>Four Gates Stop Hallucination and Brand Leakage</a:t>
            </a:r>
            <a:endParaRPr sz="2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AE2171D-A859-4B19-AE77-45D3C0F9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078992"/>
            <a:ext cx="8686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20">
                <a:solidFill>
                  <a:srgbClr val="5B6770"/>
                </a:solidFill>
                <a:latin typeface="Noto Sans CJK SC"/>
                <a:ea typeface="Noto Sans CJK SC"/>
                <a:cs typeface="Noto Sans CJK SC"/>
              </a:rPr>
              <a:t>Retrieval success does not make an asset public; use does not make it open-source knowledge or a model.</a:t>
            </a:r>
            <a:endParaRPr sz="112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62073AA-13E9-4F19-9B93-9A2E2264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0040"/>
            <a:ext cx="1828800" cy="310896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12700">
            <a:solidFill>
              <a:srgbClr val="051C2C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E22843-EC3A-4A84-A3D4-FEE98591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4612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CI PASS · 8 REGRESSIONS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E2D509E-A9A4-4B67-AC4A-BD0803C7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81328"/>
            <a:ext cx="111739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DEE3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C6D60E4-46E8-4B93-BAF8-CD70482D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19072"/>
            <a:ext cx="2542032" cy="1033272"/>
          </a:xfrm>
          <a:prstGeom xmlns:a="http://schemas.openxmlformats.org/drawingml/2006/main" prst="roundRect">
            <a:avLst>
              <a:gd name="adj" fmla="val 15044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13970">
            <a:solidFill>
              <a:srgbClr val="2251F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5062C47-9CB8-43DA-B277-77B025EA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90195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 w="12700">
            <a:solidFill>
              <a:srgbClr val="2251FF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2407C68-3618-40FF-B616-71C5DBFF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901952"/>
            <a:ext cx="310896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sz="10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C4B1591-7F3B-4625-BFB7-C73A2D5F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1819656"/>
            <a:ext cx="502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051C2C"/>
                </a:solidFill>
                <a:latin typeface="Noto Sans CJK SC"/>
                <a:ea typeface="Noto Sans CJK SC"/>
                <a:cs typeface="Noto Sans CJK SC"/>
              </a:rPr>
              <a:t>Reg.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DD49713-94EE-4A17-B5F7-C8B5D9CE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1847088"/>
            <a:ext cx="125272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2251FF"/>
                </a:solidFill>
                <a:latin typeface="Noto Sans CJK SC"/>
                <a:ea typeface="Noto Sans CJK SC"/>
                <a:cs typeface="Noto Sans CJK SC"/>
              </a:rPr>
              <a:t>REGISTERED ID</a:t>
            </a:r>
            <a:endParaRPr sz="7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B702022-DC38-432E-867A-3DE9B269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2176272"/>
            <a:ext cx="1764792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5B6770"/>
                </a:solidFill>
                <a:latin typeface="Noto Sans CJK SC"/>
                <a:ea typeface="Noto Sans CJK SC"/>
                <a:cs typeface="Noto Sans CJK SC"/>
              </a:rPr>
              <a:t>Stable record_id</a:t>
            </a:r>
            <a:endParaRPr sz="880"/>
          </a:p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5B6770"/>
                </a:solidFill>
                <a:latin typeface="Noto Sans CJK SC"/>
                <a:ea typeface="Noto Sans CJK SC"/>
                <a:cs typeface="Noto Sans CJK SC"/>
              </a:rPr>
              <a:t>source version and hash</a:t>
            </a:r>
            <a:endParaRPr sz="88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3D37D4F-FF25-4454-ABA5-73C8534D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2231136"/>
            <a:ext cx="265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6DEE3"/>
            </a:solidFill>
            <a:prstDash val="solid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2511FEF-24FD-437A-BD76-A1966DFD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984" y="1719072"/>
            <a:ext cx="2542032" cy="1033272"/>
          </a:xfrm>
          <a:prstGeom xmlns:a="http://schemas.openxmlformats.org/drawingml/2006/main" prst="roundRect">
            <a:avLst>
              <a:gd name="adj" fmla="val 15044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13970">
            <a:solidFill>
              <a:srgbClr val="007C91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A27CC33-81BA-4CD4-A404-C1F57B22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90195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1"/>
          </a:solidFill>
          <a:ln xmlns:a="http://schemas.openxmlformats.org/drawingml/2006/main" w="12700">
            <a:solidFill>
              <a:srgbClr val="007C91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D50C07D-D361-40DD-94E7-041AE5C8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901952"/>
            <a:ext cx="310896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sz="1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0EAA680-4F37-492B-BC20-BC2184C7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768" y="1819656"/>
            <a:ext cx="502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051C2C"/>
                </a:solidFill>
                <a:latin typeface="Noto Sans CJK SC"/>
                <a:ea typeface="Noto Sans CJK SC"/>
                <a:cs typeface="Noto Sans CJK SC"/>
              </a:rPr>
              <a:t>Admit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88CAF2F-A634-4C37-83A0-C5A82435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847088"/>
            <a:ext cx="125272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007C91"/>
                </a:solidFill>
                <a:latin typeface="Noto Sans CJK SC"/>
                <a:ea typeface="Noto Sans CJK SC"/>
                <a:cs typeface="Noto Sans CJK SC"/>
              </a:rPr>
              <a:t>HUMAN ADMISSION</a:t>
            </a:r>
            <a:endParaRPr sz="7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B7FA06A-4929-49EA-A3E6-A2898DC5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768" y="2176272"/>
            <a:ext cx="1764792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5B6770"/>
                </a:solidFill>
                <a:latin typeface="Noto Sans CJK SC"/>
                <a:ea typeface="Noto Sans CJK SC"/>
                <a:cs typeface="Noto Sans CJK SC"/>
              </a:rPr>
              <a:t>Human approval</a:t>
            </a:r>
            <a:endParaRPr sz="880"/>
          </a:p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5B6770"/>
                </a:solidFill>
                <a:latin typeface="Noto Sans CJK SC"/>
                <a:ea typeface="Noto Sans CJK SC"/>
                <a:cs typeface="Noto Sans CJK SC"/>
              </a:rPr>
              <a:t>no automatic promotion</a:t>
            </a:r>
            <a:endParaRPr sz="88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CD7BC90-4955-4E88-B6AC-79B45C8E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016" y="2231136"/>
            <a:ext cx="265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6DEE3"/>
            </a:solidFill>
            <a:prstDash val="solid"/>
            <a:tailEnd type="triangle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C0C0388-73EA-4537-8391-D3A9CBD6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1719072"/>
            <a:ext cx="2542032" cy="1033272"/>
          </a:xfrm>
          <a:prstGeom xmlns:a="http://schemas.openxmlformats.org/drawingml/2006/main" prst="roundRect">
            <a:avLst>
              <a:gd name="adj" fmla="val 15044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13970">
            <a:solidFill>
              <a:srgbClr val="B26A00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57E8027-0463-45CA-B4BE-2249866F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90195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6A00"/>
          </a:solidFill>
          <a:ln xmlns:a="http://schemas.openxmlformats.org/drawingml/2006/main" w="12700">
            <a:solidFill>
              <a:srgbClr val="B26A00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948A9AD-E35D-48F1-83AA-CDCCBD73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901952"/>
            <a:ext cx="310896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sz="10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8804634-2138-4177-9E0B-73EFEA38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819656"/>
            <a:ext cx="502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051C2C"/>
                </a:solidFill>
                <a:latin typeface="Noto Sans CJK SC"/>
                <a:ea typeface="Noto Sans CJK SC"/>
                <a:cs typeface="Noto Sans CJK SC"/>
              </a:rPr>
              <a:t>Rights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344F5A0-7EA9-4003-9C79-FFF57FD9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1847088"/>
            <a:ext cx="125272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B26A00"/>
                </a:solidFill>
                <a:latin typeface="Noto Sans CJK SC"/>
                <a:ea typeface="Noto Sans CJK SC"/>
                <a:cs typeface="Noto Sans CJK SC"/>
              </a:rPr>
              <a:t>RIGHTS CHECK</a:t>
            </a:r>
            <a:endParaRPr sz="7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3E84350-A226-4DF4-87FF-30E062EC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176272"/>
            <a:ext cx="1764792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5B6770"/>
                </a:solidFill>
                <a:latin typeface="Noto Sans CJK SC"/>
                <a:ea typeface="Noto Sans CJK SC"/>
                <a:cs typeface="Noto Sans CJK SC"/>
              </a:rPr>
              <a:t>Redistribution and materialization</a:t>
            </a:r>
            <a:endParaRPr sz="880"/>
          </a:p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5B6770"/>
                </a:solidFill>
                <a:latin typeface="Noto Sans CJK SC"/>
                <a:ea typeface="Noto Sans CJK SC"/>
                <a:cs typeface="Noto Sans CJK SC"/>
              </a:rPr>
              <a:t>assessed separately</a:t>
            </a:r>
            <a:endParaRPr sz="88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A0C68B7F-9F12-4078-82A0-755EB24F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231136"/>
            <a:ext cx="265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6DEE3"/>
            </a:solidFill>
            <a:prstDash val="solid"/>
            <a:tailEnd type="triangle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EAA6C9C2-48D9-4943-968D-C9E94977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112" y="1719072"/>
            <a:ext cx="2542032" cy="1033272"/>
          </a:xfrm>
          <a:prstGeom xmlns:a="http://schemas.openxmlformats.org/drawingml/2006/main" prst="roundRect">
            <a:avLst>
              <a:gd name="adj" fmla="val 15044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13970">
            <a:solidFill>
              <a:srgbClr val="B73A3A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C24FFE92-1F41-4971-A968-2469E795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90195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3A3A"/>
          </a:solidFill>
          <a:ln xmlns:a="http://schemas.openxmlformats.org/drawingml/2006/main" w="12700">
            <a:solidFill>
              <a:srgbClr val="B73A3A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B8A86E9-E47E-4DDC-8575-BF045F9F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901952"/>
            <a:ext cx="310896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</a:t>
            </a:r>
            <a:endParaRPr sz="10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1AD738A-24FD-4E5F-BA51-ED7F548E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896" y="1819656"/>
            <a:ext cx="502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051C2C"/>
                </a:solidFill>
                <a:latin typeface="Noto Sans CJK SC"/>
                <a:ea typeface="Noto Sans CJK SC"/>
                <a:cs typeface="Noto Sans CJK SC"/>
              </a:rPr>
              <a:t>Use</a:t>
            </a:r>
            <a:endParaRPr sz="14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1EA578C-1263-450C-A2C6-88863BB1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1847088"/>
            <a:ext cx="125272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B73A3A"/>
                </a:solidFill>
                <a:latin typeface="Noto Sans CJK SC"/>
                <a:ea typeface="Noto Sans CJK SC"/>
                <a:cs typeface="Noto Sans CJK SC"/>
              </a:rPr>
              <a:t>RECEIPT ONLY</a:t>
            </a:r>
            <a:endParaRPr sz="7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5795FE9-89CA-4368-AF28-4145E453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896" y="2176272"/>
            <a:ext cx="1764792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5B6770"/>
                </a:solidFill>
                <a:latin typeface="Noto Sans CJK SC"/>
                <a:ea typeface="Noto Sans CJK SC"/>
                <a:cs typeface="Noto Sans CJK SC"/>
              </a:rPr>
              <a:t>Only IDs returned</a:t>
            </a:r>
            <a:endParaRPr sz="880"/>
          </a:p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5B6770"/>
                </a:solidFill>
                <a:latin typeface="Noto Sans CJK SC"/>
                <a:ea typeface="Noto Sans CJK SC"/>
                <a:cs typeface="Noto Sans CJK SC"/>
              </a:rPr>
              <a:t>in the receipt</a:t>
            </a:r>
            <a:endParaRPr sz="88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FD4F3ED8-F992-4D67-A42A-408E1BE5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17520"/>
            <a:ext cx="7479792" cy="320040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12700">
            <a:solidFill>
              <a:srgbClr val="D6DEE3"/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212DB3C9-EFB0-4188-981B-7E3496CD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227832"/>
            <a:ext cx="1572768" cy="265176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12700">
            <a:solidFill>
              <a:srgbClr val="051C2C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45286B15-3C05-413B-9B92-6F54C632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232404"/>
            <a:ext cx="1572768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7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PUBLIC OPEN-SOURCE REQUEST</a:t>
            </a:r>
            <a:endParaRPr sz="77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A885D8CB-B204-4D85-A34E-0AF1DD0C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621024"/>
            <a:ext cx="4206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 b="1">
                <a:solidFill>
                  <a:srgbClr val="051C2C"/>
                </a:solidFill>
                <a:latin typeface="Noto Sans CJK SC"/>
                <a:ea typeface="Noto Sans CJK SC"/>
                <a:cs typeface="Noto Sans CJK SC"/>
              </a:rPr>
              <a:t>One query yields different outcomes by asset</a:t>
            </a:r>
            <a:endParaRPr sz="142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11AF1D9C-3DB4-464D-8EB1-206E12D4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14216"/>
            <a:ext cx="2377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10" b="1">
                <a:solidFill>
                  <a:srgbClr val="5B6770"/>
                </a:solidFill>
                <a:latin typeface="Noto Sans CJK SC"/>
                <a:ea typeface="Noto Sans CJK SC"/>
                <a:cs typeface="Noto Sans CJK SC"/>
              </a:rPr>
              <a:t>Record</a:t>
            </a:r>
            <a:endParaRPr sz="81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486C9E25-6C9A-4B1D-AC53-97DA9C02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401421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 b="1">
                <a:solidFill>
                  <a:srgbClr val="5B6770"/>
                </a:solidFill>
                <a:latin typeface="Noto Sans CJK SC"/>
                <a:ea typeface="Noto Sans CJK SC"/>
                <a:cs typeface="Noto Sans CJK SC"/>
              </a:rPr>
              <a:t>Public retrieval</a:t>
            </a:r>
            <a:endParaRPr sz="81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B2410891-10A5-453F-AA74-D58BC448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4014216"/>
            <a:ext cx="7772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 b="1">
                <a:solidFill>
                  <a:srgbClr val="5B6770"/>
                </a:solidFill>
                <a:latin typeface="Noto Sans CJK SC"/>
                <a:ea typeface="Noto Sans CJK SC"/>
                <a:cs typeface="Noto Sans CJK SC"/>
              </a:rPr>
              <a:t>Materialize</a:t>
            </a:r>
            <a:endParaRPr sz="81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F74461E4-02AB-49E3-903A-A03AADDE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14216"/>
            <a:ext cx="6400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 b="1">
                <a:solidFill>
                  <a:srgbClr val="5B6770"/>
                </a:solidFill>
                <a:latin typeface="Noto Sans CJK SC"/>
                <a:ea typeface="Noto Sans CJK SC"/>
                <a:cs typeface="Noto Sans CJK SC"/>
              </a:rPr>
              <a:t>Select</a:t>
            </a:r>
            <a:endParaRPr sz="81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B6C7FB33-1C35-4AC9-9166-072CF436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4014216"/>
            <a:ext cx="1143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 b="1">
                <a:solidFill>
                  <a:srgbClr val="5B6770"/>
                </a:solidFill>
                <a:latin typeface="Noto Sans CJK SC"/>
                <a:ea typeface="Noto Sans CJK SC"/>
                <a:cs typeface="Noto Sans CJK SC"/>
              </a:rPr>
              <a:t>Outcome</a:t>
            </a:r>
            <a:endParaRPr sz="81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76E83CFF-7FB8-410D-BDBA-54FD2D34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279392"/>
            <a:ext cx="7031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6DEE3"/>
            </a:solidFill>
            <a:prstDash val="solid"/>
          </a:ln>
        </p:spPr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36FCB9AD-BB61-4BC0-8447-90656391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370832"/>
            <a:ext cx="23317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051C2C"/>
                </a:solidFill>
                <a:latin typeface="Noto Sans CJK SC"/>
                <a:ea typeface="Noto Sans CJK SC"/>
                <a:cs typeface="Noto Sans CJK SC"/>
              </a:rPr>
              <a:t>Generic Layout Contract</a:t>
            </a:r>
            <a:endParaRPr sz="88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A22F410E-9B56-4B80-9630-6AFEFCFD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572000"/>
            <a:ext cx="23317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90">
                <a:solidFill>
                  <a:srgbClr val="5B6770"/>
                </a:solidFill>
                <a:latin typeface="Noto Sans CJK SC"/>
                <a:ea typeface="Noto Sans CJK SC"/>
                <a:cs typeface="Noto Sans CJK SC"/>
              </a:rPr>
              <a:t>builtin-catalog · Apache-2.0</a:t>
            </a:r>
            <a:endParaRPr sz="69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44CC001-5DB9-4381-AA9C-00259FEE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4443984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07C91"/>
                </a:solidFill>
                <a:latin typeface="Noto Sans CJK SC"/>
                <a:ea typeface="Noto Sans CJK SC"/>
                <a:cs typeface="Noto Sans CJK SC"/>
              </a:rPr>
              <a:t>YES</a:t>
            </a:r>
            <a:endParaRPr sz="850"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281C0B8A-04B9-4635-B88A-5674B3EA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4443984"/>
            <a:ext cx="7772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07C91"/>
                </a:solidFill>
                <a:latin typeface="Noto Sans CJK SC"/>
                <a:ea typeface="Noto Sans CJK SC"/>
                <a:cs typeface="Noto Sans CJK SC"/>
              </a:rPr>
              <a:t>YES</a:t>
            </a:r>
            <a:endParaRPr sz="85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681C685F-4B21-49B8-BA47-8F94157F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43984"/>
            <a:ext cx="6400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 b="1">
                <a:solidFill>
                  <a:srgbClr val="007C91"/>
                </a:solidFill>
                <a:latin typeface="Noto Sans CJK SC"/>
                <a:ea typeface="Noto Sans CJK SC"/>
                <a:cs typeface="Noto Sans CJK SC"/>
              </a:rPr>
              <a:t>YES</a:t>
            </a:r>
            <a:endParaRPr sz="810"/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5BEE62F5-C1B4-4695-88D2-1684B51C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4407408"/>
            <a:ext cx="960120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3F6"/>
          </a:solidFill>
          <a:ln xmlns:a="http://schemas.openxmlformats.org/drawingml/2006/main" w="12700">
            <a:solidFill>
              <a:srgbClr val="E5F3F6"/>
            </a:solidFill>
            <a:prstDash val="solid"/>
          </a:ln>
        </p:spPr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2ACC49C3-A94B-4C87-9059-673EE8E4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4411980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>
                <a:solidFill>
                  <a:srgbClr val="007C91"/>
                </a:solidFill>
                <a:latin typeface="Noto Sans CJK SC"/>
                <a:ea typeface="Noto Sans CJK SC"/>
                <a:cs typeface="Noto Sans CJK SC"/>
              </a:rPr>
              <a:t>Adopt</a:t>
            </a:r>
            <a:endParaRPr sz="760"/>
          </a:p>
        </p:txBody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C716D7BA-0277-4216-A057-1E4A6EF8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818888"/>
            <a:ext cx="7260336" cy="438912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12700">
            <a:solidFill>
              <a:srgbClr val="F7F9FA"/>
            </a:solidFill>
            <a:prstDash val="solid"/>
          </a:ln>
        </p:spPr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E8E28A07-C9D4-48CE-BE8F-09E05B1D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837176"/>
            <a:ext cx="23317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051C2C"/>
                </a:solidFill>
                <a:latin typeface="Noto Sans CJK SC"/>
                <a:ea typeface="Noto Sans CJK SC"/>
                <a:cs typeface="Noto Sans CJK SC"/>
              </a:rPr>
              <a:t>External research metadata</a:t>
            </a:r>
            <a:endParaRPr sz="880"/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932B6C5E-3B2A-47FC-91A0-4F9260BA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038344"/>
            <a:ext cx="23317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90">
                <a:solidFill>
                  <a:srgbClr val="5B6770"/>
                </a:solidFill>
                <a:latin typeface="Noto Sans CJK SC"/>
                <a:ea typeface="Noto Sans CJK SC"/>
                <a:cs typeface="Noto Sans CJK SC"/>
              </a:rPr>
              <a:t>external-ephemeral · metadata-only</a:t>
            </a:r>
            <a:endParaRPr sz="690"/>
          </a:p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5577B839-8F43-4106-AD70-1131D62D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4910328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07C91"/>
                </a:solidFill>
                <a:latin typeface="Noto Sans CJK SC"/>
                <a:ea typeface="Noto Sans CJK SC"/>
                <a:cs typeface="Noto Sans CJK SC"/>
              </a:rPr>
              <a:t>YES</a:t>
            </a:r>
            <a:endParaRPr sz="850"/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3305F1C6-95C8-4EB4-BFC9-D38A4534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4910328"/>
            <a:ext cx="7772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B73A3A"/>
                </a:solidFill>
                <a:latin typeface="Noto Sans CJK SC"/>
                <a:ea typeface="Noto Sans CJK SC"/>
                <a:cs typeface="Noto Sans CJK SC"/>
              </a:rPr>
              <a:t>NO</a:t>
            </a:r>
            <a:endParaRPr sz="850"/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E64E98B2-335C-4091-A79E-FD5E6317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10328"/>
            <a:ext cx="6400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 b="1">
                <a:solidFill>
                  <a:srgbClr val="B26A00"/>
                </a:solidFill>
                <a:latin typeface="Noto Sans CJK SC"/>
                <a:ea typeface="Noto Sans CJK SC"/>
                <a:cs typeface="Noto Sans CJK SC"/>
              </a:rPr>
              <a:t>Concept</a:t>
            </a:r>
            <a:endParaRPr sz="810"/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B2E8B63D-4298-470F-8325-FD648A3B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4873752"/>
            <a:ext cx="960120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DB"/>
          </a:solidFill>
          <a:ln xmlns:a="http://schemas.openxmlformats.org/drawingml/2006/main" w="12700">
            <a:solidFill>
              <a:srgbClr val="FFF1DB"/>
            </a:solidFill>
            <a:prstDash val="solid"/>
          </a:ln>
        </p:spPr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8FAD5599-572F-4E1A-ACB8-A734A1BF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4878324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>
                <a:solidFill>
                  <a:srgbClr val="B26A00"/>
                </a:solidFill>
                <a:latin typeface="Noto Sans CJK SC"/>
                <a:ea typeface="Noto Sans CJK SC"/>
                <a:cs typeface="Noto Sans CJK SC"/>
              </a:rPr>
              <a:t>Do not copy</a:t>
            </a:r>
            <a:endParaRPr sz="760"/>
          </a:p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D59BCF79-F40F-4E21-84F1-491A41FF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303520"/>
            <a:ext cx="23317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051C2C"/>
                </a:solidFill>
                <a:latin typeface="Noto Sans CJK SC"/>
                <a:ea typeface="Noto Sans CJK SC"/>
                <a:cs typeface="Noto Sans CJK SC"/>
              </a:rPr>
              <a:t>Private enterprise master</a:t>
            </a:r>
            <a:endParaRPr sz="880"/>
          </a:p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F984078E-1BF0-4F89-AE2C-69C53A8D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504688"/>
            <a:ext cx="23317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90">
                <a:solidFill>
                  <a:srgbClr val="5B6770"/>
                </a:solidFill>
                <a:latin typeface="Noto Sans CJK SC"/>
                <a:ea typeface="Noto Sans CJK SC"/>
                <a:cs typeface="Noto Sans CJK SC"/>
              </a:rPr>
              <a:t>filesystem-library · local-private</a:t>
            </a:r>
            <a:endParaRPr sz="690"/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342B730C-293E-4CF3-93E1-53F13892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5376672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B73A3A"/>
                </a:solidFill>
                <a:latin typeface="Noto Sans CJK SC"/>
                <a:ea typeface="Noto Sans CJK SC"/>
                <a:cs typeface="Noto Sans CJK SC"/>
              </a:rPr>
              <a:t>NO</a:t>
            </a:r>
            <a:endParaRPr sz="850"/>
          </a:p>
        </p:txBody>
      </p:sp>
      <p:sp>
        <p:nvSpPr>
          <p:cNvPr id="63" name="Text 61">
            <a:extLst xmlns:a="http://schemas.openxmlformats.org/drawingml/2006/main">
              <a:ext uri="{FF2B5EF4-FFF2-40B4-BE49-F238E27FC236}">
                <a16:creationId xmlns:a16="http://schemas.microsoft.com/office/drawing/2014/main" id="{67DA000E-F207-4B2D-99CD-B47EA286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5376672"/>
            <a:ext cx="7772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B73A3A"/>
                </a:solidFill>
                <a:latin typeface="Noto Sans CJK SC"/>
                <a:ea typeface="Noto Sans CJK SC"/>
                <a:cs typeface="Noto Sans CJK SC"/>
              </a:rPr>
              <a:t>NO</a:t>
            </a:r>
            <a:endParaRPr sz="850"/>
          </a:p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D10EAEBE-E049-4E0F-A731-BB350A2E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76672"/>
            <a:ext cx="6400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 b="1">
                <a:solidFill>
                  <a:srgbClr val="B73A3A"/>
                </a:solidFill>
                <a:latin typeface="Noto Sans CJK SC"/>
                <a:ea typeface="Noto Sans CJK SC"/>
                <a:cs typeface="Noto Sans CJK SC"/>
              </a:rPr>
              <a:t>NO</a:t>
            </a:r>
            <a:endParaRPr sz="810"/>
          </a:p>
        </p:txBody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623DA68C-FCAE-4EF3-8B15-AE3EDBB4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340096"/>
            <a:ext cx="960120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8E6"/>
          </a:solidFill>
          <a:ln xmlns:a="http://schemas.openxmlformats.org/drawingml/2006/main" w="12700">
            <a:solidFill>
              <a:srgbClr val="F7E8E6"/>
            </a:solidFill>
            <a:prstDash val="solid"/>
          </a:ln>
        </p:spPr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EA7DF527-8F5D-41DB-B7A8-6D293635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34466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>
                <a:solidFill>
                  <a:srgbClr val="B73A3A"/>
                </a:solidFill>
                <a:latin typeface="Noto Sans CJK SC"/>
                <a:ea typeface="Noto Sans CJK SC"/>
                <a:cs typeface="Noto Sans CJK SC"/>
              </a:rPr>
              <a:t>Publicly excluded</a:t>
            </a:r>
            <a:endParaRPr sz="760"/>
          </a:p>
        </p:txBody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EBB47FB2-106B-4117-8189-33DED22D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751576"/>
            <a:ext cx="7260336" cy="438912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12700">
            <a:solidFill>
              <a:srgbClr val="F7F9FA"/>
            </a:solidFill>
            <a:prstDash val="solid"/>
          </a:ln>
        </p:spPr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4F2B86E7-765E-4F33-BD46-754D3B39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769864"/>
            <a:ext cx="23317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051C2C"/>
                </a:solidFill>
                <a:latin typeface="Noto Sans CJK SC"/>
                <a:ea typeface="Noto Sans CJK SC"/>
                <a:cs typeface="Noto Sans CJK SC"/>
              </a:rPr>
              <a:t>Nonexistent record ID</a:t>
            </a:r>
            <a:endParaRPr sz="880"/>
          </a:p>
        </p:txBody>
      </p:sp>
      <p:sp>
        <p:nvSpPr>
          <p:cNvPr id="69" name="Text 67">
            <a:extLst xmlns:a="http://schemas.openxmlformats.org/drawingml/2006/main">
              <a:ext uri="{FF2B5EF4-FFF2-40B4-BE49-F238E27FC236}">
                <a16:creationId xmlns:a16="http://schemas.microsoft.com/office/drawing/2014/main" id="{1326A34A-5318-42FD-A595-B25C45CE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971032"/>
            <a:ext cx="23317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90">
                <a:solidFill>
                  <a:srgbClr val="5B6770"/>
                </a:solidFill>
                <a:latin typeface="Noto Sans CJK SC"/>
                <a:ea typeface="Noto Sans CJK SC"/>
                <a:cs typeface="Noto Sans CJK SC"/>
              </a:rPr>
              <a:t>not registered / not retrieved</a:t>
            </a:r>
            <a:endParaRPr sz="690"/>
          </a:p>
        </p:txBody>
      </p:sp>
      <p:sp>
        <p:nvSpPr>
          <p:cNvPr id="70" name="Text 68">
            <a:extLst xmlns:a="http://schemas.openxmlformats.org/drawingml/2006/main">
              <a:ext uri="{FF2B5EF4-FFF2-40B4-BE49-F238E27FC236}">
                <a16:creationId xmlns:a16="http://schemas.microsoft.com/office/drawing/2014/main" id="{7565508B-FA98-49AB-A148-91F29CC7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584301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B73A3A"/>
                </a:solidFill>
                <a:latin typeface="Noto Sans CJK SC"/>
                <a:ea typeface="Noto Sans CJK SC"/>
                <a:cs typeface="Noto Sans CJK SC"/>
              </a:rPr>
              <a:t>NO</a:t>
            </a:r>
            <a:endParaRPr sz="850"/>
          </a:p>
        </p:txBody>
      </p:sp>
      <p:sp>
        <p:nvSpPr>
          <p:cNvPr id="71" name="Text 69">
            <a:extLst xmlns:a="http://schemas.openxmlformats.org/drawingml/2006/main">
              <a:ext uri="{FF2B5EF4-FFF2-40B4-BE49-F238E27FC236}">
                <a16:creationId xmlns:a16="http://schemas.microsoft.com/office/drawing/2014/main" id="{DBBAD839-0F07-45AE-9639-911A7AFC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5843016"/>
            <a:ext cx="7772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B73A3A"/>
                </a:solidFill>
                <a:latin typeface="Noto Sans CJK SC"/>
                <a:ea typeface="Noto Sans CJK SC"/>
                <a:cs typeface="Noto Sans CJK SC"/>
              </a:rPr>
              <a:t>NO</a:t>
            </a:r>
            <a:endParaRPr sz="850"/>
          </a:p>
        </p:txBody>
      </p:sp>
      <p:sp>
        <p:nvSpPr>
          <p:cNvPr id="72" name="Text 70">
            <a:extLst xmlns:a="http://schemas.openxmlformats.org/drawingml/2006/main">
              <a:ext uri="{FF2B5EF4-FFF2-40B4-BE49-F238E27FC236}">
                <a16:creationId xmlns:a16="http://schemas.microsoft.com/office/drawing/2014/main" id="{42B7B317-FC4C-404D-9E8C-06AA4D64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843016"/>
            <a:ext cx="6400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 b="1">
                <a:solidFill>
                  <a:srgbClr val="B73A3A"/>
                </a:solidFill>
                <a:latin typeface="Noto Sans CJK SC"/>
                <a:ea typeface="Noto Sans CJK SC"/>
                <a:cs typeface="Noto Sans CJK SC"/>
              </a:rPr>
              <a:t>REJECT</a:t>
            </a:r>
            <a:endParaRPr sz="810"/>
          </a:p>
        </p:txBody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A28BC5E5-EEF0-4946-B41D-46419400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806440"/>
            <a:ext cx="960120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2700">
            <a:solidFill>
              <a:srgbClr val="E8F1F8"/>
            </a:solidFill>
            <a:prstDash val="solid"/>
          </a:ln>
        </p:spPr>
      </p:sp>
      <p:sp>
        <p:nvSpPr>
          <p:cNvPr id="74" name="Text 72">
            <a:extLst xmlns:a="http://schemas.openxmlformats.org/drawingml/2006/main">
              <a:ext uri="{FF2B5EF4-FFF2-40B4-BE49-F238E27FC236}">
                <a16:creationId xmlns:a16="http://schemas.microsoft.com/office/drawing/2014/main" id="{627887A1-BFF0-4844-B298-6A94A94B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811012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>
                <a:solidFill>
                  <a:srgbClr val="2251FF"/>
                </a:solidFill>
                <a:latin typeface="Noto Sans CJK SC"/>
                <a:ea typeface="Noto Sans CJK SC"/>
                <a:cs typeface="Noto Sans CJK SC"/>
              </a:rPr>
              <a:t>Hallucination blocked</a:t>
            </a:r>
            <a:endParaRPr sz="760"/>
          </a:p>
        </p:txBody>
      </p:sp>
      <p:sp>
        <p:nvSpPr>
          <p:cNvPr id="75" name="Shape 73">
            <a:extLst xmlns:a="http://schemas.openxmlformats.org/drawingml/2006/main">
              <a:ext uri="{FF2B5EF4-FFF2-40B4-BE49-F238E27FC236}">
                <a16:creationId xmlns:a16="http://schemas.microsoft.com/office/drawing/2014/main" id="{2AB3E042-06F1-4E30-8D56-06F07A37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017520"/>
            <a:ext cx="3429000" cy="320040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12700">
            <a:solidFill>
              <a:srgbClr val="051C2C"/>
            </a:solidFill>
            <a:prstDash val="solid"/>
          </a:ln>
        </p:spPr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CAB3692C-CDF4-4A84-B28A-3AFA7112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3227832"/>
            <a:ext cx="969264" cy="265176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2251FF"/>
          </a:solidFill>
          <a:ln xmlns:a="http://schemas.openxmlformats.org/drawingml/2006/main" w="12700">
            <a:solidFill>
              <a:srgbClr val="2251FF"/>
            </a:solidFill>
            <a:prstDash val="solid"/>
          </a:ln>
        </p:spPr>
      </p:sp>
      <p:sp>
        <p:nvSpPr>
          <p:cNvPr id="77" name="Text 75">
            <a:extLst xmlns:a="http://schemas.openxmlformats.org/drawingml/2006/main">
              <a:ext uri="{FF2B5EF4-FFF2-40B4-BE49-F238E27FC236}">
                <a16:creationId xmlns:a16="http://schemas.microsoft.com/office/drawing/2014/main" id="{45C6D5C9-D1E2-4841-A484-87E4FA5F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3232404"/>
            <a:ext cx="969264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7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VERIFICATION</a:t>
            </a:r>
            <a:endParaRPr sz="770"/>
          </a:p>
        </p:txBody>
      </p:sp>
      <p:sp>
        <p:nvSpPr>
          <p:cNvPr id="78" name="Text 76">
            <a:extLst xmlns:a="http://schemas.openxmlformats.org/drawingml/2006/main">
              <a:ext uri="{FF2B5EF4-FFF2-40B4-BE49-F238E27FC236}">
                <a16:creationId xmlns:a16="http://schemas.microsoft.com/office/drawing/2014/main" id="{50A6433B-EEA7-45A9-B354-CAE4F173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3611880"/>
            <a:ext cx="2761488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3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Regression tests and CI—</a:t>
            </a:r>
            <a:endParaRPr sz="1730"/>
          </a:p>
          <a:p xmlns:a="http://schemas.openxmlformats.org/drawingml/2006/main">
            <a:pPr marL="0" indent="0" algn="l">
              <a:buNone/>
            </a:pPr>
            <a:r>
              <a:rPr sz="173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not verbal promises.</a:t>
            </a:r>
            <a:endParaRPr sz="1730"/>
          </a:p>
        </p:txBody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EDFD5CD8-030F-4967-A346-C1B8D587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4233672"/>
            <a:ext cx="2761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5B6770"/>
            </a:solidFill>
            <a:prstDash val="solid"/>
          </a:ln>
        </p:spPr>
      </p:sp>
      <p:sp>
        <p:nvSpPr>
          <p:cNvPr id="80" name="Text 78">
            <a:extLst xmlns:a="http://schemas.openxmlformats.org/drawingml/2006/main">
              <a:ext uri="{FF2B5EF4-FFF2-40B4-BE49-F238E27FC236}">
                <a16:creationId xmlns:a16="http://schemas.microsoft.com/office/drawing/2014/main" id="{5AC28B1D-2403-4CFA-A86E-EBC49D12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4325112"/>
            <a:ext cx="868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8 / 8</a:t>
            </a:r>
            <a:endParaRPr sz="1900"/>
          </a:p>
        </p:txBody>
      </p:sp>
      <p:sp>
        <p:nvSpPr>
          <p:cNvPr id="81" name="Text 79">
            <a:extLst xmlns:a="http://schemas.openxmlformats.org/drawingml/2006/main">
              <a:ext uri="{FF2B5EF4-FFF2-40B4-BE49-F238E27FC236}">
                <a16:creationId xmlns:a16="http://schemas.microsoft.com/office/drawing/2014/main" id="{3C844463-E663-4917-99EC-C605B3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464" y="4334256"/>
            <a:ext cx="181051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20">
                <a:solidFill>
                  <a:srgbClr val="A8B5BE"/>
                </a:solidFill>
                <a:latin typeface="Noto Sans CJK SC"/>
                <a:ea typeface="Noto Sans CJK SC"/>
                <a:cs typeface="Noto Sans CJK SC"/>
              </a:rPr>
              <a:t>Index Runtime regressions passed</a:t>
            </a:r>
            <a:endParaRPr sz="820"/>
          </a:p>
        </p:txBody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11BA3810-8C90-4B7D-B1E4-36B184AB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4626864"/>
            <a:ext cx="2761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5B6770"/>
            </a:solidFill>
            <a:prstDash val="solid"/>
          </a:ln>
        </p:spPr>
      </p:sp>
      <p:sp>
        <p:nvSpPr>
          <p:cNvPr id="83" name="Text 81">
            <a:extLst xmlns:a="http://schemas.openxmlformats.org/drawingml/2006/main">
              <a:ext uri="{FF2B5EF4-FFF2-40B4-BE49-F238E27FC236}">
                <a16:creationId xmlns:a16="http://schemas.microsoft.com/office/drawing/2014/main" id="{904D8A2A-6281-4601-A724-7B56FD4F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4718304"/>
            <a:ext cx="868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007C91"/>
                </a:solidFill>
                <a:latin typeface="Noto Sans CJK SC"/>
                <a:ea typeface="Noto Sans CJK SC"/>
                <a:cs typeface="Noto Sans CJK SC"/>
              </a:rPr>
              <a:t>PASS</a:t>
            </a:r>
            <a:endParaRPr sz="1900"/>
          </a:p>
        </p:txBody>
      </p:sp>
      <p:sp>
        <p:nvSpPr>
          <p:cNvPr id="84" name="Text 82">
            <a:extLst xmlns:a="http://schemas.openxmlformats.org/drawingml/2006/main">
              <a:ext uri="{FF2B5EF4-FFF2-40B4-BE49-F238E27FC236}">
                <a16:creationId xmlns:a16="http://schemas.microsoft.com/office/drawing/2014/main" id="{8232A62D-FE81-4053-93C3-3A0EC7AD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464" y="4727448"/>
            <a:ext cx="181051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20">
                <a:solidFill>
                  <a:srgbClr val="A8B5BE"/>
                </a:solidFill>
                <a:latin typeface="Noto Sans CJK SC"/>
                <a:ea typeface="Noto Sans CJK SC"/>
                <a:cs typeface="Noto Sans CJK SC"/>
              </a:rPr>
              <a:t>GitHub validate workflow #60</a:t>
            </a:r>
            <a:endParaRPr sz="820"/>
          </a:p>
        </p:txBody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DCC6E366-C7AD-4530-B8A1-4B3272FF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5020056"/>
            <a:ext cx="2761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5B6770"/>
            </a:solidFill>
            <a:prstDash val="solid"/>
          </a:ln>
        </p:spPr>
      </p:sp>
      <p:sp>
        <p:nvSpPr>
          <p:cNvPr id="86" name="Text 84">
            <a:extLst xmlns:a="http://schemas.openxmlformats.org/drawingml/2006/main">
              <a:ext uri="{FF2B5EF4-FFF2-40B4-BE49-F238E27FC236}">
                <a16:creationId xmlns:a16="http://schemas.microsoft.com/office/drawing/2014/main" id="{48E7A736-E8CC-4BC4-820E-6555F118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5111496"/>
            <a:ext cx="868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</a:t>
            </a:r>
            <a:endParaRPr sz="1900"/>
          </a:p>
        </p:txBody>
      </p:sp>
      <p:sp>
        <p:nvSpPr>
          <p:cNvPr id="87" name="Text 85">
            <a:extLst xmlns:a="http://schemas.openxmlformats.org/drawingml/2006/main">
              <a:ext uri="{FF2B5EF4-FFF2-40B4-BE49-F238E27FC236}">
                <a16:creationId xmlns:a16="http://schemas.microsoft.com/office/drawing/2014/main" id="{0EEC6133-CA65-42AE-9083-BB9F29CB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464" y="5120640"/>
            <a:ext cx="181051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20">
                <a:solidFill>
                  <a:srgbClr val="A8B5BE"/>
                </a:solidFill>
                <a:latin typeface="Noto Sans CJK SC"/>
                <a:ea typeface="Noto Sans CJK SC"/>
                <a:cs typeface="Noto Sans CJK SC"/>
              </a:rPr>
              <a:t>Public catalog templates / masters / font binaries</a:t>
            </a:r>
            <a:endParaRPr sz="820"/>
          </a:p>
        </p:txBody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926689FF-E113-4BF8-8ADE-2711501F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5413248"/>
            <a:ext cx="2761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5B6770"/>
            </a:solidFill>
            <a:prstDash val="solid"/>
          </a:ln>
        </p:spPr>
      </p:sp>
      <p:sp>
        <p:nvSpPr>
          <p:cNvPr id="89" name="Text 87">
            <a:extLst xmlns:a="http://schemas.openxmlformats.org/drawingml/2006/main">
              <a:ext uri="{FF2B5EF4-FFF2-40B4-BE49-F238E27FC236}">
                <a16:creationId xmlns:a16="http://schemas.microsoft.com/office/drawing/2014/main" id="{FD40AD5E-FE87-492A-A8E6-29A75564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5504688"/>
            <a:ext cx="868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0.3.0</a:t>
            </a:r>
            <a:endParaRPr sz="1700"/>
          </a:p>
        </p:txBody>
      </p:sp>
      <p:sp>
        <p:nvSpPr>
          <p:cNvPr id="90" name="Text 88">
            <a:extLst xmlns:a="http://schemas.openxmlformats.org/drawingml/2006/main">
              <a:ext uri="{FF2B5EF4-FFF2-40B4-BE49-F238E27FC236}">
                <a16:creationId xmlns:a16="http://schemas.microsoft.com/office/drawing/2014/main" id="{82DBEDAC-3428-4E4E-8416-2E40E051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464" y="5513832"/>
            <a:ext cx="1810512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20">
                <a:solidFill>
                  <a:srgbClr val="A8B5BE"/>
                </a:solidFill>
                <a:latin typeface="Noto Sans CJK SC"/>
                <a:ea typeface="Noto Sans CJK SC"/>
                <a:cs typeface="Noto Sans CJK SC"/>
              </a:rPr>
              <a:t>Official VERSION unchanged</a:t>
            </a:r>
            <a:endParaRPr sz="820"/>
          </a:p>
        </p:txBody>
      </p:sp>
      <p:sp>
        <p:nvSpPr>
          <p:cNvPr id="91" name="Shape 89">
            <a:extLst xmlns:a="http://schemas.openxmlformats.org/drawingml/2006/main">
              <a:ext uri="{FF2B5EF4-FFF2-40B4-BE49-F238E27FC236}">
                <a16:creationId xmlns:a16="http://schemas.microsoft.com/office/drawing/2014/main" id="{60877BAB-A725-48D3-ACCF-3D97234B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5806440"/>
            <a:ext cx="2761488" cy="27432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153E5C"/>
          </a:solidFill>
          <a:ln xmlns:a="http://schemas.openxmlformats.org/drawingml/2006/main" w="12700">
            <a:solidFill>
              <a:srgbClr val="153E5C"/>
            </a:solidFill>
            <a:prstDash val="solid"/>
          </a:ln>
        </p:spPr>
      </p:sp>
      <p:sp>
        <p:nvSpPr>
          <p:cNvPr id="92" name="Text 90">
            <a:extLst xmlns:a="http://schemas.openxmlformats.org/drawingml/2006/main">
              <a:ext uri="{FF2B5EF4-FFF2-40B4-BE49-F238E27FC236}">
                <a16:creationId xmlns:a16="http://schemas.microsoft.com/office/drawing/2014/main" id="{D1F462BD-0B2C-4DEF-A080-87386A98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5811012"/>
            <a:ext cx="27614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70" b="1">
                <a:solidFill>
                  <a:srgbClr val="D6DEE3"/>
                </a:solidFill>
                <a:latin typeface="Noto Sans CJK SC"/>
                <a:ea typeface="Noto Sans CJK SC"/>
                <a:cs typeface="Noto Sans CJK SC"/>
              </a:rPr>
              <a:t>DRAFT PR · NOT MERGED · NOT TAGGED</a:t>
            </a:r>
            <a:endParaRPr sz="770"/>
          </a:p>
        </p:txBody>
      </p:sp>
      <p:sp>
        <p:nvSpPr>
          <p:cNvPr id="93" name="Shape 91">
            <a:extLst xmlns:a="http://schemas.openxmlformats.org/drawingml/2006/main">
              <a:ext uri="{FF2B5EF4-FFF2-40B4-BE49-F238E27FC236}">
                <a16:creationId xmlns:a16="http://schemas.microsoft.com/office/drawing/2014/main" id="{D86DC68B-5747-427E-812C-C89B9FBD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92240"/>
            <a:ext cx="111739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6DEE3"/>
            </a:solidFill>
            <a:prstDash val="solid"/>
          </a:ln>
        </p:spPr>
      </p:sp>
      <p:sp>
        <p:nvSpPr>
          <p:cNvPr id="94" name="Text 92">
            <a:extLst xmlns:a="http://schemas.openxmlformats.org/drawingml/2006/main">
              <a:ext uri="{FF2B5EF4-FFF2-40B4-BE49-F238E27FC236}">
                <a16:creationId xmlns:a16="http://schemas.microsoft.com/office/drawing/2014/main" id="{15A1B896-A9AC-46FF-ABF7-E257BC2D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47104"/>
            <a:ext cx="9966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60">
                <a:solidFill>
                  <a:srgbClr val="5B6770"/>
                </a:solidFill>
                <a:latin typeface="Noto Sans CJK SC"/>
                <a:ea typeface="Noto Sans CJK SC"/>
                <a:cs typeface="Noto Sans CJK SC"/>
              </a:rPr>
              <a:t>All content, names, and numbers are synthetic examples · No third-party templates, logos, fonts, brand assets, or company data used</a:t>
            </a:r>
            <a:endParaRPr sz="760"/>
          </a:p>
        </p:txBody>
      </p:sp>
      <p:sp>
        <p:nvSpPr>
          <p:cNvPr id="95" name="Text 93">
            <a:extLst xmlns:a="http://schemas.openxmlformats.org/drawingml/2006/main">
              <a:ext uri="{FF2B5EF4-FFF2-40B4-BE49-F238E27FC236}">
                <a16:creationId xmlns:a16="http://schemas.microsoft.com/office/drawing/2014/main" id="{E8503F32-8476-4912-AA3A-4F4273D4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528816"/>
            <a:ext cx="56692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20" b="1">
                <a:solidFill>
                  <a:srgbClr val="2251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820"/>
          </a:p>
        </p:txBody>
      </p:sp>
    </p:spTree>
    <p:extLst>
      <p:ext uri="{BB962C8B-B14F-4D97-AF65-F5344CB8AC3E}">
        <p14:creationId xmlns:p14="http://schemas.microsoft.com/office/powerpoint/2010/main" val="5611685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8F830F8-52B9-4A7D-9B47-403EEBE2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2251FF"/>
                </a:solidFill>
                <a:latin typeface="Aptos"/>
                <a:ea typeface="Aptos"/>
                <a:cs typeface="Aptos"/>
              </a:defRPr>
            </a:pPr>
            <a:r>
              <a:t>v0.4.0 · STAGE 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DE861A-93D1-4D13-A94E-9D4B6723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10642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t>Capability Index: Skills Identify Signals Before Routing Knowledge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5B243BF-9B73-4F48-9F5F-7538C2E5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70432"/>
            <a:ext cx="10972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t>Core contracts load deterministically; optional knowledge enters context only after a registered capability matches.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5644A4E-1064-4844-A2F9-260931F0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74519"/>
            <a:ext cx="205740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E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EE54616-9D05-43B2-8E51-8691F323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1783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t>Task Signals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7377E37-ECCB-4D3B-A4CA-FF6B10B8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95728"/>
            <a:ext cx="178308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t>image-led</a:t>
            </a:r>
            <a:br/>
            <a:r>
              <a:t>high-risk-composition</a:t>
            </a:r>
            <a:br/>
            <a:r>
              <a:t>architecture-house</a:t>
            </a: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DF273EDB-3029-4089-A089-5F2741B8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578608"/>
            <a:ext cx="50292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251F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C2BD9F1-5849-4ADA-9AD1-3FDC89DA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874519"/>
            <a:ext cx="22402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251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FB031A8-FC8E-4BB5-B37C-3A6610C7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11680"/>
            <a:ext cx="1965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51FF"/>
                </a:solidFill>
                <a:latin typeface="Aptos"/>
                <a:ea typeface="Aptos"/>
                <a:cs typeface="Aptos"/>
              </a:defRPr>
            </a:pPr>
            <a:r>
              <a:t>Capability Index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0265A9A-F690-4024-99C8-B7E1D2AA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395728"/>
            <a:ext cx="196596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t>Search each signal</a:t>
            </a:r>
            <a:br/>
            <a:r>
              <a:t>by stage + task_mode</a:t>
            </a:r>
            <a:br/>
            <a:r>
              <a:t>builtin-catalog only</a:t>
            </a: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B9783D88-7A4A-4465-8F38-6332DD8B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578608"/>
            <a:ext cx="59436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251F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E3E62EA-DB84-4948-BFC8-E6F37B1B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874519"/>
            <a:ext cx="22402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E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230F34A-0477-484E-9C04-ECAA87EA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011680"/>
            <a:ext cx="1965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t>Resolution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1CA7DCA-01F0-45D6-8333-3622D753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395728"/>
            <a:ext cx="196596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t>3 registered capabilities</a:t>
            </a:r>
            <a:br/>
            <a:r>
              <a:t>0 unresolved signals</a:t>
            </a:r>
            <a:br/>
            <a:r>
              <a:t>3 retrieval receipts</a:t>
            </a: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BF272BE5-F7FB-4C7C-A59D-2ACCC5AE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8608"/>
            <a:ext cx="50292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251F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0EB33DEC-4C35-4675-92A7-DB10CB03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874519"/>
            <a:ext cx="27889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E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AFDADBF-A487-4F03-80B5-FA7BDDD2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11680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t>Art Direction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979EE40-6744-42A7-B355-025C06E4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395728"/>
            <a:ext cx="25146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t>Load matching knowledge_refs</a:t>
            </a:r>
            <a:br/>
            <a:r>
              <a:t>form visual judgment</a:t>
            </a:r>
            <a:br/>
            <a:r>
              <a:t>preserve five-stage authority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0DA4FC6A-D15F-4952-85C3-F2E160F1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75887"/>
            <a:ext cx="5394960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E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AD317F6-2B92-4D83-839D-2B09E19B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0"/>
            <a:ext cx="3108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t>Deterministic core · never searched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2746890-83AB-4C3A-82E6-4832C495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15968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t>Required on every Art Direction run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A6A050FC-3813-4011-8827-6DAD6ECF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63440"/>
            <a:ext cx="4526280" cy="2834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1F8"/>
          </a:solidFill>
          <a:ln xmlns:a="http://schemas.openxmlformats.org/drawingml/2006/main" w="12700">
            <a:solidFill>
              <a:srgbClr val="E8F1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897CD12-DD61-4AE4-8498-D1A2FBAF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681728"/>
            <a:ext cx="4251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t>✓  art-direction-plan-contract.md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6BCFF080-D1EF-472D-AA91-46A305A9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47488"/>
            <a:ext cx="4526280" cy="2834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1F8"/>
          </a:solidFill>
          <a:ln xmlns:a="http://schemas.openxmlformats.org/drawingml/2006/main" w="12700">
            <a:solidFill>
              <a:srgbClr val="E8F1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0661DC3-030F-4DCE-8695-BA6EB3B4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5065776"/>
            <a:ext cx="4251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t>✓  material-routes.md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4EA5178B-6CBA-4F54-806E-B8E428C7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431536"/>
            <a:ext cx="4526280" cy="2834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1F8"/>
          </a:solidFill>
          <a:ln xmlns:a="http://schemas.openxmlformats.org/drawingml/2006/main" w="12700">
            <a:solidFill>
              <a:srgbClr val="E8F1F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007BC91-DDEA-48D8-93C9-D6B7B3F4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5449824"/>
            <a:ext cx="4251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t>✓  knowledge-learning.md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32F8F538-5DB2-4FBF-AF21-9DBD98C8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06440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007C91"/>
                </a:solidFill>
                <a:latin typeface="Aptos"/>
                <a:ea typeface="Aptos"/>
                <a:cs typeface="Aptos"/>
              </a:defRPr>
            </a:pPr>
            <a:r>
              <a:t>Search failure never removes core duties or governance boundaries.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503F0F13-1944-408E-AB9C-AF364923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675887"/>
            <a:ext cx="5349240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E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2E69E87C-44A7-4FDD-B9C4-2D1EB9A6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3840480"/>
            <a:ext cx="2926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1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t>Optional capability layer · Index-native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2C654F93-23DB-4EFA-89AC-16A17F9C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370832"/>
            <a:ext cx="1508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t>image-led</a:t>
            </a:r>
          </a:p>
        </p:txBody>
      </p:sp>
      <p:sp>
        <p:nvSpPr>
          <p:cNvPr id="33" name="Connector 32">
            <a:extLst xmlns:a="http://schemas.openxmlformats.org/drawingml/2006/main">
              <a:ext uri="{FF2B5EF4-FFF2-40B4-BE49-F238E27FC236}">
                <a16:creationId xmlns:a16="http://schemas.microsoft.com/office/drawing/2014/main" id="{AA720648-1572-4289-AAAF-8B396C85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498848"/>
            <a:ext cx="347472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251F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DD44F972-4637-4674-B97F-454A02A5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370832"/>
            <a:ext cx="2788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t>cap.art.content-aware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9724CD16-69C4-4EB6-91B0-262E987B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809744"/>
            <a:ext cx="1508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t>high-risk-composition</a:t>
            </a:r>
          </a:p>
        </p:txBody>
      </p:sp>
      <p:sp>
        <p:nvSpPr>
          <p:cNvPr id="36" name="Connector 35">
            <a:extLst xmlns:a="http://schemas.openxmlformats.org/drawingml/2006/main">
              <a:ext uri="{FF2B5EF4-FFF2-40B4-BE49-F238E27FC236}">
                <a16:creationId xmlns:a16="http://schemas.microsoft.com/office/drawing/2014/main" id="{50C615A8-CA5C-4181-9A45-9C9C65A6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937759"/>
            <a:ext cx="347472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251F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442BC1AE-6ABE-450B-BFCD-B733D06B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809744"/>
            <a:ext cx="2788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t>cap.art.ab-regression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48353E18-9C27-4D2F-9C9A-F2EA127F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5248656"/>
            <a:ext cx="1508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t>architecture-house</a:t>
            </a:r>
          </a:p>
        </p:txBody>
      </p:sp>
      <p:sp>
        <p:nvSpPr>
          <p:cNvPr id="39" name="Connector 38">
            <a:extLst xmlns:a="http://schemas.openxmlformats.org/drawingml/2006/main">
              <a:ext uri="{FF2B5EF4-FFF2-40B4-BE49-F238E27FC236}">
                <a16:creationId xmlns:a16="http://schemas.microsoft.com/office/drawing/2014/main" id="{45F9462D-0720-4BEE-9B13-EAB27572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5376672"/>
            <a:ext cx="347472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251F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F8CBF17F-868D-4E07-942E-E8F0DB10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5248656"/>
            <a:ext cx="2788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t>cap.art.architecture-house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1E53D069-8F2A-4FF6-AFC9-03E2D5A6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5806440"/>
            <a:ext cx="4663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B73A3A"/>
                </a:solidFill>
                <a:latin typeface="Aptos"/>
                <a:ea typeface="Aptos"/>
                <a:cs typeface="Aptos"/>
              </a:defRPr>
            </a:pPr>
            <a:r>
              <a:t>Unknown signal → unresolved; never guess a “close enough” capability.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5F425C48-F1C5-4215-8450-7191D238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73952"/>
            <a:ext cx="51206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t>Stage 2 capability routing · synthetic demonstration only</a:t>
            </a:r>
          </a:p>
        </p:txBody>
      </p:sp>
    </p:spTree>
    <p:extLst>
      <p:ext uri="{BB962C8B-B14F-4D97-AF65-F5344CB8AC3E}">
        <p14:creationId xmlns:p14="http://schemas.microsoft.com/office/powerpoint/2010/main" val="11626701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D1A1397-C4C9-4FF5-8B57-1B27B05F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2251FF"/>
                </a:solidFill>
                <a:latin typeface="Aptos"/>
                <a:ea typeface="Aptos"/>
                <a:cs typeface="Aptos"/>
              </a:defRPr>
            </a:pPr>
            <a:r>
              <a:t>v0.4.0 · STAGE 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00A54DB-3EEC-4C1A-B438-B4712C32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10642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t>Five Skills Share One Index—No New “Sixth Decision-Maker”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6F503DB-65F0-404F-A6BF-215A2935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70432"/>
            <a:ext cx="10972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t>The Index only addresses and evidences; Logic / Copy / Art Direction / Output / Supervisor retain their original authority.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BAACBB6-7927-4E57-887F-8C67D8E1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47088"/>
            <a:ext cx="260604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1F8"/>
          </a:solidFill>
          <a:ln xmlns:a="http://schemas.openxmlformats.org/drawingml/2006/main" w="12700">
            <a:solidFill>
              <a:srgbClr val="2251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AE556DF-D868-4272-AC57-94604AFC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2048256"/>
            <a:ext cx="21762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2251FF"/>
                </a:solidFill>
                <a:latin typeface="Aptos"/>
                <a:ea typeface="Aptos"/>
                <a:cs typeface="Aptos"/>
              </a:defRPr>
            </a:pPr>
            <a:r>
              <a:t>CAPABILITY INDEX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E10BAFF-A917-4016-9972-689057FF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2404872"/>
            <a:ext cx="21762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t>method-only · brand-neutral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4002E40-6BB9-41B2-AC81-D48AE3DF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05740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E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0DB6373-6334-4BE4-9C8A-1AC8CE33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956816"/>
            <a:ext cx="183794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1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t>LOGIC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9A91AA2-794B-46D9-8C41-E43E43B2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304288"/>
            <a:ext cx="183794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2251FF"/>
                </a:solidFill>
                <a:latin typeface="Aptos"/>
                <a:ea typeface="Aptos"/>
                <a:cs typeface="Aptos"/>
              </a:defRPr>
            </a:pPr>
            <a:r>
              <a:t>evidence-research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96998CE-20B6-423C-824E-48FE6F38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624328"/>
            <a:ext cx="183794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t>research-and-reasoning</a:t>
            </a: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F5D802D6-5236-42F6-BF1E-4521C21B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531620" y="2898648"/>
            <a:ext cx="4572000" cy="256032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D6DEE3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3BF15160-72FA-4A96-A6F2-B6DDD5E9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4160520"/>
            <a:ext cx="205740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E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435B754-0BCB-4E9B-9245-1B943020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4288536"/>
            <a:ext cx="183794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1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t>COPY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C07924C-7EEC-4590-9576-2F52A737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4636008"/>
            <a:ext cx="183794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2251FF"/>
                </a:solidFill>
                <a:latin typeface="Aptos"/>
                <a:ea typeface="Aptos"/>
                <a:cs typeface="Aptos"/>
              </a:defRPr>
            </a:pPr>
            <a:r>
              <a:t>nested-meaning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9D897C1-4AD4-4EF2-BF3A-A8FA8908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4956048"/>
            <a:ext cx="183794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t>atomic-copy-and-hierarchy</a:t>
            </a:r>
          </a:p>
        </p:txBody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E4C45B6E-2DFC-47B6-8DF0-EF8A64C8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589020" y="2898648"/>
            <a:ext cx="2514600" cy="1261872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D6DEE3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B03D4BB6-96E2-4D48-BB2D-5A15CCFC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526280"/>
            <a:ext cx="242316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E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0EB079F-825F-4074-9800-53AEF068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4654296"/>
            <a:ext cx="22037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1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t>ART DIRECTION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A59AA7D-B10F-4D21-ADCB-CF5C00A1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5001768"/>
            <a:ext cx="22037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2251FF"/>
                </a:solidFill>
                <a:latin typeface="Aptos"/>
                <a:ea typeface="Aptos"/>
                <a:cs typeface="Aptos"/>
              </a:defRPr>
            </a:pPr>
            <a:r>
              <a:t>image-led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E761017-FDE9-406F-8AA4-704B0197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5321808"/>
            <a:ext cx="220370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t>content-aware-composition</a:t>
            </a:r>
          </a:p>
        </p:txBody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9FB2C063-B283-4B0D-9166-534A5D9D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57900" y="2898648"/>
            <a:ext cx="45720" cy="1627632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D6DEE3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4E989CD1-013E-4CFA-A394-C715EFAA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160520"/>
            <a:ext cx="205740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E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B5B3D00-BD96-47CF-B163-8B8DF354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4288536"/>
            <a:ext cx="183794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1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t>OUTPUT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107D6EF-86C5-4DD8-B98D-34FD9F4D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4636008"/>
            <a:ext cx="183794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2251FF"/>
                </a:solidFill>
                <a:latin typeface="Aptos"/>
                <a:ea typeface="Aptos"/>
                <a:cs typeface="Aptos"/>
              </a:defRPr>
            </a:pPr>
            <a:r>
              <a:t>technical-drift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03FB962-36C4-4B01-A9EA-3EBBD08A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4956048"/>
            <a:ext cx="183794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t>controlled-repair-loop</a:t>
            </a:r>
          </a:p>
        </p:txBody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3B3EDFB1-CDF5-4392-B53F-D51FECE8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620" y="2898648"/>
            <a:ext cx="2377440" cy="1261872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D6DEE3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021DF89C-0C58-4BA9-B4B7-D97A7522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828800"/>
            <a:ext cx="205740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E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59175081-5813-47C6-8147-7EE156F0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207" y="1956816"/>
            <a:ext cx="183794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1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t>SUPERVISOR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95236180-E592-4829-A8F4-6BDA5976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207" y="2304288"/>
            <a:ext cx="183794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2251FF"/>
                </a:solidFill>
                <a:latin typeface="Aptos"/>
                <a:ea typeface="Aptos"/>
                <a:cs typeface="Aptos"/>
              </a:defRPr>
            </a:pPr>
            <a:r>
              <a:t>plan-object-render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F278F286-0706-498F-9A45-8F396779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207" y="2624328"/>
            <a:ext cx="183794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t>medium-fidelity</a:t>
            </a:r>
          </a:p>
        </p:txBody>
      </p:sp>
      <p:sp>
        <p:nvSpPr>
          <p:cNvPr id="32" name="Connector 31">
            <a:extLst xmlns:a="http://schemas.openxmlformats.org/drawingml/2006/main">
              <a:ext uri="{FF2B5EF4-FFF2-40B4-BE49-F238E27FC236}">
                <a16:creationId xmlns:a16="http://schemas.microsoft.com/office/drawing/2014/main" id="{E5DCC660-FD47-4CC5-82C8-24BEF0BE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620" y="2898648"/>
            <a:ext cx="4480560" cy="256032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D6DEE3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F32BC2C2-2093-4A19-9560-5F940679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70448"/>
            <a:ext cx="1097280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6DE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01D567C6-53B0-4929-969C-03818E43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998464"/>
            <a:ext cx="2057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7C91"/>
                </a:solidFill>
                <a:latin typeface="Aptos"/>
                <a:ea typeface="Aptos"/>
                <a:cs typeface="Aptos"/>
              </a:defRPr>
            </a:pPr>
            <a:r>
              <a:t>✓ Core contracts do not depend on search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2D446A51-DE28-4FB5-82D7-617F9F80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998464"/>
            <a:ext cx="2057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7C91"/>
                </a:solidFill>
                <a:latin typeface="Aptos"/>
                <a:ea typeface="Aptos"/>
                <a:cs typeface="Aptos"/>
              </a:defRPr>
            </a:pPr>
            <a:r>
              <a:t>✓ capability only from builtin-catalog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BBFA0119-73D5-436F-8418-F31E2463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5998464"/>
            <a:ext cx="2057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7C91"/>
                </a:solidFill>
                <a:latin typeface="Aptos"/>
                <a:ea typeface="Aptos"/>
                <a:cs typeface="Aptos"/>
              </a:defRPr>
            </a:pPr>
            <a:r>
              <a:t>✓ unresolved gets no automatic fallback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D183AC1A-68A3-4025-B165-E909F86B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5998464"/>
            <a:ext cx="2057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7C91"/>
                </a:solidFill>
                <a:latin typeface="Aptos"/>
                <a:ea typeface="Aptos"/>
                <a:cs typeface="Aptos"/>
              </a:defRPr>
            </a:pPr>
            <a:r>
              <a:t>✓ brand_scope = none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3EB5A27F-3644-4A5E-B26D-1FBE897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998464"/>
            <a:ext cx="2057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7C91"/>
                </a:solidFill>
                <a:latin typeface="Aptos"/>
                <a:ea typeface="Aptos"/>
                <a:cs typeface="Aptos"/>
              </a:defRPr>
            </a:pPr>
            <a:r>
              <a:t>✓ No templates / masters / fonts / model weights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4146995E-0263-4903-8354-CEEEBF9A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92240"/>
            <a:ext cx="7498079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18288" rIns="27432" bIns="18288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00" b="0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t>The public capability catalog stores only Clayz method routes; private enterprise assets remain owner-local.</a:t>
            </a:r>
          </a:p>
        </p:txBody>
      </p:sp>
    </p:spTree>
    <p:extLst>
      <p:ext uri="{BB962C8B-B14F-4D97-AF65-F5344CB8AC3E}">
        <p14:creationId xmlns:p14="http://schemas.microsoft.com/office/powerpoint/2010/main" val="21166303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-1">
            <a:extLst xmlns:a="http://schemas.openxmlformats.org/drawingml/2006/main">
              <a:ext uri="{FF2B5EF4-FFF2-40B4-BE49-F238E27FC236}">
                <a16:creationId xmlns:a16="http://schemas.microsoft.com/office/drawing/2014/main" id="{8F8834C7-1164-457F-91A5-3C277A3E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51FF"/>
                </a:solidFill>
              </a:defRPr>
            </a:pPr>
            <a:r>
              <a:rPr sz="975" b="1">
                <a:solidFill>
                  <a:srgbClr val="2251FF"/>
                </a:solidFill>
              </a:rPr>
              <a:t>STAGE 3 · LAYOUT CONTRACT · UNRELEASED</a:t>
            </a:r>
          </a:p>
        </p:txBody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60495A01-DF6D-48A3-AD8E-534DB030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51C2C"/>
                </a:solidFill>
              </a:defRPr>
            </a:pPr>
            <a:r>
              <a:rPr sz="2925" b="1">
                <a:solidFill>
                  <a:srgbClr val="051C2C"/>
                </a:solidFill>
              </a:rPr>
              <a:t>Theme and Visual Variant Stay Outside the Contract Compiler</a:t>
            </a:r>
          </a:p>
        </p:txBody>
      </p:sp>
      <p:sp>
        <p:nvSpPr>
          <p:cNvPr id="3" name="subtitle-1">
            <a:extLst xmlns:a="http://schemas.openxmlformats.org/drawingml/2006/main">
              <a:ext uri="{FF2B5EF4-FFF2-40B4-BE49-F238E27FC236}">
                <a16:creationId xmlns:a16="http://schemas.microsoft.com/office/drawing/2014/main" id="{BC06C7F3-CB7B-4771-8988-1B7A3307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770"/>
                </a:solidFill>
              </a:defRPr>
            </a:pPr>
            <a:r>
              <a:rPr sz="1350" b="0">
                <a:solidFill>
                  <a:srgbClr val="5B6770"/>
                </a:solidFill>
              </a:rPr>
              <a:t>Registered semantic topology owns structure; styles and coordinates bind late within their own boundaries.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8E1BDF6A-12DB-4296-A774-37DAD8E8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770"/>
                </a:solidFill>
              </a:defRPr>
            </a:pPr>
            <a:r>
              <a:rPr sz="1050" b="1">
                <a:solidFill>
                  <a:srgbClr val="5B6770"/>
                </a:solidFill>
              </a:rPr>
              <a:t>01</a:t>
            </a:r>
          </a:p>
        </p:txBody>
      </p:sp>
      <p:sp>
        <p:nvSpPr>
          <p:cNvPr id="5" name="arrow-contract-tree">
            <a:extLst xmlns:a="http://schemas.openxmlformats.org/drawingml/2006/main">
              <a:ext uri="{FF2B5EF4-FFF2-40B4-BE49-F238E27FC236}">
                <a16:creationId xmlns:a16="http://schemas.microsoft.com/office/drawing/2014/main" id="{EE261868-E4A4-4DF2-AD8F-10ADCFE7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67075"/>
            <a:ext cx="12001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F1F8"/>
          </a:solidFill>
          <a:ln xmlns:a="http://schemas.openxmlformats.org/drawingml/2006/main" w="0">
            <a:solidFill>
              <a:srgbClr val="E8F1F8"/>
            </a:solidFill>
            <a:prstDash val="solid"/>
          </a:ln>
        </p:spPr>
      </p:sp>
      <p:sp>
        <p:nvSpPr>
          <p:cNvPr id="6" name="arrow-tree-coordinates">
            <a:extLst xmlns:a="http://schemas.openxmlformats.org/drawingml/2006/main">
              <a:ext uri="{FF2B5EF4-FFF2-40B4-BE49-F238E27FC236}">
                <a16:creationId xmlns:a16="http://schemas.microsoft.com/office/drawing/2014/main" id="{FFA47321-A8A2-4DA8-9C5C-917B8824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67075"/>
            <a:ext cx="12001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F1F8"/>
          </a:solidFill>
          <a:ln xmlns:a="http://schemas.openxmlformats.org/drawingml/2006/main" w="0">
            <a:solidFill>
              <a:srgbClr val="E8F1F8"/>
            </a:solidFill>
            <a:prstDash val="solid"/>
          </a:ln>
        </p:spPr>
      </p:sp>
      <p:sp>
        <p:nvSpPr>
          <p:cNvPr id="7" name="theme-rail">
            <a:extLst xmlns:a="http://schemas.openxmlformats.org/drawingml/2006/main">
              <a:ext uri="{FF2B5EF4-FFF2-40B4-BE49-F238E27FC236}">
                <a16:creationId xmlns:a16="http://schemas.microsoft.com/office/drawing/2014/main" id="{D25C551C-A04D-4B93-B87C-9F1F7B0C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962150"/>
            <a:ext cx="811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1"/>
            </a:solidFill>
            <a:prstDash val="solid"/>
          </a:ln>
        </p:spPr>
      </p:sp>
      <p:sp>
        <p:nvSpPr>
          <p:cNvPr id="8" name="variant-rail">
            <a:extLst xmlns:a="http://schemas.openxmlformats.org/drawingml/2006/main">
              <a:ext uri="{FF2B5EF4-FFF2-40B4-BE49-F238E27FC236}">
                <a16:creationId xmlns:a16="http://schemas.microsoft.com/office/drawing/2014/main" id="{5F06D1AC-4984-4EB3-8D51-38C431A3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71750"/>
            <a:ext cx="811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26A00"/>
            </a:solidFill>
            <a:prstDash val="solid"/>
          </a:ln>
        </p:spPr>
      </p:sp>
      <p:sp>
        <p:nvSpPr>
          <p:cNvPr id="9" name="semantic-binding-line">
            <a:extLst xmlns:a="http://schemas.openxmlformats.org/drawingml/2006/main">
              <a:ext uri="{FF2B5EF4-FFF2-40B4-BE49-F238E27FC236}">
                <a16:creationId xmlns:a16="http://schemas.microsoft.com/office/drawing/2014/main" id="{6C0617B1-2865-4B21-9D1A-BD1F1F75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91000"/>
            <a:ext cx="1781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3E5C"/>
            </a:solidFill>
            <a:prstDash val="solid"/>
          </a:ln>
        </p:spPr>
      </p:sp>
      <p:sp>
        <p:nvSpPr>
          <p:cNvPr id="10" name="theme-layer">
            <a:extLst xmlns:a="http://schemas.openxmlformats.org/drawingml/2006/main">
              <a:ext uri="{FF2B5EF4-FFF2-40B4-BE49-F238E27FC236}">
                <a16:creationId xmlns:a16="http://schemas.microsoft.com/office/drawing/2014/main" id="{79F321B0-DEAD-43F5-97D2-3ED0DE59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8669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F3F6"/>
          </a:solidFill>
          <a:ln xmlns:a="http://schemas.openxmlformats.org/drawingml/2006/main" w="11430">
            <a:solidFill>
              <a:srgbClr val="007C9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7C91"/>
                </a:solidFill>
              </a:defRPr>
            </a:pPr>
            <a:r>
              <a:rPr sz="1275" b="1">
                <a:solidFill>
                  <a:srgbClr val="007C91"/>
                </a:solidFill>
              </a:rPr>
              <a:t>THEME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07C91"/>
                </a:solidFill>
              </a:defRPr>
            </a:pPr>
            <a:r>
              <a:rPr sz="1275" b="1">
                <a:solidFill>
                  <a:srgbClr val="007C91"/>
                </a:solidFill>
              </a:rPr>
              <a:t>Colors · fonts · defaults</a:t>
            </a:r>
          </a:p>
        </p:txBody>
      </p:sp>
      <p:sp>
        <p:nvSpPr>
          <p:cNvPr id="11" name="visual-variant-layer">
            <a:extLst xmlns:a="http://schemas.openxmlformats.org/drawingml/2006/main">
              <a:ext uri="{FF2B5EF4-FFF2-40B4-BE49-F238E27FC236}">
                <a16:creationId xmlns:a16="http://schemas.microsoft.com/office/drawing/2014/main" id="{2B9F077C-06D9-46CF-8A71-93B97EBF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8669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1DB"/>
          </a:solidFill>
          <a:ln xmlns:a="http://schemas.openxmlformats.org/drawingml/2006/main" w="11430">
            <a:solidFill>
              <a:srgbClr val="B26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26A00"/>
                </a:solidFill>
              </a:defRPr>
            </a:pPr>
            <a:r>
              <a:rPr sz="1275" b="1">
                <a:solidFill>
                  <a:srgbClr val="B26A00"/>
                </a:solidFill>
              </a:rPr>
              <a:t>VISUAL VARIANT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B26A00"/>
                </a:solidFill>
              </a:defRPr>
            </a:pPr>
            <a:r>
              <a:rPr sz="1275" b="1">
                <a:solidFill>
                  <a:srgbClr val="B26A00"/>
                </a:solidFill>
              </a:rPr>
              <a:t>Density · form · motif</a:t>
            </a:r>
          </a:p>
        </p:txBody>
      </p:sp>
      <p:sp>
        <p:nvSpPr>
          <p:cNvPr id="12" name="late-bind-label">
            <a:extLst xmlns:a="http://schemas.openxmlformats.org/drawingml/2006/main">
              <a:ext uri="{FF2B5EF4-FFF2-40B4-BE49-F238E27FC236}">
                <a16:creationId xmlns:a16="http://schemas.microsoft.com/office/drawing/2014/main" id="{8016E50C-71E2-4A4E-A884-C5DBF5D8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859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B6770"/>
                </a:solidFill>
              </a:defRPr>
            </a:pPr>
            <a:r>
              <a:rPr sz="1200" b="1">
                <a:solidFill>
                  <a:srgbClr val="5B6770"/>
                </a:solidFill>
              </a:rPr>
              <a:t>Applied at object creation</a:t>
            </a:r>
          </a:p>
        </p:txBody>
      </p:sp>
      <p:sp>
        <p:nvSpPr>
          <p:cNvPr id="13" name="semantic-bindings">
            <a:extLst xmlns:a="http://schemas.openxmlformats.org/drawingml/2006/main">
              <a:ext uri="{FF2B5EF4-FFF2-40B4-BE49-F238E27FC236}">
                <a16:creationId xmlns:a16="http://schemas.microsoft.com/office/drawing/2014/main" id="{134AB08A-BF6A-4BC2-9263-7B96CBD0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77165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3E5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53E5C"/>
                </a:solidFill>
              </a:defRPr>
            </a:pPr>
            <a:r>
              <a:rPr sz="1275" b="1">
                <a:solidFill>
                  <a:srgbClr val="153E5C"/>
                </a:solidFill>
              </a:rPr>
              <a:t>Approved semantic bindings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53E5C"/>
                </a:solidFill>
              </a:defRPr>
            </a:pPr>
            <a:r>
              <a:rPr sz="1275" b="1">
                <a:solidFill>
                  <a:srgbClr val="153E5C"/>
                </a:solidFill>
              </a:rPr>
              <a:t>Semantic Tree node IDs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53E5C"/>
                </a:solidFill>
              </a:defRPr>
            </a:pPr>
            <a:r>
              <a:rPr sz="1275" b="1">
                <a:solidFill>
                  <a:srgbClr val="153E5C"/>
                </a:solidFill>
              </a:rPr>
              <a:t>+ copy_ids</a:t>
            </a:r>
          </a:p>
        </p:txBody>
      </p:sp>
      <p:sp>
        <p:nvSpPr>
          <p:cNvPr id="14" name="layout-contract-layer">
            <a:extLst xmlns:a="http://schemas.openxmlformats.org/drawingml/2006/main">
              <a:ext uri="{FF2B5EF4-FFF2-40B4-BE49-F238E27FC236}">
                <a16:creationId xmlns:a16="http://schemas.microsoft.com/office/drawing/2014/main" id="{8C8B3A44-43E4-48E5-BBC5-E77B8EAD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0375"/>
            <a:ext cx="20955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1430">
            <a:solidFill>
              <a:srgbClr val="2251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251FF"/>
                </a:solidFill>
              </a:defRPr>
            </a:pPr>
            <a:r>
              <a:rPr sz="1350" b="1">
                <a:solidFill>
                  <a:srgbClr val="2251FF"/>
                </a:solidFill>
              </a:rPr>
              <a:t>LAYOUT CONTRACT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2251FF"/>
                </a:solidFill>
              </a:defRPr>
            </a:pPr>
            <a:r>
              <a:rPr sz="1350" b="1">
                <a:solidFill>
                  <a:srgbClr val="2251FF"/>
                </a:solidFill>
              </a:rPr>
              <a:t>Registered · retrieved · hash-bound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2251FF"/>
                </a:solidFill>
              </a:defRPr>
            </a:pPr>
            <a:r>
              <a:rPr sz="1350" b="1">
                <a:solidFill>
                  <a:srgbClr val="2251FF"/>
                </a:solidFill>
              </a:rPr>
              <a:t>roles / slots / relations / weights</a:t>
            </a:r>
          </a:p>
        </p:txBody>
      </p:sp>
      <p:sp>
        <p:nvSpPr>
          <p:cNvPr id="15" name="layout-tree-layer">
            <a:extLst xmlns:a="http://schemas.openxmlformats.org/drawingml/2006/main">
              <a:ext uri="{FF2B5EF4-FFF2-40B4-BE49-F238E27FC236}">
                <a16:creationId xmlns:a16="http://schemas.microsoft.com/office/drawing/2014/main" id="{EA350801-311A-4756-AEF0-D7C5A972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000375"/>
            <a:ext cx="20955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3E5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53E5C"/>
                </a:solidFill>
              </a:defRPr>
            </a:pPr>
            <a:r>
              <a:rPr sz="1350" b="1">
                <a:solidFill>
                  <a:srgbClr val="153E5C"/>
                </a:solidFill>
              </a:rPr>
              <a:t>LAYOUT TREE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53E5C"/>
                </a:solidFill>
              </a:defRPr>
            </a:pPr>
            <a:r>
              <a:rPr sz="1350" b="1">
                <a:solidFill>
                  <a:srgbClr val="153E5C"/>
                </a:solidFill>
              </a:rPr>
              <a:t>Task-level row / column / grid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53E5C"/>
                </a:solidFill>
              </a:defRPr>
            </a:pPr>
            <a:r>
              <a:rPr sz="1350" b="1">
                <a:solidFill>
                  <a:srgbClr val="153E5C"/>
                </a:solidFill>
              </a:rPr>
              <a:t>retains contract + semantic lineage</a:t>
            </a:r>
          </a:p>
        </p:txBody>
      </p:sp>
      <p:sp>
        <p:nvSpPr>
          <p:cNvPr id="16" name="resolved-coordinates-layer">
            <a:extLst xmlns:a="http://schemas.openxmlformats.org/drawingml/2006/main">
              <a:ext uri="{FF2B5EF4-FFF2-40B4-BE49-F238E27FC236}">
                <a16:creationId xmlns:a16="http://schemas.microsoft.com/office/drawing/2014/main" id="{CEACD920-AF90-4130-A3EE-34835874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0375"/>
            <a:ext cx="20955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F3F6"/>
          </a:solidFill>
          <a:ln xmlns:a="http://schemas.openxmlformats.org/drawingml/2006/main" w="11430">
            <a:solidFill>
              <a:srgbClr val="007C9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7C91"/>
                </a:solidFill>
              </a:defRPr>
            </a:pPr>
            <a:r>
              <a:rPr sz="1350" b="1">
                <a:solidFill>
                  <a:srgbClr val="007C91"/>
                </a:solidFill>
              </a:rPr>
              <a:t>RESOLVED COORDINATES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07C91"/>
                </a:solidFill>
              </a:defRPr>
            </a:pPr>
            <a:r>
              <a:rPr sz="1350" b="1">
                <a:solidFill>
                  <a:srgbClr val="007C91"/>
                </a:solidFill>
              </a:rPr>
              <a:t>Current solver materializes deterministically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07C91"/>
                </a:solidFill>
              </a:defRPr>
            </a:pPr>
            <a:r>
              <a:rPr sz="1350" b="1">
                <a:solidFill>
                  <a:srgbClr val="007C91"/>
                </a:solidFill>
              </a:rPr>
              <a:t>x / y / w / h</a:t>
            </a:r>
          </a:p>
        </p:txBody>
      </p:sp>
      <p:sp>
        <p:nvSpPr>
          <p:cNvPr id="17" name="compiler-guard">
            <a:extLst xmlns:a="http://schemas.openxmlformats.org/drawingml/2006/main">
              <a:ext uri="{FF2B5EF4-FFF2-40B4-BE49-F238E27FC236}">
                <a16:creationId xmlns:a16="http://schemas.microsoft.com/office/drawing/2014/main" id="{F6DE436E-A43C-49BA-8B96-9A8B61E4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48175"/>
            <a:ext cx="756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251FF"/>
                </a:solidFill>
              </a:defRPr>
            </a:pPr>
            <a:r>
              <a:rPr sz="1350" b="1">
                <a:solidFill>
                  <a:srgbClr val="2251FF"/>
                </a:solidFill>
              </a:rPr>
              <a:t>Compiler consumes only: registered contract + approved semantic bindings</a:t>
            </a:r>
          </a:p>
        </p:txBody>
      </p:sp>
      <p:sp>
        <p:nvSpPr>
          <p:cNvPr id="18" name="bottom-rule-1">
            <a:extLst xmlns:a="http://schemas.openxmlformats.org/drawingml/2006/main">
              <a:ext uri="{FF2B5EF4-FFF2-40B4-BE49-F238E27FC236}">
                <a16:creationId xmlns:a16="http://schemas.microsoft.com/office/drawing/2014/main" id="{96FEFDC7-0B1E-4837-B6A4-3C65D57D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19" name="layer-count-dot">
            <a:extLst xmlns:a="http://schemas.openxmlformats.org/drawingml/2006/main">
              <a:ext uri="{FF2B5EF4-FFF2-40B4-BE49-F238E27FC236}">
                <a16:creationId xmlns:a16="http://schemas.microsoft.com/office/drawing/2014/main" id="{E2FA05D1-4582-4BD4-816C-6F0F3C25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 w="0">
            <a:solidFill>
              <a:srgbClr val="2251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layer-count">
            <a:extLst xmlns:a="http://schemas.openxmlformats.org/drawingml/2006/main">
              <a:ext uri="{FF2B5EF4-FFF2-40B4-BE49-F238E27FC236}">
                <a16:creationId xmlns:a16="http://schemas.microsoft.com/office/drawing/2014/main" id="{C13DB624-AC33-45D4-B47B-5F0B6EC3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149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51C2C"/>
                </a:solidFill>
              </a:defRPr>
            </a:pPr>
            <a:r>
              <a:rPr sz="1350" b="1">
                <a:solidFill>
                  <a:srgbClr val="051C2C"/>
                </a:solidFill>
              </a:rPr>
              <a:t>explicit layers</a:t>
            </a:r>
          </a:p>
        </p:txBody>
      </p:sp>
      <p:sp>
        <p:nvSpPr>
          <p:cNvPr id="21" name="contract-count-dot">
            <a:extLst xmlns:a="http://schemas.openxmlformats.org/drawingml/2006/main">
              <a:ext uri="{FF2B5EF4-FFF2-40B4-BE49-F238E27FC236}">
                <a16:creationId xmlns:a16="http://schemas.microsoft.com/office/drawing/2014/main" id="{E4375483-C0EA-4CF3-9038-B876725F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476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1"/>
          </a:solidFill>
          <a:ln xmlns:a="http://schemas.openxmlformats.org/drawingml/2006/main" w="0">
            <a:solidFill>
              <a:srgbClr val="007C9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contract-count">
            <a:extLst xmlns:a="http://schemas.openxmlformats.org/drawingml/2006/main">
              <a:ext uri="{FF2B5EF4-FFF2-40B4-BE49-F238E27FC236}">
                <a16:creationId xmlns:a16="http://schemas.microsoft.com/office/drawing/2014/main" id="{52F5B192-BABA-429B-A13E-7486C7D2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14975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51C2C"/>
                </a:solidFill>
              </a:defRPr>
            </a:pPr>
            <a:r>
              <a:rPr sz="1350" b="1">
                <a:solidFill>
                  <a:srgbClr val="051C2C"/>
                </a:solidFill>
              </a:rPr>
              <a:t>original registered contracts</a:t>
            </a:r>
          </a:p>
        </p:txBody>
      </p:sp>
      <p:sp>
        <p:nvSpPr>
          <p:cNvPr id="23" name="invented-count-dot">
            <a:extLst xmlns:a="http://schemas.openxmlformats.org/drawingml/2006/main">
              <a:ext uri="{FF2B5EF4-FFF2-40B4-BE49-F238E27FC236}">
                <a16:creationId xmlns:a16="http://schemas.microsoft.com/office/drawing/2014/main" id="{6597A701-2D1C-4D20-A39C-C9567794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76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1"/>
          </a:solidFill>
          <a:ln xmlns:a="http://schemas.openxmlformats.org/drawingml/2006/main" w="0">
            <a:solidFill>
              <a:srgbClr val="007C9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4" name="invented-count">
            <a:extLst xmlns:a="http://schemas.openxmlformats.org/drawingml/2006/main">
              <a:ext uri="{FF2B5EF4-FFF2-40B4-BE49-F238E27FC236}">
                <a16:creationId xmlns:a16="http://schemas.microsoft.com/office/drawing/2014/main" id="{0426A130-2DA7-44AF-A253-2797F078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5149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51C2C"/>
                </a:solidFill>
              </a:defRPr>
            </a:pPr>
            <a:r>
              <a:rPr sz="1350" b="1">
                <a:solidFill>
                  <a:srgbClr val="051C2C"/>
                </a:solidFill>
              </a:rPr>
              <a:t>may be invented</a:t>
            </a:r>
          </a:p>
        </p:txBody>
      </p:sp>
      <p:sp>
        <p:nvSpPr>
          <p:cNvPr id="25" name="version-note-1">
            <a:extLst xmlns:a="http://schemas.openxmlformats.org/drawingml/2006/main">
              <a:ext uri="{FF2B5EF4-FFF2-40B4-BE49-F238E27FC236}">
                <a16:creationId xmlns:a16="http://schemas.microsoft.com/office/drawing/2014/main" id="{F2766447-C646-4807-AD4B-5FDA5A2F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524500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B6770"/>
                </a:solidFill>
              </a:defRPr>
            </a:pPr>
            <a:r>
              <a:rPr sz="1125" b="0">
                <a:solidFill>
                  <a:srgbClr val="5B6770"/>
                </a:solidFill>
              </a:rPr>
              <a:t>VERSION remains 0.3.0 · no merge · no release</a:t>
            </a:r>
          </a:p>
        </p:txBody>
      </p:sp>
    </p:spTree>
    <p:extLst>
      <p:ext uri="{BB962C8B-B14F-4D97-AF65-F5344CB8AC3E}">
        <p14:creationId xmlns:p14="http://schemas.microsoft.com/office/powerpoint/2010/main" val="18158933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eyebrow-2">
            <a:extLst xmlns:a="http://schemas.openxmlformats.org/drawingml/2006/main">
              <a:ext uri="{FF2B5EF4-FFF2-40B4-BE49-F238E27FC236}">
                <a16:creationId xmlns:a16="http://schemas.microsoft.com/office/drawing/2014/main" id="{10FCA56D-CA53-4036-AAFE-96253DB2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51FF"/>
                </a:solidFill>
              </a:defRPr>
            </a:pPr>
            <a:r>
              <a:rPr sz="975" b="1">
                <a:solidFill>
                  <a:srgbClr val="2251FF"/>
                </a:solidFill>
              </a:rPr>
              <a:t>STAGE 3 · LAYOUT CONTRACT · UNRELEASED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D5DCFA14-7BC2-4FC4-9B5B-3C3F6758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51C2C"/>
                </a:solidFill>
              </a:defRPr>
            </a:pPr>
            <a:r>
              <a:rPr sz="2700" b="1">
                <a:solidFill>
                  <a:srgbClr val="051C2C"/>
                </a:solidFill>
              </a:rPr>
              <a:t>Unregistered Contract: Unresolved, No Layout Generated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BD824262-5647-4AF5-926B-C8C60B53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770"/>
                </a:solidFill>
              </a:defRPr>
            </a:pPr>
            <a:r>
              <a:rPr sz="1350" b="0">
                <a:solidFill>
                  <a:srgbClr val="5B6770"/>
                </a:solidFill>
              </a:rPr>
              <a:t>A unique candidate compiles deterministically; no match, ambiguity, or forged ID must fail explicitly.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73C549B2-5748-4419-9081-984B1B17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770"/>
                </a:solidFill>
              </a:defRPr>
            </a:pPr>
            <a:r>
              <a:rPr sz="1050" b="1">
                <a:solidFill>
                  <a:srgbClr val="5B6770"/>
                </a:solidFill>
              </a:rPr>
              <a:t>02</a:t>
            </a:r>
          </a:p>
        </p:txBody>
      </p:sp>
      <p:sp>
        <p:nvSpPr>
          <p:cNvPr id="5" name="selected-arrow-1">
            <a:extLst xmlns:a="http://schemas.openxmlformats.org/drawingml/2006/main">
              <a:ext uri="{FF2B5EF4-FFF2-40B4-BE49-F238E27FC236}">
                <a16:creationId xmlns:a16="http://schemas.microsoft.com/office/drawing/2014/main" id="{F5E84019-754D-401A-B8FB-B8A5AAB8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00275"/>
            <a:ext cx="8001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F3F6"/>
          </a:solidFill>
          <a:ln xmlns:a="http://schemas.openxmlformats.org/drawingml/2006/main" w="0">
            <a:solidFill>
              <a:srgbClr val="E5F3F6"/>
            </a:solidFill>
            <a:prstDash val="solid"/>
          </a:ln>
        </p:spPr>
      </p:sp>
      <p:sp>
        <p:nvSpPr>
          <p:cNvPr id="6" name="selected-arrow-2">
            <a:extLst xmlns:a="http://schemas.openxmlformats.org/drawingml/2006/main">
              <a:ext uri="{FF2B5EF4-FFF2-40B4-BE49-F238E27FC236}">
                <a16:creationId xmlns:a16="http://schemas.microsoft.com/office/drawing/2014/main" id="{73BEF5DD-D450-4035-9864-154C5CB6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00275"/>
            <a:ext cx="8001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F3F6"/>
          </a:solidFill>
          <a:ln xmlns:a="http://schemas.openxmlformats.org/drawingml/2006/main" w="0">
            <a:solidFill>
              <a:srgbClr val="E5F3F6"/>
            </a:solidFill>
            <a:prstDash val="solid"/>
          </a:ln>
        </p:spPr>
      </p:sp>
      <p:sp>
        <p:nvSpPr>
          <p:cNvPr id="7" name="selected-arrow-3">
            <a:extLst xmlns:a="http://schemas.openxmlformats.org/drawingml/2006/main">
              <a:ext uri="{FF2B5EF4-FFF2-40B4-BE49-F238E27FC236}">
                <a16:creationId xmlns:a16="http://schemas.microsoft.com/office/drawing/2014/main" id="{07422D57-9FC7-4F4B-AEA2-AF51C7EB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0275"/>
            <a:ext cx="8001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F3F6"/>
          </a:solidFill>
          <a:ln xmlns:a="http://schemas.openxmlformats.org/drawingml/2006/main" w="0">
            <a:solidFill>
              <a:srgbClr val="E5F3F6"/>
            </a:solidFill>
            <a:prstDash val="solid"/>
          </a:ln>
        </p:spPr>
      </p:sp>
      <p:sp>
        <p:nvSpPr>
          <p:cNvPr id="8" name="unresolved-arrow-1">
            <a:extLst xmlns:a="http://schemas.openxmlformats.org/drawingml/2006/main">
              <a:ext uri="{FF2B5EF4-FFF2-40B4-BE49-F238E27FC236}">
                <a16:creationId xmlns:a16="http://schemas.microsoft.com/office/drawing/2014/main" id="{86D202AB-3E99-4D7C-A157-19402049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95700"/>
            <a:ext cx="8001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7E8E6"/>
          </a:solidFill>
          <a:ln xmlns:a="http://schemas.openxmlformats.org/drawingml/2006/main" w="0">
            <a:solidFill>
              <a:srgbClr val="F7E8E6"/>
            </a:solidFill>
            <a:prstDash val="solid"/>
          </a:ln>
        </p:spPr>
      </p:sp>
      <p:sp>
        <p:nvSpPr>
          <p:cNvPr id="9" name="unresolved-arrow-2">
            <a:extLst xmlns:a="http://schemas.openxmlformats.org/drawingml/2006/main">
              <a:ext uri="{FF2B5EF4-FFF2-40B4-BE49-F238E27FC236}">
                <a16:creationId xmlns:a16="http://schemas.microsoft.com/office/drawing/2014/main" id="{B0D88B65-DDD0-4B29-B3AE-CC0822DA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95700"/>
            <a:ext cx="8001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7E8E6"/>
          </a:solidFill>
          <a:ln xmlns:a="http://schemas.openxmlformats.org/drawingml/2006/main" w="0">
            <a:solidFill>
              <a:srgbClr val="F7E8E6"/>
            </a:solidFill>
            <a:prstDash val="solid"/>
          </a:ln>
        </p:spPr>
      </p:sp>
      <p:sp>
        <p:nvSpPr>
          <p:cNvPr id="10" name="unresolved-stop">
            <a:extLst xmlns:a="http://schemas.openxmlformats.org/drawingml/2006/main">
              <a:ext uri="{FF2B5EF4-FFF2-40B4-BE49-F238E27FC236}">
                <a16:creationId xmlns:a16="http://schemas.microsoft.com/office/drawing/2014/main" id="{AED26233-34D3-4150-8732-67E62BE0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81425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73A3A"/>
            </a:solidFill>
            <a:prstDash val="solid"/>
          </a:ln>
        </p:spPr>
      </p:sp>
      <p:sp>
        <p:nvSpPr>
          <p:cNvPr id="11" name="selected-label">
            <a:extLst xmlns:a="http://schemas.openxmlformats.org/drawingml/2006/main">
              <a:ext uri="{FF2B5EF4-FFF2-40B4-BE49-F238E27FC236}">
                <a16:creationId xmlns:a16="http://schemas.microsoft.com/office/drawing/2014/main" id="{FD68DA6D-61EE-4B2F-9E28-462AAD69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7C91"/>
                </a:solidFill>
              </a:defRPr>
            </a:pPr>
            <a:r>
              <a:rPr sz="1050" b="1">
                <a:solidFill>
                  <a:srgbClr val="007C91"/>
                </a:solidFill>
              </a:rPr>
              <a:t>PATH A · REGISTERED</a:t>
            </a:r>
          </a:p>
        </p:txBody>
      </p:sp>
      <p:sp>
        <p:nvSpPr>
          <p:cNvPr id="12" name="evidence-line">
            <a:extLst xmlns:a="http://schemas.openxmlformats.org/drawingml/2006/main">
              <a:ext uri="{FF2B5EF4-FFF2-40B4-BE49-F238E27FC236}">
                <a16:creationId xmlns:a16="http://schemas.microsoft.com/office/drawing/2014/main" id="{47F83778-20CE-42C0-BD5A-0800CC3D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57350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770"/>
                </a:solidFill>
              </a:defRPr>
            </a:pPr>
            <a:r>
              <a:rPr sz="1050" b="1">
                <a:solidFill>
                  <a:srgbClr val="5B6770"/>
                </a:solidFill>
              </a:rPr>
              <a:t>EVIDENCE · 2 registered contracts · 8 Stage 3 tests · 38 suite tests passed</a:t>
            </a:r>
          </a:p>
        </p:txBody>
      </p:sp>
      <p:sp>
        <p:nvSpPr>
          <p:cNvPr id="13" name="selected-request">
            <a:extLst xmlns:a="http://schemas.openxmlformats.org/drawingml/2006/main">
              <a:ext uri="{FF2B5EF4-FFF2-40B4-BE49-F238E27FC236}">
                <a16:creationId xmlns:a16="http://schemas.microsoft.com/office/drawing/2014/main" id="{0D347193-9360-4837-815D-EF1D45CA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095500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7C91"/>
            </a:solidFill>
            <a:prstDash val="solid"/>
          </a:ln>
        </p:spPr>
      </p:sp>
      <p:sp>
        <p:nvSpPr>
          <p:cNvPr id="14" name="selected-request-kicker">
            <a:extLst xmlns:a="http://schemas.openxmlformats.org/drawingml/2006/main">
              <a:ext uri="{FF2B5EF4-FFF2-40B4-BE49-F238E27FC236}">
                <a16:creationId xmlns:a16="http://schemas.microsoft.com/office/drawing/2014/main" id="{CCE69A88-84B7-4613-A189-73D180A6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C91"/>
                </a:solidFill>
              </a:defRPr>
            </a:pPr>
            <a:r>
              <a:rPr sz="975" b="1">
                <a:solidFill>
                  <a:srgbClr val="007C91"/>
                </a:solidFill>
              </a:rPr>
              <a:t>REQUEST</a:t>
            </a:r>
          </a:p>
        </p:txBody>
      </p:sp>
      <p:sp>
        <p:nvSpPr>
          <p:cNvPr id="15" name="selected-request-body">
            <a:extLst xmlns:a="http://schemas.openxmlformats.org/drawingml/2006/main">
              <a:ext uri="{FF2B5EF4-FFF2-40B4-BE49-F238E27FC236}">
                <a16:creationId xmlns:a16="http://schemas.microsoft.com/office/drawing/2014/main" id="{12AD71A5-2933-4E77-B0E7-E6D5BA58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51C2C"/>
                </a:solidFill>
              </a:defRPr>
            </a:pPr>
            <a:r>
              <a:rPr sz="1275" b="1">
                <a:solidFill>
                  <a:srgbClr val="051C2C"/>
                </a:solidFill>
              </a:rPr>
              <a:t>comparison + supports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051C2C"/>
                </a:solidFill>
              </a:defRPr>
            </a:pPr>
            <a:r>
              <a:rPr sz="1275" b="1">
                <a:solidFill>
                  <a:srgbClr val="051C2C"/>
                </a:solidFill>
              </a:rPr>
              <a:t>+ evidence-led</a:t>
            </a:r>
          </a:p>
        </p:txBody>
      </p:sp>
      <p:sp>
        <p:nvSpPr>
          <p:cNvPr id="16" name="selected-receipt">
            <a:extLst xmlns:a="http://schemas.openxmlformats.org/drawingml/2006/main">
              <a:ext uri="{FF2B5EF4-FFF2-40B4-BE49-F238E27FC236}">
                <a16:creationId xmlns:a16="http://schemas.microsoft.com/office/drawing/2014/main" id="{5CDA6E28-9896-4F05-9CE7-91563101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095500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E5F3F6"/>
          </a:solidFill>
          <a:ln xmlns:a="http://schemas.openxmlformats.org/drawingml/2006/main" w="11430">
            <a:solidFill>
              <a:srgbClr val="007C91"/>
            </a:solidFill>
            <a:prstDash val="solid"/>
          </a:ln>
        </p:spPr>
      </p:sp>
      <p:sp>
        <p:nvSpPr>
          <p:cNvPr id="17" name="selected-receipt-kicker">
            <a:extLst xmlns:a="http://schemas.openxmlformats.org/drawingml/2006/main">
              <a:ext uri="{FF2B5EF4-FFF2-40B4-BE49-F238E27FC236}">
                <a16:creationId xmlns:a16="http://schemas.microsoft.com/office/drawing/2014/main" id="{B9AECE77-FAE9-4BE5-9EAD-6364F818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7645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C91"/>
                </a:solidFill>
              </a:defRPr>
            </a:pPr>
            <a:r>
              <a:rPr sz="975" b="1">
                <a:solidFill>
                  <a:srgbClr val="007C91"/>
                </a:solidFill>
              </a:rPr>
              <a:t>RETRIEVAL RECEIPT</a:t>
            </a:r>
          </a:p>
        </p:txBody>
      </p:sp>
      <p:sp>
        <p:nvSpPr>
          <p:cNvPr id="18" name="selected-receipt-body">
            <a:extLst xmlns:a="http://schemas.openxmlformats.org/drawingml/2006/main">
              <a:ext uri="{FF2B5EF4-FFF2-40B4-BE49-F238E27FC236}">
                <a16:creationId xmlns:a16="http://schemas.microsoft.com/office/drawing/2014/main" id="{497A311D-995C-4EC1-A87A-F6A9B3E2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241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51C2C"/>
                </a:solidFill>
              </a:defRPr>
            </a:pPr>
            <a:r>
              <a:rPr sz="1275" b="1">
                <a:solidFill>
                  <a:srgbClr val="051C2C"/>
                </a:solidFill>
              </a:rPr>
              <a:t>1 eligible candidate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051C2C"/>
                </a:solidFill>
              </a:defRPr>
            </a:pPr>
            <a:r>
              <a:rPr sz="1275" b="1">
                <a:solidFill>
                  <a:srgbClr val="051C2C"/>
                </a:solidFill>
              </a:rPr>
              <a:t>0 invented records</a:t>
            </a:r>
          </a:p>
        </p:txBody>
      </p:sp>
      <p:sp>
        <p:nvSpPr>
          <p:cNvPr id="19" name="selected-contract">
            <a:extLst xmlns:a="http://schemas.openxmlformats.org/drawingml/2006/main">
              <a:ext uri="{FF2B5EF4-FFF2-40B4-BE49-F238E27FC236}">
                <a16:creationId xmlns:a16="http://schemas.microsoft.com/office/drawing/2014/main" id="{17A7D5B5-3013-4040-B0D3-1A67125D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095500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7C91"/>
            </a:solidFill>
            <a:prstDash val="solid"/>
          </a:ln>
        </p:spPr>
      </p:sp>
      <p:sp>
        <p:nvSpPr>
          <p:cNvPr id="20" name="selected-contract-kicker">
            <a:extLst xmlns:a="http://schemas.openxmlformats.org/drawingml/2006/main">
              <a:ext uri="{FF2B5EF4-FFF2-40B4-BE49-F238E27FC236}">
                <a16:creationId xmlns:a16="http://schemas.microsoft.com/office/drawing/2014/main" id="{4B395880-1730-41F8-A8B8-D5BBC5B0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C91"/>
                </a:solidFill>
              </a:defRPr>
            </a:pPr>
            <a:r>
              <a:rPr sz="975" b="1">
                <a:solidFill>
                  <a:srgbClr val="007C91"/>
                </a:solidFill>
              </a:rPr>
              <a:t>SELECTED RECORD</a:t>
            </a:r>
          </a:p>
        </p:txBody>
      </p:sp>
      <p:sp>
        <p:nvSpPr>
          <p:cNvPr id="21" name="selected-contract-body">
            <a:extLst xmlns:a="http://schemas.openxmlformats.org/drawingml/2006/main">
              <a:ext uri="{FF2B5EF4-FFF2-40B4-BE49-F238E27FC236}">
                <a16:creationId xmlns:a16="http://schemas.microsoft.com/office/drawing/2014/main" id="{02FE586C-2CE3-46F5-8314-D2A095D7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241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51C2C"/>
                </a:solidFill>
              </a:defRPr>
            </a:pPr>
            <a:r>
              <a:rPr sz="1275" b="1">
                <a:solidFill>
                  <a:srgbClr val="051C2C"/>
                </a:solidFill>
              </a:rPr>
              <a:t>layout.evidence-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051C2C"/>
                </a:solidFill>
              </a:defRPr>
            </a:pPr>
            <a:r>
              <a:rPr sz="1275" b="1">
                <a:solidFill>
                  <a:srgbClr val="051C2C"/>
                </a:solidFill>
              </a:rPr>
              <a:t>with-implication</a:t>
            </a:r>
          </a:p>
        </p:txBody>
      </p:sp>
      <p:sp>
        <p:nvSpPr>
          <p:cNvPr id="22" name="selected-output">
            <a:extLst xmlns:a="http://schemas.openxmlformats.org/drawingml/2006/main">
              <a:ext uri="{FF2B5EF4-FFF2-40B4-BE49-F238E27FC236}">
                <a16:creationId xmlns:a16="http://schemas.microsoft.com/office/drawing/2014/main" id="{4FFDCFF6-61E3-43E1-A01E-CBCD4202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095500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E5F3F6"/>
          </a:solidFill>
          <a:ln xmlns:a="http://schemas.openxmlformats.org/drawingml/2006/main" w="11430">
            <a:solidFill>
              <a:srgbClr val="007C91"/>
            </a:solidFill>
            <a:prstDash val="solid"/>
          </a:ln>
        </p:spPr>
      </p:sp>
      <p:sp>
        <p:nvSpPr>
          <p:cNvPr id="23" name="selected-output-kicker">
            <a:extLst xmlns:a="http://schemas.openxmlformats.org/drawingml/2006/main">
              <a:ext uri="{FF2B5EF4-FFF2-40B4-BE49-F238E27FC236}">
                <a16:creationId xmlns:a16="http://schemas.microsoft.com/office/drawing/2014/main" id="{12BB4363-C38E-4BF0-8DE2-944D0F3E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7645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C91"/>
                </a:solidFill>
              </a:defRPr>
            </a:pPr>
            <a:r>
              <a:rPr sz="975" b="1">
                <a:solidFill>
                  <a:srgbClr val="007C91"/>
                </a:solidFill>
              </a:rPr>
              <a:t>RESULT</a:t>
            </a:r>
          </a:p>
        </p:txBody>
      </p:sp>
      <p:sp>
        <p:nvSpPr>
          <p:cNvPr id="24" name="selected-output-body">
            <a:extLst xmlns:a="http://schemas.openxmlformats.org/drawingml/2006/main">
              <a:ext uri="{FF2B5EF4-FFF2-40B4-BE49-F238E27FC236}">
                <a16:creationId xmlns:a16="http://schemas.microsoft.com/office/drawing/2014/main" id="{1B80D05C-D4D4-4336-818B-F07FFE28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241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51C2C"/>
                </a:solidFill>
              </a:defRPr>
            </a:pPr>
            <a:r>
              <a:rPr sz="1275" b="1">
                <a:solidFill>
                  <a:srgbClr val="051C2C"/>
                </a:solidFill>
              </a:rPr>
              <a:t>compiled tree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051C2C"/>
                </a:solidFill>
              </a:defRPr>
            </a:pPr>
            <a:r>
              <a:rPr sz="1275" b="1">
                <a:solidFill>
                  <a:srgbClr val="051C2C"/>
                </a:solidFill>
              </a:rPr>
              <a:t>coordinates solved</a:t>
            </a:r>
          </a:p>
        </p:txBody>
      </p:sp>
      <p:sp>
        <p:nvSpPr>
          <p:cNvPr id="25" name="unresolved-label">
            <a:extLst xmlns:a="http://schemas.openxmlformats.org/drawingml/2006/main">
              <a:ext uri="{FF2B5EF4-FFF2-40B4-BE49-F238E27FC236}">
                <a16:creationId xmlns:a16="http://schemas.microsoft.com/office/drawing/2014/main" id="{EB7E2AF7-EFB6-4C02-A7BA-A2AFB391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73A3A"/>
                </a:solidFill>
              </a:defRPr>
            </a:pPr>
            <a:r>
              <a:rPr sz="1050" b="1">
                <a:solidFill>
                  <a:srgbClr val="B73A3A"/>
                </a:solidFill>
              </a:rPr>
              <a:t>PATH B · NO REGISTERED MATCH</a:t>
            </a:r>
          </a:p>
        </p:txBody>
      </p:sp>
      <p:sp>
        <p:nvSpPr>
          <p:cNvPr id="26" name="unresolved-request">
            <a:extLst xmlns:a="http://schemas.openxmlformats.org/drawingml/2006/main">
              <a:ext uri="{FF2B5EF4-FFF2-40B4-BE49-F238E27FC236}">
                <a16:creationId xmlns:a16="http://schemas.microsoft.com/office/drawing/2014/main" id="{2CD0999F-5F7C-4F7D-9EB5-D3081CFF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2095500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3A3A"/>
            </a:solidFill>
            <a:prstDash val="solid"/>
          </a:ln>
        </p:spPr>
      </p:sp>
      <p:sp>
        <p:nvSpPr>
          <p:cNvPr id="27" name="unresolved-request-kicker">
            <a:extLst xmlns:a="http://schemas.openxmlformats.org/drawingml/2006/main">
              <a:ext uri="{FF2B5EF4-FFF2-40B4-BE49-F238E27FC236}">
                <a16:creationId xmlns:a16="http://schemas.microsoft.com/office/drawing/2014/main" id="{C9630BDF-77BB-4AEC-A9EB-BF056EDD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73A3A"/>
                </a:solidFill>
              </a:defRPr>
            </a:pPr>
            <a:r>
              <a:rPr sz="975" b="1">
                <a:solidFill>
                  <a:srgbClr val="B73A3A"/>
                </a:solidFill>
              </a:rPr>
              <a:t>REQUEST</a:t>
            </a:r>
          </a:p>
        </p:txBody>
      </p:sp>
      <p:sp>
        <p:nvSpPr>
          <p:cNvPr id="28" name="unresolved-request-body">
            <a:extLst xmlns:a="http://schemas.openxmlformats.org/drawingml/2006/main">
              <a:ext uri="{FF2B5EF4-FFF2-40B4-BE49-F238E27FC236}">
                <a16:creationId xmlns:a16="http://schemas.microsoft.com/office/drawing/2014/main" id="{6F0A1992-25F9-42B3-BEA4-08755CF3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952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51C2C"/>
                </a:solidFill>
              </a:defRPr>
            </a:pPr>
            <a:r>
              <a:rPr sz="1275" b="1">
                <a:solidFill>
                  <a:srgbClr val="051C2C"/>
                </a:solidFill>
              </a:rPr>
              <a:t>radial-constellation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051C2C"/>
                </a:solidFill>
              </a:defRPr>
            </a:pPr>
            <a:r>
              <a:rPr sz="1275" b="1">
                <a:solidFill>
                  <a:srgbClr val="051C2C"/>
                </a:solidFill>
              </a:rPr>
              <a:t>+ orbits</a:t>
            </a:r>
          </a:p>
        </p:txBody>
      </p:sp>
      <p:sp>
        <p:nvSpPr>
          <p:cNvPr id="29" name="unresolved-receipt">
            <a:extLst xmlns:a="http://schemas.openxmlformats.org/drawingml/2006/main">
              <a:ext uri="{FF2B5EF4-FFF2-40B4-BE49-F238E27FC236}">
                <a16:creationId xmlns:a16="http://schemas.microsoft.com/office/drawing/2014/main" id="{3D6D37F9-E200-41AB-9C1B-2D7CBB10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48050"/>
            <a:ext cx="2095500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F7E8E6"/>
          </a:solidFill>
          <a:ln xmlns:a="http://schemas.openxmlformats.org/drawingml/2006/main" w="11430">
            <a:solidFill>
              <a:srgbClr val="B73A3A"/>
            </a:solidFill>
            <a:prstDash val="solid"/>
          </a:ln>
        </p:spPr>
      </p:sp>
      <p:sp>
        <p:nvSpPr>
          <p:cNvPr id="30" name="unresolved-receipt-kicker">
            <a:extLst xmlns:a="http://schemas.openxmlformats.org/drawingml/2006/main">
              <a:ext uri="{FF2B5EF4-FFF2-40B4-BE49-F238E27FC236}">
                <a16:creationId xmlns:a16="http://schemas.microsoft.com/office/drawing/2014/main" id="{3FAEEDC3-E8FB-43AB-B7EC-EDD3DD65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71875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73A3A"/>
                </a:solidFill>
              </a:defRPr>
            </a:pPr>
            <a:r>
              <a:rPr sz="975" b="1">
                <a:solidFill>
                  <a:srgbClr val="B73A3A"/>
                </a:solidFill>
              </a:rPr>
              <a:t>RETRIEVAL RECEIPT</a:t>
            </a:r>
          </a:p>
        </p:txBody>
      </p:sp>
      <p:sp>
        <p:nvSpPr>
          <p:cNvPr id="31" name="unresolved-receipt-body">
            <a:extLst xmlns:a="http://schemas.openxmlformats.org/drawingml/2006/main">
              <a:ext uri="{FF2B5EF4-FFF2-40B4-BE49-F238E27FC236}">
                <a16:creationId xmlns:a16="http://schemas.microsoft.com/office/drawing/2014/main" id="{13FBA633-4E7E-459F-99C0-084BA91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1952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51C2C"/>
                </a:solidFill>
              </a:defRPr>
            </a:pPr>
            <a:r>
              <a:rPr sz="1275" b="1">
                <a:solidFill>
                  <a:srgbClr val="051C2C"/>
                </a:solidFill>
              </a:rPr>
              <a:t>0 eligible candidates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051C2C"/>
                </a:solidFill>
              </a:defRPr>
            </a:pPr>
            <a:r>
              <a:rPr sz="1275" b="1">
                <a:solidFill>
                  <a:srgbClr val="051C2C"/>
                </a:solidFill>
              </a:rPr>
              <a:t>0 invented records</a:t>
            </a:r>
          </a:p>
        </p:txBody>
      </p:sp>
      <p:sp>
        <p:nvSpPr>
          <p:cNvPr id="32" name="unresolved-status">
            <a:extLst xmlns:a="http://schemas.openxmlformats.org/drawingml/2006/main">
              <a:ext uri="{FF2B5EF4-FFF2-40B4-BE49-F238E27FC236}">
                <a16:creationId xmlns:a16="http://schemas.microsoft.com/office/drawing/2014/main" id="{E71D5715-B124-4991-B43E-AED3AC52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48050"/>
            <a:ext cx="2095500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3A3A"/>
            </a:solidFill>
            <a:prstDash val="solid"/>
          </a:ln>
        </p:spPr>
      </p:sp>
      <p:sp>
        <p:nvSpPr>
          <p:cNvPr id="33" name="unresolved-status-kicker">
            <a:extLst xmlns:a="http://schemas.openxmlformats.org/drawingml/2006/main">
              <a:ext uri="{FF2B5EF4-FFF2-40B4-BE49-F238E27FC236}">
                <a16:creationId xmlns:a16="http://schemas.microsoft.com/office/drawing/2014/main" id="{92D26C8F-3CD9-498E-A48B-C732AF0F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71875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73A3A"/>
                </a:solidFill>
              </a:defRPr>
            </a:pPr>
            <a:r>
              <a:rPr sz="975" b="1">
                <a:solidFill>
                  <a:srgbClr val="B73A3A"/>
                </a:solidFill>
              </a:rPr>
              <a:t>RESOLUTION</a:t>
            </a:r>
          </a:p>
        </p:txBody>
      </p:sp>
      <p:sp>
        <p:nvSpPr>
          <p:cNvPr id="34" name="unresolved-status-body">
            <a:extLst xmlns:a="http://schemas.openxmlformats.org/drawingml/2006/main">
              <a:ext uri="{FF2B5EF4-FFF2-40B4-BE49-F238E27FC236}">
                <a16:creationId xmlns:a16="http://schemas.microsoft.com/office/drawing/2014/main" id="{97B0E11B-7319-4EF3-B78C-307AC9CD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1952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51C2C"/>
                </a:solidFill>
              </a:defRPr>
            </a:pPr>
            <a:r>
              <a:rPr sz="1275" b="1">
                <a:solidFill>
                  <a:srgbClr val="051C2C"/>
                </a:solidFill>
              </a:rPr>
              <a:t>status = unresolved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051C2C"/>
                </a:solidFill>
              </a:defRPr>
            </a:pPr>
            <a:r>
              <a:rPr sz="1275" b="1">
                <a:solidFill>
                  <a:srgbClr val="051C2C"/>
                </a:solidFill>
              </a:rPr>
              <a:t>fallback is explicit</a:t>
            </a:r>
          </a:p>
        </p:txBody>
      </p:sp>
      <p:sp>
        <p:nvSpPr>
          <p:cNvPr id="35" name="no-compilation">
            <a:extLst xmlns:a="http://schemas.openxmlformats.org/drawingml/2006/main">
              <a:ext uri="{FF2B5EF4-FFF2-40B4-BE49-F238E27FC236}">
                <a16:creationId xmlns:a16="http://schemas.microsoft.com/office/drawing/2014/main" id="{FFF4B221-BC9A-4D0C-9BF4-92D89380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5623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73A3A"/>
                </a:solidFill>
              </a:defRPr>
            </a:pPr>
            <a:r>
              <a:rPr sz="1500" b="1">
                <a:solidFill>
                  <a:srgbClr val="B73A3A"/>
                </a:solidFill>
              </a:rPr>
              <a:t>NO COMPILATION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B73A3A"/>
                </a:solidFill>
              </a:defRPr>
            </a:pPr>
            <a:r>
              <a:rPr sz="1500" b="1">
                <a:solidFill>
                  <a:srgbClr val="B73A3A"/>
                </a:solidFill>
              </a:rPr>
              <a:t>ARTIFACT</a:t>
            </a:r>
          </a:p>
        </p:txBody>
      </p:sp>
      <p:sp>
        <p:nvSpPr>
          <p:cNvPr id="36" name="gate-divider">
            <a:extLst xmlns:a="http://schemas.openxmlformats.org/drawingml/2006/main">
              <a:ext uri="{FF2B5EF4-FFF2-40B4-BE49-F238E27FC236}">
                <a16:creationId xmlns:a16="http://schemas.microsoft.com/office/drawing/2014/main" id="{9BFA36B3-C5FD-421A-A0D7-896CD487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039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37" name="gate-title">
            <a:extLst xmlns:a="http://schemas.openxmlformats.org/drawingml/2006/main">
              <a:ext uri="{FF2B5EF4-FFF2-40B4-BE49-F238E27FC236}">
                <a16:creationId xmlns:a16="http://schemas.microsoft.com/office/drawing/2014/main" id="{2E170D06-8903-4E75-A7E5-0F80F388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1C2C"/>
                </a:solidFill>
              </a:defRPr>
            </a:pPr>
            <a:r>
              <a:rPr sz="1650" b="1">
                <a:solidFill>
                  <a:srgbClr val="051C2C"/>
                </a:solidFill>
              </a:rPr>
              <a:t>Five Machine Gates</a:t>
            </a:r>
          </a:p>
        </p:txBody>
      </p:sp>
      <p:sp>
        <p:nvSpPr>
          <p:cNvPr id="38" name="gate-1-dot">
            <a:extLst xmlns:a="http://schemas.openxmlformats.org/drawingml/2006/main">
              <a:ext uri="{FF2B5EF4-FFF2-40B4-BE49-F238E27FC236}">
                <a16:creationId xmlns:a16="http://schemas.microsoft.com/office/drawing/2014/main" id="{3E8D4FD5-71CF-4286-82AF-232FD9F6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E5C"/>
          </a:solidFill>
          <a:ln xmlns:a="http://schemas.openxmlformats.org/drawingml/2006/main" w="0">
            <a:solidFill>
              <a:srgbClr val="153E5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9" name="gate-1-text">
            <a:extLst xmlns:a="http://schemas.openxmlformats.org/drawingml/2006/main">
              <a:ext uri="{FF2B5EF4-FFF2-40B4-BE49-F238E27FC236}">
                <a16:creationId xmlns:a16="http://schemas.microsoft.com/office/drawing/2014/main" id="{7174D14C-328F-4350-9F34-77968DA4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81625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51C2C"/>
                </a:solidFill>
              </a:defRPr>
            </a:pPr>
            <a:r>
              <a:rPr sz="1200" b="1">
                <a:solidFill>
                  <a:srgbClr val="051C2C"/>
                </a:solidFill>
              </a:rPr>
              <a:t>ID must appear in receipt</a:t>
            </a:r>
          </a:p>
        </p:txBody>
      </p:sp>
      <p:sp>
        <p:nvSpPr>
          <p:cNvPr id="40" name="gate-2-dot">
            <a:extLst xmlns:a="http://schemas.openxmlformats.org/drawingml/2006/main">
              <a:ext uri="{FF2B5EF4-FFF2-40B4-BE49-F238E27FC236}">
                <a16:creationId xmlns:a16="http://schemas.microsoft.com/office/drawing/2014/main" id="{293E8D39-B4C2-4F54-B2DD-6B6E5F96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43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E5C"/>
          </a:solidFill>
          <a:ln xmlns:a="http://schemas.openxmlformats.org/drawingml/2006/main" w="0">
            <a:solidFill>
              <a:srgbClr val="153E5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1" name="gate-2-text">
            <a:extLst xmlns:a="http://schemas.openxmlformats.org/drawingml/2006/main">
              <a:ext uri="{FF2B5EF4-FFF2-40B4-BE49-F238E27FC236}">
                <a16:creationId xmlns:a16="http://schemas.microsoft.com/office/drawing/2014/main" id="{6B3C6774-8225-49EB-AC13-25BBEE27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381625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51C2C"/>
                </a:solidFill>
              </a:defRPr>
            </a:pPr>
            <a:r>
              <a:rPr sz="1200" b="1">
                <a:solidFill>
                  <a:srgbClr val="051C2C"/>
                </a:solidFill>
              </a:rPr>
              <a:t>Human admission + rights</a:t>
            </a:r>
          </a:p>
        </p:txBody>
      </p:sp>
      <p:sp>
        <p:nvSpPr>
          <p:cNvPr id="42" name="gate-3-dot">
            <a:extLst xmlns:a="http://schemas.openxmlformats.org/drawingml/2006/main">
              <a:ext uri="{FF2B5EF4-FFF2-40B4-BE49-F238E27FC236}">
                <a16:creationId xmlns:a16="http://schemas.microsoft.com/office/drawing/2014/main" id="{662B5B22-1586-4899-AF21-F7F8F581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43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E5C"/>
          </a:solidFill>
          <a:ln xmlns:a="http://schemas.openxmlformats.org/drawingml/2006/main" w="0">
            <a:solidFill>
              <a:srgbClr val="153E5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3" name="gate-3-text">
            <a:extLst xmlns:a="http://schemas.openxmlformats.org/drawingml/2006/main">
              <a:ext uri="{FF2B5EF4-FFF2-40B4-BE49-F238E27FC236}">
                <a16:creationId xmlns:a16="http://schemas.microsoft.com/office/drawing/2014/main" id="{E24A1692-7C2D-48FD-A212-083F8720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381625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51C2C"/>
                </a:solidFill>
              </a:defRPr>
            </a:pPr>
            <a:r>
              <a:rPr sz="1200" b="1">
                <a:solidFill>
                  <a:srgbClr val="051C2C"/>
                </a:solidFill>
              </a:rPr>
              <a:t>payload SHA-256</a:t>
            </a:r>
          </a:p>
        </p:txBody>
      </p:sp>
      <p:sp>
        <p:nvSpPr>
          <p:cNvPr id="44" name="gate-4-dot">
            <a:extLst xmlns:a="http://schemas.openxmlformats.org/drawingml/2006/main">
              <a:ext uri="{FF2B5EF4-FFF2-40B4-BE49-F238E27FC236}">
                <a16:creationId xmlns:a16="http://schemas.microsoft.com/office/drawing/2014/main" id="{F5275DFC-43F6-492D-A1D0-53E532F1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343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E5C"/>
          </a:solidFill>
          <a:ln xmlns:a="http://schemas.openxmlformats.org/drawingml/2006/main" w="0">
            <a:solidFill>
              <a:srgbClr val="153E5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5" name="gate-4-text">
            <a:extLst xmlns:a="http://schemas.openxmlformats.org/drawingml/2006/main">
              <a:ext uri="{FF2B5EF4-FFF2-40B4-BE49-F238E27FC236}">
                <a16:creationId xmlns:a16="http://schemas.microsoft.com/office/drawing/2014/main" id="{9AD74F18-C756-4151-B399-54227608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381625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51C2C"/>
                </a:solidFill>
              </a:defRPr>
            </a:pPr>
            <a:r>
              <a:rPr sz="1200" b="1">
                <a:solidFill>
                  <a:srgbClr val="051C2C"/>
                </a:solidFill>
              </a:rPr>
              <a:t>Slot cardinality + type</a:t>
            </a:r>
          </a:p>
        </p:txBody>
      </p:sp>
      <p:sp>
        <p:nvSpPr>
          <p:cNvPr id="46" name="gate-5-dot">
            <a:extLst xmlns:a="http://schemas.openxmlformats.org/drawingml/2006/main">
              <a:ext uri="{FF2B5EF4-FFF2-40B4-BE49-F238E27FC236}">
                <a16:creationId xmlns:a16="http://schemas.microsoft.com/office/drawing/2014/main" id="{3A0BA82B-27E6-490F-880B-7523FA1F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343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 w="0">
            <a:solidFill>
              <a:srgbClr val="2251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7" name="gate-5-text">
            <a:extLst xmlns:a="http://schemas.openxmlformats.org/drawingml/2006/main">
              <a:ext uri="{FF2B5EF4-FFF2-40B4-BE49-F238E27FC236}">
                <a16:creationId xmlns:a16="http://schemas.microsoft.com/office/drawing/2014/main" id="{50285D20-58C4-4E89-AA12-0BD975CA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381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51C2C"/>
                </a:solidFill>
              </a:defRPr>
            </a:pPr>
            <a:r>
              <a:rPr sz="1200" b="1">
                <a:solidFill>
                  <a:srgbClr val="051C2C"/>
                </a:solidFill>
              </a:rPr>
              <a:t>Unique node / copy_id binding</a:t>
            </a:r>
          </a:p>
        </p:txBody>
      </p:sp>
      <p:sp>
        <p:nvSpPr>
          <p:cNvPr id="48" name="version-note-2">
            <a:extLst xmlns:a="http://schemas.openxmlformats.org/drawingml/2006/main">
              <a:ext uri="{FF2B5EF4-FFF2-40B4-BE49-F238E27FC236}">
                <a16:creationId xmlns:a16="http://schemas.microsoft.com/office/drawing/2014/main" id="{AC7CF866-56F4-4358-8C62-35296323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00075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770"/>
                </a:solidFill>
              </a:defRPr>
            </a:pPr>
            <a:r>
              <a:rPr sz="975" b="0">
                <a:solidFill>
                  <a:srgbClr val="5B6770"/>
                </a:solidFill>
              </a:rPr>
              <a:t>VERSION remains 0.3.0 · no merge · no release</a:t>
            </a:r>
          </a:p>
        </p:txBody>
      </p:sp>
    </p:spTree>
    <p:extLst>
      <p:ext uri="{BB962C8B-B14F-4D97-AF65-F5344CB8AC3E}">
        <p14:creationId xmlns:p14="http://schemas.microsoft.com/office/powerpoint/2010/main" val="18987964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eyebrow-1">
            <a:extLst xmlns:a="http://schemas.openxmlformats.org/drawingml/2006/main">
              <a:ext uri="{FF2B5EF4-FFF2-40B4-BE49-F238E27FC236}">
                <a16:creationId xmlns:a16="http://schemas.microsoft.com/office/drawing/2014/main" id="{8D749463-801A-4E05-ADAB-2F60289D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51FF"/>
                </a:solidFill>
              </a:defRPr>
            </a:pPr>
            <a:r>
              <a:rPr sz="975" b="1">
                <a:solidFill>
                  <a:srgbClr val="2251FF"/>
                </a:solidFill>
              </a:rPr>
              <a:t>STAGE 4 · PATTERN &amp; DATASET LIBRARY · UNRELEASED</a:t>
            </a:r>
          </a:p>
        </p:txBody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A9BC4D8E-D8E0-4D33-B08F-606059A6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51C2C"/>
                </a:solidFill>
              </a:defRPr>
            </a:pPr>
            <a:r>
              <a:rPr sz="2775" b="1">
                <a:solidFill>
                  <a:srgbClr val="051C2C"/>
                </a:solidFill>
              </a:rPr>
              <a:t>Pattern Decisions Must Come from Receipts, Not Aesthetic Guesswork</a:t>
            </a:r>
          </a:p>
        </p:txBody>
      </p:sp>
      <p:sp>
        <p:nvSpPr>
          <p:cNvPr id="3" name="subtitle-1">
            <a:extLst xmlns:a="http://schemas.openxmlformats.org/drawingml/2006/main">
              <a:ext uri="{FF2B5EF4-FFF2-40B4-BE49-F238E27FC236}">
                <a16:creationId xmlns:a16="http://schemas.microsoft.com/office/drawing/2014/main" id="{181266D5-8C01-42AA-B33D-D95A22EA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770"/>
                </a:solidFill>
              </a:defRPr>
            </a:pPr>
            <a:r>
              <a:rPr sz="1350" b="0">
                <a:solidFill>
                  <a:srgbClr val="5B6770"/>
                </a:solidFill>
              </a:rPr>
              <a:t>Register composition methods, then retrieve linked failure patterns; compile a coordinate-free plan only with complete evidence.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5E0E9D64-9805-4723-A557-9916430D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770"/>
                </a:solidFill>
              </a:defRPr>
            </a:pPr>
            <a:r>
              <a:rPr sz="1050" b="1">
                <a:solidFill>
                  <a:srgbClr val="5B6770"/>
                </a:solidFill>
              </a:rPr>
              <a:t>01</a:t>
            </a:r>
          </a:p>
        </p:txBody>
      </p:sp>
      <p:sp>
        <p:nvSpPr>
          <p:cNvPr id="5" name="request-to-pattern">
            <a:extLst xmlns:a="http://schemas.openxmlformats.org/drawingml/2006/main">
              <a:ext uri="{FF2B5EF4-FFF2-40B4-BE49-F238E27FC236}">
                <a16:creationId xmlns:a16="http://schemas.microsoft.com/office/drawing/2014/main" id="{C137CBFD-51B5-4D09-8914-BFF50D0A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76525"/>
            <a:ext cx="838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F1F8"/>
          </a:solidFill>
          <a:ln xmlns:a="http://schemas.openxmlformats.org/drawingml/2006/main" w="0">
            <a:solidFill>
              <a:srgbClr val="E8F1F8"/>
            </a:solidFill>
            <a:prstDash val="solid"/>
          </a:ln>
        </p:spPr>
      </p:sp>
      <p:sp>
        <p:nvSpPr>
          <p:cNvPr id="6" name="pattern-to-plan">
            <a:extLst xmlns:a="http://schemas.openxmlformats.org/drawingml/2006/main">
              <a:ext uri="{FF2B5EF4-FFF2-40B4-BE49-F238E27FC236}">
                <a16:creationId xmlns:a16="http://schemas.microsoft.com/office/drawing/2014/main" id="{FC536F61-9883-47B5-A894-C68C326B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76525"/>
            <a:ext cx="876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F3F6"/>
          </a:solidFill>
          <a:ln xmlns:a="http://schemas.openxmlformats.org/drawingml/2006/main" w="0">
            <a:solidFill>
              <a:srgbClr val="E5F3F6"/>
            </a:solidFill>
            <a:prstDash val="solid"/>
          </a:ln>
        </p:spPr>
      </p:sp>
      <p:sp>
        <p:nvSpPr>
          <p:cNvPr id="7" name="failure-join">
            <a:extLst xmlns:a="http://schemas.openxmlformats.org/drawingml/2006/main">
              <a:ext uri="{FF2B5EF4-FFF2-40B4-BE49-F238E27FC236}">
                <a16:creationId xmlns:a16="http://schemas.microsoft.com/office/drawing/2014/main" id="{93CD6C49-CA36-4A67-9CC0-C1E2084A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914775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26A00"/>
            </a:solidFill>
            <a:prstDash val="solid"/>
          </a:ln>
        </p:spPr>
      </p:sp>
      <p:sp>
        <p:nvSpPr>
          <p:cNvPr id="8" name="structured-request">
            <a:extLst xmlns:a="http://schemas.openxmlformats.org/drawingml/2006/main">
              <a:ext uri="{FF2B5EF4-FFF2-40B4-BE49-F238E27FC236}">
                <a16:creationId xmlns:a16="http://schemas.microsoft.com/office/drawing/2014/main" id="{1A4537B5-6F40-40D3-9B77-5658008A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2057400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53E5C"/>
          </a:solidFill>
          <a:ln xmlns:a="http://schemas.openxmlformats.org/drawingml/2006/main" w="0">
            <a:solidFill>
              <a:srgbClr val="153E5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STRUCTURED REQUEST</a:t>
            </a:r>
          </a:p>
          <a:p xmlns:a="http://schemas.openxmlformats.org/drawingml/2006/main">
            <a:endParaRPr sz="1350" b="1">
              <a:solidFill>
                <a:srgbClr val="FFFFFF"/>
              </a:solidFill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page_role = comparison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relation = supports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purpose = evidence-led</a:t>
            </a:r>
          </a:p>
        </p:txBody>
      </p:sp>
      <p:sp>
        <p:nvSpPr>
          <p:cNvPr id="9" name="request-note">
            <a:extLst xmlns:a="http://schemas.openxmlformats.org/drawingml/2006/main">
              <a:ext uri="{FF2B5EF4-FFF2-40B4-BE49-F238E27FC236}">
                <a16:creationId xmlns:a16="http://schemas.microsoft.com/office/drawing/2014/main" id="{258BF94A-CC4A-4137-9287-42BA0B46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53E5C"/>
                </a:solidFill>
              </a:defRPr>
            </a:pPr>
            <a:r>
              <a:rPr sz="1125" b="1">
                <a:solidFill>
                  <a:srgbClr val="153E5C"/>
                </a:solidFill>
              </a:rPr>
              <a:t>Exact fields; no fuzzy completion</a:t>
            </a:r>
          </a:p>
        </p:txBody>
      </p:sp>
      <p:sp>
        <p:nvSpPr>
          <p:cNvPr id="10" name="selected-pattern">
            <a:extLst xmlns:a="http://schemas.openxmlformats.org/drawingml/2006/main">
              <a:ext uri="{FF2B5EF4-FFF2-40B4-BE49-F238E27FC236}">
                <a16:creationId xmlns:a16="http://schemas.microsoft.com/office/drawing/2014/main" id="{A42025B5-480C-48E6-99E0-B3800048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19275"/>
            <a:ext cx="4000500" cy="1885950"/>
          </a:xfrm>
          <a:prstGeom xmlns:a="http://schemas.openxmlformats.org/drawingml/2006/main" prst="roundRect">
            <a:avLst>
              <a:gd name="adj" fmla="val 10101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7145">
            <a:solidFill>
              <a:srgbClr val="2251FF"/>
            </a:solidFill>
            <a:prstDash val="solid"/>
          </a:ln>
        </p:spPr>
      </p:sp>
      <p:sp>
        <p:nvSpPr>
          <p:cNvPr id="11" name="pattern-receipt">
            <a:extLst xmlns:a="http://schemas.openxmlformats.org/drawingml/2006/main">
              <a:ext uri="{FF2B5EF4-FFF2-40B4-BE49-F238E27FC236}">
                <a16:creationId xmlns:a16="http://schemas.microsoft.com/office/drawing/2014/main" id="{64C8E8AB-3EE9-4094-BFAF-9EA10106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09775"/>
            <a:ext cx="350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51FF"/>
                </a:solidFill>
              </a:defRPr>
            </a:pPr>
            <a:r>
              <a:rPr sz="1050" b="1">
                <a:solidFill>
                  <a:srgbClr val="2251FF"/>
                </a:solidFill>
              </a:rPr>
              <a:t>RECEIPT A · UNIQUE MATCH</a:t>
            </a:r>
          </a:p>
        </p:txBody>
      </p:sp>
      <p:sp>
        <p:nvSpPr>
          <p:cNvPr id="12" name="pattern-id">
            <a:extLst xmlns:a="http://schemas.openxmlformats.org/drawingml/2006/main">
              <a:ext uri="{FF2B5EF4-FFF2-40B4-BE49-F238E27FC236}">
                <a16:creationId xmlns:a16="http://schemas.microsoft.com/office/drawing/2014/main" id="{32DCC27E-D7A0-45FD-8D7B-54E4BE18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B3FA0"/>
                </a:solidFill>
              </a:defRPr>
            </a:pPr>
            <a:r>
              <a:rPr sz="1950" b="1">
                <a:solidFill>
                  <a:srgbClr val="1B3FA0"/>
                </a:solidFill>
              </a:rPr>
              <a:t>pattern.asymmetric-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B3FA0"/>
                </a:solidFill>
              </a:defRPr>
            </a:pPr>
            <a:r>
              <a:rPr sz="1950" b="1">
                <a:solidFill>
                  <a:srgbClr val="1B3FA0"/>
                </a:solidFill>
              </a:rPr>
              <a:t>evidence-to-decision</a:t>
            </a:r>
          </a:p>
        </p:txBody>
      </p:sp>
      <p:sp>
        <p:nvSpPr>
          <p:cNvPr id="13" name="pattern-decision">
            <a:extLst xmlns:a="http://schemas.openxmlformats.org/drawingml/2006/main">
              <a:ext uri="{FF2B5EF4-FFF2-40B4-BE49-F238E27FC236}">
                <a16:creationId xmlns:a16="http://schemas.microsoft.com/office/drawing/2014/main" id="{F78A31D5-CDE5-4CCE-A345-04B5CB1A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527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51C2C"/>
                </a:solidFill>
              </a:defRPr>
            </a:pPr>
            <a:r>
              <a:rPr sz="1275" b="1">
                <a:solidFill>
                  <a:srgbClr val="051C2C"/>
                </a:solidFill>
              </a:rPr>
              <a:t>1 registered candidate · SHA-256 bound · human-admitted</a:t>
            </a:r>
          </a:p>
        </p:txBody>
      </p:sp>
      <p:sp>
        <p:nvSpPr>
          <p:cNvPr id="14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CF32A4DF-8522-4284-AB30-49EC180C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433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26A00"/>
                </a:solidFill>
              </a:defRPr>
            </a:pPr>
            <a:r>
              <a:rPr sz="1050" b="1">
                <a:solidFill>
                  <a:srgbClr val="B26A00"/>
                </a:solidFill>
              </a:rPr>
              <a:t>RECEIPT B · LINKED FAILURE PATTERNS</a:t>
            </a:r>
          </a:p>
        </p:txBody>
      </p:sp>
      <p:sp>
        <p:nvSpPr>
          <p:cNvPr id="15" name="failure-one">
            <a:extLst xmlns:a="http://schemas.openxmlformats.org/drawingml/2006/main">
              <a:ext uri="{FF2B5EF4-FFF2-40B4-BE49-F238E27FC236}">
                <a16:creationId xmlns:a16="http://schemas.microsoft.com/office/drawing/2014/main" id="{FAC32A1D-D7DA-4E76-845A-A79419F5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38625"/>
            <a:ext cx="1924050" cy="552450"/>
          </a:xfrm>
          <a:prstGeom xmlns:a="http://schemas.openxmlformats.org/drawingml/2006/main" prst="roundRect">
            <a:avLst>
              <a:gd name="adj" fmla="val 22414"/>
            </a:avLst>
          </a:prstGeom>
          <a:solidFill xmlns:a="http://schemas.openxmlformats.org/drawingml/2006/main">
            <a:srgbClr val="FFF1DB"/>
          </a:solidFill>
          <a:ln xmlns:a="http://schemas.openxmlformats.org/drawingml/2006/main" w="11430">
            <a:solidFill>
              <a:srgbClr val="B26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26A00"/>
                </a:solidFill>
              </a:defRPr>
            </a:pPr>
            <a:r>
              <a:rPr sz="1200" b="1">
                <a:solidFill>
                  <a:srgbClr val="B26A00"/>
                </a:solidFill>
              </a:rPr>
              <a:t>equal-weight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B26A00"/>
                </a:solidFill>
              </a:defRPr>
            </a:pPr>
            <a:r>
              <a:rPr sz="1200" b="1">
                <a:solidFill>
                  <a:srgbClr val="B26A00"/>
                </a:solidFill>
              </a:rPr>
              <a:t>flattening</a:t>
            </a:r>
          </a:p>
        </p:txBody>
      </p:sp>
      <p:sp>
        <p:nvSpPr>
          <p:cNvPr id="16" name="failure-two">
            <a:extLst xmlns:a="http://schemas.openxmlformats.org/drawingml/2006/main">
              <a:ext uri="{FF2B5EF4-FFF2-40B4-BE49-F238E27FC236}">
                <a16:creationId xmlns:a16="http://schemas.microsoft.com/office/drawing/2014/main" id="{5E4BE62B-AB1B-46F1-95E3-AF865062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38625"/>
            <a:ext cx="1924050" cy="552450"/>
          </a:xfrm>
          <a:prstGeom xmlns:a="http://schemas.openxmlformats.org/drawingml/2006/main" prst="roundRect">
            <a:avLst>
              <a:gd name="adj" fmla="val 22414"/>
            </a:avLst>
          </a:prstGeom>
          <a:solidFill xmlns:a="http://schemas.openxmlformats.org/drawingml/2006/main">
            <a:srgbClr val="FFF1DB"/>
          </a:solidFill>
          <a:ln xmlns:a="http://schemas.openxmlformats.org/drawingml/2006/main" w="11430">
            <a:solidFill>
              <a:srgbClr val="B26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26A00"/>
                </a:solidFill>
              </a:defRPr>
            </a:pPr>
            <a:r>
              <a:rPr sz="1200" b="1">
                <a:solidFill>
                  <a:srgbClr val="B26A00"/>
                </a:solidFill>
              </a:rPr>
              <a:t>semantic-visual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B26A00"/>
                </a:solidFill>
              </a:defRPr>
            </a:pPr>
            <a:r>
              <a:rPr sz="1200" b="1">
                <a:solidFill>
                  <a:srgbClr val="B26A00"/>
                </a:solidFill>
              </a:rPr>
              <a:t>mismatch</a:t>
            </a:r>
          </a:p>
        </p:txBody>
      </p:sp>
      <p:sp>
        <p:nvSpPr>
          <p:cNvPr id="17" name="composition-plan">
            <a:extLst xmlns:a="http://schemas.openxmlformats.org/drawingml/2006/main">
              <a:ext uri="{FF2B5EF4-FFF2-40B4-BE49-F238E27FC236}">
                <a16:creationId xmlns:a16="http://schemas.microsoft.com/office/drawing/2014/main" id="{572DF6D7-F34D-4773-B38D-6037A7BC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19275"/>
            <a:ext cx="3333750" cy="2971800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E5F3F6"/>
          </a:solidFill>
          <a:ln xmlns:a="http://schemas.openxmlformats.org/drawingml/2006/main" w="17145">
            <a:solidFill>
              <a:srgbClr val="007C91"/>
            </a:solidFill>
            <a:prstDash val="solid"/>
          </a:ln>
        </p:spPr>
      </p:sp>
      <p:sp>
        <p:nvSpPr>
          <p:cNvPr id="18" name="plan-kicker">
            <a:extLst xmlns:a="http://schemas.openxmlformats.org/drawingml/2006/main">
              <a:ext uri="{FF2B5EF4-FFF2-40B4-BE49-F238E27FC236}">
                <a16:creationId xmlns:a16="http://schemas.microsoft.com/office/drawing/2014/main" id="{FB383BB1-9663-4962-8FF8-648D63EB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1930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7C91"/>
                </a:solidFill>
              </a:defRPr>
            </a:pPr>
            <a:r>
              <a:rPr sz="1050" b="1">
                <a:solidFill>
                  <a:srgbClr val="007C91"/>
                </a:solidFill>
              </a:rPr>
              <a:t>COMPOSITION PLAN · COMPILED</a:t>
            </a:r>
          </a:p>
        </p:txBody>
      </p:sp>
      <p:sp>
        <p:nvSpPr>
          <p:cNvPr id="19" name="plan-title">
            <a:extLst xmlns:a="http://schemas.openxmlformats.org/drawingml/2006/main">
              <a:ext uri="{FF2B5EF4-FFF2-40B4-BE49-F238E27FC236}">
                <a16:creationId xmlns:a16="http://schemas.microsoft.com/office/drawing/2014/main" id="{89D3151C-46FE-4C3C-ABA7-379F0F19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7C91"/>
                </a:solidFill>
              </a:defRPr>
            </a:pPr>
            <a:r>
              <a:rPr sz="2175" b="1">
                <a:solidFill>
                  <a:srgbClr val="007C91"/>
                </a:solidFill>
              </a:rPr>
              <a:t>Semantic composition,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007C91"/>
                </a:solidFill>
              </a:defRPr>
            </a:pPr>
            <a:r>
              <a:rPr sz="2175" b="1">
                <a:solidFill>
                  <a:srgbClr val="007C91"/>
                </a:solidFill>
              </a:rPr>
              <a:t>no coordinates yet</a:t>
            </a:r>
          </a:p>
        </p:txBody>
      </p:sp>
      <p:sp>
        <p:nvSpPr>
          <p:cNvPr id="20" name="plan-body">
            <a:extLst xmlns:a="http://schemas.openxmlformats.org/drawingml/2006/main">
              <a:ext uri="{FF2B5EF4-FFF2-40B4-BE49-F238E27FC236}">
                <a16:creationId xmlns:a16="http://schemas.microsoft.com/office/drawing/2014/main" id="{0AFC5D0E-BD26-43DB-A49A-5A303821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19450"/>
            <a:ext cx="171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51C2C"/>
                </a:solidFill>
              </a:defRPr>
            </a:pPr>
            <a:r>
              <a:rPr sz="1350" b="1">
                <a:solidFill>
                  <a:srgbClr val="051C2C"/>
                </a:solidFill>
              </a:rPr>
              <a:t>first visual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51C2C"/>
                </a:solidFill>
              </a:defRPr>
            </a:pPr>
            <a:r>
              <a:rPr sz="1350" b="1">
                <a:solidFill>
                  <a:srgbClr val="051C2C"/>
                </a:solidFill>
              </a:rPr>
              <a:t>reading path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51C2C"/>
                </a:solidFill>
              </a:defRPr>
            </a:pPr>
            <a:r>
              <a:rPr sz="1350" b="1">
                <a:solidFill>
                  <a:srgbClr val="051C2C"/>
                </a:solidFill>
              </a:rPr>
              <a:t>object hierarchy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51C2C"/>
                </a:solidFill>
              </a:defRPr>
            </a:pPr>
            <a:r>
              <a:rPr sz="1350" b="1">
                <a:solidFill>
                  <a:srgbClr val="051C2C"/>
                </a:solidFill>
              </a:rPr>
              <a:t>spatial rules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51C2C"/>
                </a:solidFill>
              </a:defRPr>
            </a:pPr>
            <a:r>
              <a:rPr sz="1350" b="1">
                <a:solidFill>
                  <a:srgbClr val="051C2C"/>
                </a:solidFill>
              </a:rPr>
              <a:t>failure constraints</a:t>
            </a:r>
          </a:p>
        </p:txBody>
      </p:sp>
      <p:sp>
        <p:nvSpPr>
          <p:cNvPr id="21" name="plan-zero">
            <a:extLst xmlns:a="http://schemas.openxmlformats.org/drawingml/2006/main">
              <a:ext uri="{FF2B5EF4-FFF2-40B4-BE49-F238E27FC236}">
                <a16:creationId xmlns:a16="http://schemas.microsoft.com/office/drawing/2014/main" id="{ABD5992B-FD97-4440-B07B-148197B8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305175"/>
            <a:ext cx="1009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7C91"/>
                </a:solidFill>
              </a:defRPr>
            </a:pPr>
            <a:r>
              <a:rPr sz="1500" b="1">
                <a:solidFill>
                  <a:srgbClr val="007C91"/>
                </a:solidFill>
              </a:rPr>
              <a:t>0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07C91"/>
                </a:solidFill>
              </a:defRPr>
            </a:pPr>
            <a:r>
              <a:rPr sz="1500" b="1">
                <a:solidFill>
                  <a:srgbClr val="007C91"/>
                </a:solidFill>
              </a:rPr>
              <a:t>x / y / w / h</a:t>
            </a:r>
          </a:p>
        </p:txBody>
      </p:sp>
      <p:sp>
        <p:nvSpPr>
          <p:cNvPr id="22" name="layer-divider">
            <a:extLst xmlns:a="http://schemas.openxmlformats.org/drawingml/2006/main">
              <a:ext uri="{FF2B5EF4-FFF2-40B4-BE49-F238E27FC236}">
                <a16:creationId xmlns:a16="http://schemas.microsoft.com/office/drawing/2014/main" id="{A59D29AF-2819-4DC1-8891-7A10B8E2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45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23" name="outside-label">
            <a:extLst xmlns:a="http://schemas.openxmlformats.org/drawingml/2006/main">
              <a:ext uri="{FF2B5EF4-FFF2-40B4-BE49-F238E27FC236}">
                <a16:creationId xmlns:a16="http://schemas.microsoft.com/office/drawing/2014/main" id="{2E7996C7-BA8E-4472-8A1B-D344E91E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B6770"/>
                </a:solidFill>
              </a:defRPr>
            </a:pPr>
            <a:r>
              <a:rPr sz="1125" b="1">
                <a:solidFill>
                  <a:srgbClr val="5B6770"/>
                </a:solidFill>
              </a:rPr>
              <a:t>Late-bound layers</a:t>
            </a:r>
          </a:p>
        </p:txBody>
      </p:sp>
      <p:sp>
        <p:nvSpPr>
          <p:cNvPr id="24" name="layer-dot-1">
            <a:extLst xmlns:a="http://schemas.openxmlformats.org/drawingml/2006/main">
              <a:ext uri="{FF2B5EF4-FFF2-40B4-BE49-F238E27FC236}">
                <a16:creationId xmlns:a16="http://schemas.microsoft.com/office/drawing/2014/main" id="{52580F06-A156-4F04-9539-99985BFD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19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1"/>
          </a:solidFill>
          <a:ln xmlns:a="http://schemas.openxmlformats.org/drawingml/2006/main" w="0">
            <a:solidFill>
              <a:srgbClr val="007C9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layer-text-1">
            <a:extLst xmlns:a="http://schemas.openxmlformats.org/drawingml/2006/main">
              <a:ext uri="{FF2B5EF4-FFF2-40B4-BE49-F238E27FC236}">
                <a16:creationId xmlns:a16="http://schemas.microsoft.com/office/drawing/2014/main" id="{8105D90A-98BB-44C7-814C-FF06AF4F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257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51C2C"/>
                </a:solidFill>
              </a:defRPr>
            </a:pPr>
            <a:r>
              <a:rPr sz="1125" b="1">
                <a:solidFill>
                  <a:srgbClr val="051C2C"/>
                </a:solidFill>
              </a:rPr>
              <a:t>Theme</a:t>
            </a:r>
          </a:p>
        </p:txBody>
      </p:sp>
      <p:sp>
        <p:nvSpPr>
          <p:cNvPr id="26" name="layer-dot-2">
            <a:extLst xmlns:a="http://schemas.openxmlformats.org/drawingml/2006/main">
              <a:ext uri="{FF2B5EF4-FFF2-40B4-BE49-F238E27FC236}">
                <a16:creationId xmlns:a16="http://schemas.microsoft.com/office/drawing/2014/main" id="{30700488-C8FA-4EF1-8251-6DA4BD6E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6A00"/>
          </a:solidFill>
          <a:ln xmlns:a="http://schemas.openxmlformats.org/drawingml/2006/main" w="0">
            <a:solidFill>
              <a:srgbClr val="B26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7" name="layer-text-2">
            <a:extLst xmlns:a="http://schemas.openxmlformats.org/drawingml/2006/main">
              <a:ext uri="{FF2B5EF4-FFF2-40B4-BE49-F238E27FC236}">
                <a16:creationId xmlns:a16="http://schemas.microsoft.com/office/drawing/2014/main" id="{07172712-645F-4001-80F5-482C3A91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257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51C2C"/>
                </a:solidFill>
              </a:defRPr>
            </a:pPr>
            <a:r>
              <a:rPr sz="1125" b="1">
                <a:solidFill>
                  <a:srgbClr val="051C2C"/>
                </a:solidFill>
              </a:rPr>
              <a:t>Visual Variant</a:t>
            </a:r>
          </a:p>
        </p:txBody>
      </p:sp>
      <p:sp>
        <p:nvSpPr>
          <p:cNvPr id="28" name="layer-dot-3">
            <a:extLst xmlns:a="http://schemas.openxmlformats.org/drawingml/2006/main">
              <a:ext uri="{FF2B5EF4-FFF2-40B4-BE49-F238E27FC236}">
                <a16:creationId xmlns:a16="http://schemas.microsoft.com/office/drawing/2014/main" id="{4509809D-C446-43AD-8B15-08BC8770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219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 w="0">
            <a:solidFill>
              <a:srgbClr val="2251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layer-text-3">
            <a:extLst xmlns:a="http://schemas.openxmlformats.org/drawingml/2006/main">
              <a:ext uri="{FF2B5EF4-FFF2-40B4-BE49-F238E27FC236}">
                <a16:creationId xmlns:a16="http://schemas.microsoft.com/office/drawing/2014/main" id="{7D45A18E-5D90-45C9-8FC3-B2E61FEC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57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51C2C"/>
                </a:solidFill>
              </a:defRPr>
            </a:pPr>
            <a:r>
              <a:rPr sz="1125" b="1">
                <a:solidFill>
                  <a:srgbClr val="051C2C"/>
                </a:solidFill>
              </a:rPr>
              <a:t>Layout Contract</a:t>
            </a:r>
          </a:p>
        </p:txBody>
      </p:sp>
      <p:sp>
        <p:nvSpPr>
          <p:cNvPr id="30" name="layer-dot-4">
            <a:extLst xmlns:a="http://schemas.openxmlformats.org/drawingml/2006/main">
              <a:ext uri="{FF2B5EF4-FFF2-40B4-BE49-F238E27FC236}">
                <a16:creationId xmlns:a16="http://schemas.microsoft.com/office/drawing/2014/main" id="{720B5C45-5351-4B9C-90A8-7BA5A363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19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E5C"/>
          </a:solidFill>
          <a:ln xmlns:a="http://schemas.openxmlformats.org/drawingml/2006/main" w="0">
            <a:solidFill>
              <a:srgbClr val="153E5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layer-text-4">
            <a:extLst xmlns:a="http://schemas.openxmlformats.org/drawingml/2006/main">
              <a:ext uri="{FF2B5EF4-FFF2-40B4-BE49-F238E27FC236}">
                <a16:creationId xmlns:a16="http://schemas.microsoft.com/office/drawing/2014/main" id="{9E0AA96F-899F-4B7D-865C-C6ACAF71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57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51C2C"/>
                </a:solidFill>
              </a:defRPr>
            </a:pPr>
            <a:r>
              <a:rPr sz="1125" b="1">
                <a:solidFill>
                  <a:srgbClr val="051C2C"/>
                </a:solidFill>
              </a:rPr>
              <a:t>Layout Tree</a:t>
            </a:r>
          </a:p>
        </p:txBody>
      </p:sp>
      <p:sp>
        <p:nvSpPr>
          <p:cNvPr id="32" name="layer-dot-5">
            <a:extLst xmlns:a="http://schemas.openxmlformats.org/drawingml/2006/main">
              <a:ext uri="{FF2B5EF4-FFF2-40B4-BE49-F238E27FC236}">
                <a16:creationId xmlns:a16="http://schemas.microsoft.com/office/drawing/2014/main" id="{8F1CF955-C676-40C8-BF02-A954B522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19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1"/>
          </a:solidFill>
          <a:ln xmlns:a="http://schemas.openxmlformats.org/drawingml/2006/main" w="0">
            <a:solidFill>
              <a:srgbClr val="007C9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layer-text-5">
            <a:extLst xmlns:a="http://schemas.openxmlformats.org/drawingml/2006/main">
              <a:ext uri="{FF2B5EF4-FFF2-40B4-BE49-F238E27FC236}">
                <a16:creationId xmlns:a16="http://schemas.microsoft.com/office/drawing/2014/main" id="{B1B29037-564E-468A-9C05-69FFB9BA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257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51C2C"/>
                </a:solidFill>
              </a:defRPr>
            </a:pPr>
            <a:r>
              <a:rPr sz="1125" b="1">
                <a:solidFill>
                  <a:srgbClr val="051C2C"/>
                </a:solidFill>
              </a:rPr>
              <a:t>Coordinates</a:t>
            </a:r>
          </a:p>
        </p:txBody>
      </p:sp>
      <p:sp>
        <p:nvSpPr>
          <p:cNvPr id="34" name="footer-rule-one">
            <a:extLst xmlns:a="http://schemas.openxmlformats.org/drawingml/2006/main">
              <a:ext uri="{FF2B5EF4-FFF2-40B4-BE49-F238E27FC236}">
                <a16:creationId xmlns:a16="http://schemas.microsoft.com/office/drawing/2014/main" id="{1CD6F7B9-A5CD-440E-99E4-9C932CA3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45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35" name="stat-patterns">
            <a:extLst xmlns:a="http://schemas.openxmlformats.org/drawingml/2006/main">
              <a:ext uri="{FF2B5EF4-FFF2-40B4-BE49-F238E27FC236}">
                <a16:creationId xmlns:a16="http://schemas.microsoft.com/office/drawing/2014/main" id="{6ACC2D4B-5AD9-47E0-9311-52D45696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251FF"/>
                </a:solidFill>
              </a:defRPr>
            </a:pPr>
            <a:r>
              <a:rPr sz="1200" b="1">
                <a:solidFill>
                  <a:srgbClr val="2251FF"/>
                </a:solidFill>
              </a:rPr>
              <a:t>3 ORIGINAL PATTERNS</a:t>
            </a:r>
          </a:p>
        </p:txBody>
      </p:sp>
      <p:sp>
        <p:nvSpPr>
          <p:cNvPr id="36" name="stat-failures">
            <a:extLst xmlns:a="http://schemas.openxmlformats.org/drawingml/2006/main">
              <a:ext uri="{FF2B5EF4-FFF2-40B4-BE49-F238E27FC236}">
                <a16:creationId xmlns:a16="http://schemas.microsoft.com/office/drawing/2014/main" id="{84A76BE3-4473-4499-A7B0-4D7FB525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9436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26A00"/>
                </a:solidFill>
              </a:defRPr>
            </a:pPr>
            <a:r>
              <a:rPr sz="1200" b="1">
                <a:solidFill>
                  <a:srgbClr val="B26A00"/>
                </a:solidFill>
              </a:rPr>
              <a:t>4 FAILURE PATTERNS</a:t>
            </a:r>
          </a:p>
        </p:txBody>
      </p:sp>
      <p:sp>
        <p:nvSpPr>
          <p:cNvPr id="37" name="stat-invented">
            <a:extLst xmlns:a="http://schemas.openxmlformats.org/drawingml/2006/main">
              <a:ext uri="{FF2B5EF4-FFF2-40B4-BE49-F238E27FC236}">
                <a16:creationId xmlns:a16="http://schemas.microsoft.com/office/drawing/2014/main" id="{4FB456A1-CFF6-42E3-B0CD-F10233C0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9436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7C91"/>
                </a:solidFill>
              </a:defRPr>
            </a:pPr>
            <a:r>
              <a:rPr sz="1200" b="1">
                <a:solidFill>
                  <a:srgbClr val="007C91"/>
                </a:solidFill>
              </a:rPr>
              <a:t>0 INVENTED RECORDS</a:t>
            </a:r>
          </a:p>
        </p:txBody>
      </p:sp>
      <p:sp>
        <p:nvSpPr>
          <p:cNvPr id="38" name="version-one">
            <a:extLst xmlns:a="http://schemas.openxmlformats.org/drawingml/2006/main">
              <a:ext uri="{FF2B5EF4-FFF2-40B4-BE49-F238E27FC236}">
                <a16:creationId xmlns:a16="http://schemas.microsoft.com/office/drawing/2014/main" id="{F20C6948-F001-4CEB-BAEF-2E7E85A6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9436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770"/>
                </a:solidFill>
              </a:defRPr>
            </a:pPr>
            <a:r>
              <a:rPr sz="1050" b="0">
                <a:solidFill>
                  <a:srgbClr val="5B6770"/>
                </a:solidFill>
              </a:rPr>
              <a:t>VERSION 0.3.0 · no merge · no release</a:t>
            </a:r>
          </a:p>
        </p:txBody>
      </p:sp>
    </p:spTree>
    <p:extLst>
      <p:ext uri="{BB962C8B-B14F-4D97-AF65-F5344CB8AC3E}">
        <p14:creationId xmlns:p14="http://schemas.microsoft.com/office/powerpoint/2010/main" val="15946138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eyebrow-2">
            <a:extLst xmlns:a="http://schemas.openxmlformats.org/drawingml/2006/main">
              <a:ext uri="{FF2B5EF4-FFF2-40B4-BE49-F238E27FC236}">
                <a16:creationId xmlns:a16="http://schemas.microsoft.com/office/drawing/2014/main" id="{3A78B078-DF9A-419A-9745-70490C01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51FF"/>
                </a:solidFill>
              </a:defRPr>
            </a:pPr>
            <a:r>
              <a:rPr sz="975" b="1">
                <a:solidFill>
                  <a:srgbClr val="2251FF"/>
                </a:solidFill>
              </a:rPr>
              <a:t>STAGE 4 · PATTERN &amp; DATASET LIBRARY · UNRELEASED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216F47F3-072F-4A57-9812-BC430B9E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51C2C"/>
                </a:solidFill>
              </a:defRPr>
            </a:pPr>
            <a:r>
              <a:rPr sz="2850" b="1">
                <a:solidFill>
                  <a:srgbClr val="051C2C"/>
                </a:solidFill>
              </a:rPr>
              <a:t>Training Uses Metadata Relationships, Not Others’ Work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BAE69389-4049-456A-93C3-AB52A401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770"/>
                </a:solidFill>
              </a:defRPr>
            </a:pPr>
            <a:r>
              <a:rPr sz="1350" b="0">
                <a:solidFill>
                  <a:srgbClr val="5B6770"/>
                </a:solidFill>
              </a:rPr>
              <a:t>Dataset exports admit only public, registered, human-approved, hash-consistent records; no match is explicitly unresolved.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A4C77132-6636-4A5A-8DDD-79997B84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770"/>
                </a:solidFill>
              </a:defRPr>
            </a:pPr>
            <a:r>
              <a:rPr sz="1050" b="1">
                <a:solidFill>
                  <a:srgbClr val="5B6770"/>
                </a:solidFill>
              </a:rPr>
              <a:t>02</a:t>
            </a:r>
          </a:p>
        </p:txBody>
      </p:sp>
      <p:sp>
        <p:nvSpPr>
          <p:cNvPr id="5" name="export-kicker">
            <a:extLst xmlns:a="http://schemas.openxmlformats.org/drawingml/2006/main">
              <a:ext uri="{FF2B5EF4-FFF2-40B4-BE49-F238E27FC236}">
                <a16:creationId xmlns:a16="http://schemas.microsoft.com/office/drawing/2014/main" id="{180B65EF-A9D6-452B-A687-85CDC765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7C91"/>
                </a:solidFill>
              </a:defRPr>
            </a:pPr>
            <a:r>
              <a:rPr sz="1050" b="1">
                <a:solidFill>
                  <a:srgbClr val="007C91"/>
                </a:solidFill>
              </a:rPr>
              <a:t>METADATA-ONLY EXPORT</a:t>
            </a:r>
          </a:p>
        </p:txBody>
      </p:sp>
      <p:sp>
        <p:nvSpPr>
          <p:cNvPr id="6" name="export-count">
            <a:extLst xmlns:a="http://schemas.openxmlformats.org/drawingml/2006/main">
              <a:ext uri="{FF2B5EF4-FFF2-40B4-BE49-F238E27FC236}">
                <a16:creationId xmlns:a16="http://schemas.microsoft.com/office/drawing/2014/main" id="{BDB72612-8A57-4479-A3D4-0988FDBD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07C91"/>
                </a:solidFill>
              </a:defRPr>
            </a:pPr>
            <a:r>
              <a:rPr sz="5400" b="1">
                <a:solidFill>
                  <a:srgbClr val="007C91"/>
                </a:solidFill>
              </a:rPr>
              <a:t>11</a:t>
            </a:r>
          </a:p>
        </p:txBody>
      </p:sp>
      <p:sp>
        <p:nvSpPr>
          <p:cNvPr id="7" name="export-count-label">
            <a:extLst xmlns:a="http://schemas.openxmlformats.org/drawingml/2006/main">
              <a:ext uri="{FF2B5EF4-FFF2-40B4-BE49-F238E27FC236}">
                <a16:creationId xmlns:a16="http://schemas.microsoft.com/office/drawing/2014/main" id="{1E770E54-2634-4D2A-86DF-E722D3FF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479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1C2C"/>
                </a:solidFill>
              </a:defRPr>
            </a:pPr>
            <a:r>
              <a:rPr sz="1650" b="1">
                <a:solidFill>
                  <a:srgbClr val="051C2C"/>
                </a:solidFill>
              </a:rPr>
              <a:t>redistributable records</a:t>
            </a:r>
          </a:p>
        </p:txBody>
      </p:sp>
      <p:sp>
        <p:nvSpPr>
          <p:cNvPr id="8" name="export-record-breakdown">
            <a:extLst xmlns:a="http://schemas.openxmlformats.org/drawingml/2006/main">
              <a:ext uri="{FF2B5EF4-FFF2-40B4-BE49-F238E27FC236}">
                <a16:creationId xmlns:a16="http://schemas.microsoft.com/office/drawing/2014/main" id="{09F75A81-4A4E-48D2-B85C-3D297FA6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623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6770"/>
                </a:solidFill>
              </a:defRPr>
            </a:pPr>
            <a:r>
              <a:rPr sz="1350" b="1">
                <a:solidFill>
                  <a:srgbClr val="5B6770"/>
                </a:solidFill>
              </a:rPr>
              <a:t>3 Composition · 4 Failure · 3 Reference · 1 Sequence</a:t>
            </a:r>
          </a:p>
        </p:txBody>
      </p:sp>
      <p:sp>
        <p:nvSpPr>
          <p:cNvPr id="9" name="export-backbone">
            <a:extLst xmlns:a="http://schemas.openxmlformats.org/drawingml/2006/main">
              <a:ext uri="{FF2B5EF4-FFF2-40B4-BE49-F238E27FC236}">
                <a16:creationId xmlns:a16="http://schemas.microsoft.com/office/drawing/2014/main" id="{A3B0347F-AD6D-4B9E-8BB4-912CC642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81425"/>
            <a:ext cx="565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1"/>
            </a:solidFill>
            <a:prstDash val="solid"/>
          </a:ln>
        </p:spPr>
      </p:sp>
      <p:sp>
        <p:nvSpPr>
          <p:cNvPr id="10" name="export-step-1">
            <a:extLst xmlns:a="http://schemas.openxmlformats.org/drawingml/2006/main">
              <a:ext uri="{FF2B5EF4-FFF2-40B4-BE49-F238E27FC236}">
                <a16:creationId xmlns:a16="http://schemas.microsoft.com/office/drawing/2014/main" id="{D0C4BA8E-39EA-4185-8A4F-59FBCC07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E5C"/>
          </a:solidFill>
          <a:ln xmlns:a="http://schemas.openxmlformats.org/drawingml/2006/main" w="0">
            <a:solidFill>
              <a:srgbClr val="153E5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export-label-1">
            <a:extLst xmlns:a="http://schemas.openxmlformats.org/drawingml/2006/main">
              <a:ext uri="{FF2B5EF4-FFF2-40B4-BE49-F238E27FC236}">
                <a16:creationId xmlns:a16="http://schemas.microsoft.com/office/drawing/2014/main" id="{932D9474-0EF3-421D-ADF3-F06D9C24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51C2C"/>
                </a:solidFill>
              </a:defRPr>
            </a:pPr>
            <a:r>
              <a:rPr sz="1125" b="1">
                <a:solidFill>
                  <a:srgbClr val="051C2C"/>
                </a:solidFill>
              </a:rPr>
              <a:t>registered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051C2C"/>
                </a:solidFill>
              </a:defRPr>
            </a:pPr>
            <a:r>
              <a:rPr sz="1125" b="1">
                <a:solidFill>
                  <a:srgbClr val="051C2C"/>
                </a:solidFill>
              </a:rPr>
              <a:t>ID</a:t>
            </a:r>
          </a:p>
        </p:txBody>
      </p:sp>
      <p:sp>
        <p:nvSpPr>
          <p:cNvPr id="12" name="export-step-2">
            <a:extLst xmlns:a="http://schemas.openxmlformats.org/drawingml/2006/main">
              <a:ext uri="{FF2B5EF4-FFF2-40B4-BE49-F238E27FC236}">
                <a16:creationId xmlns:a16="http://schemas.microsoft.com/office/drawing/2014/main" id="{956D79D5-B3D9-4D34-A76D-320B5A2A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581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 w="0">
            <a:solidFill>
              <a:srgbClr val="2251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export-label-2">
            <a:extLst xmlns:a="http://schemas.openxmlformats.org/drawingml/2006/main">
              <a:ext uri="{FF2B5EF4-FFF2-40B4-BE49-F238E27FC236}">
                <a16:creationId xmlns:a16="http://schemas.microsoft.com/office/drawing/2014/main" id="{FA429EEA-2C8F-48DE-9802-DF6E45C0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576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51C2C"/>
                </a:solidFill>
              </a:defRPr>
            </a:pPr>
            <a:r>
              <a:rPr sz="1125" b="1">
                <a:solidFill>
                  <a:srgbClr val="051C2C"/>
                </a:solidFill>
              </a:rPr>
              <a:t>human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051C2C"/>
                </a:solidFill>
              </a:defRPr>
            </a:pPr>
            <a:r>
              <a:rPr sz="1125" b="1">
                <a:solidFill>
                  <a:srgbClr val="051C2C"/>
                </a:solidFill>
              </a:rPr>
              <a:t>admitted</a:t>
            </a:r>
          </a:p>
        </p:txBody>
      </p:sp>
      <p:sp>
        <p:nvSpPr>
          <p:cNvPr id="14" name="export-step-3">
            <a:extLst xmlns:a="http://schemas.openxmlformats.org/drawingml/2006/main">
              <a:ext uri="{FF2B5EF4-FFF2-40B4-BE49-F238E27FC236}">
                <a16:creationId xmlns:a16="http://schemas.microsoft.com/office/drawing/2014/main" id="{A173D357-F4BA-48ED-84AE-A5BCA8EE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81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6A00"/>
          </a:solidFill>
          <a:ln xmlns:a="http://schemas.openxmlformats.org/drawingml/2006/main" w="0">
            <a:solidFill>
              <a:srgbClr val="B26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export-label-3">
            <a:extLst xmlns:a="http://schemas.openxmlformats.org/drawingml/2006/main">
              <a:ext uri="{FF2B5EF4-FFF2-40B4-BE49-F238E27FC236}">
                <a16:creationId xmlns:a16="http://schemas.microsoft.com/office/drawing/2014/main" id="{29950193-C3B5-4965-81B8-67B9B34B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576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51C2C"/>
                </a:solidFill>
              </a:defRPr>
            </a:pPr>
            <a:r>
              <a:rPr sz="1125" b="1">
                <a:solidFill>
                  <a:srgbClr val="051C2C"/>
                </a:solidFill>
              </a:rPr>
              <a:t>SHA-256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051C2C"/>
                </a:solidFill>
              </a:defRPr>
            </a:pPr>
            <a:r>
              <a:rPr sz="1125" b="1">
                <a:solidFill>
                  <a:srgbClr val="051C2C"/>
                </a:solidFill>
              </a:rPr>
              <a:t>checked</a:t>
            </a:r>
          </a:p>
        </p:txBody>
      </p:sp>
      <p:sp>
        <p:nvSpPr>
          <p:cNvPr id="16" name="export-step-4">
            <a:extLst xmlns:a="http://schemas.openxmlformats.org/drawingml/2006/main">
              <a:ext uri="{FF2B5EF4-FFF2-40B4-BE49-F238E27FC236}">
                <a16:creationId xmlns:a16="http://schemas.microsoft.com/office/drawing/2014/main" id="{9D958160-328C-44ED-BF36-D5BDC5BB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81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1"/>
          </a:solidFill>
          <a:ln xmlns:a="http://schemas.openxmlformats.org/drawingml/2006/main" w="0">
            <a:solidFill>
              <a:srgbClr val="007C9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export-label-4">
            <a:extLst xmlns:a="http://schemas.openxmlformats.org/drawingml/2006/main">
              <a:ext uri="{FF2B5EF4-FFF2-40B4-BE49-F238E27FC236}">
                <a16:creationId xmlns:a16="http://schemas.microsoft.com/office/drawing/2014/main" id="{86563855-064E-495D-916E-E7959E65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576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51C2C"/>
                </a:solidFill>
              </a:defRPr>
            </a:pPr>
            <a:r>
              <a:rPr sz="1125" b="1">
                <a:solidFill>
                  <a:srgbClr val="051C2C"/>
                </a:solidFill>
              </a:rPr>
              <a:t>public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051C2C"/>
                </a:solidFill>
              </a:defRPr>
            </a:pPr>
            <a:r>
              <a:rPr sz="1125" b="1">
                <a:solidFill>
                  <a:srgbClr val="051C2C"/>
                </a:solidFill>
              </a:rPr>
              <a:t>scope</a:t>
            </a:r>
          </a:p>
        </p:txBody>
      </p:sp>
      <p:sp>
        <p:nvSpPr>
          <p:cNvPr id="18" name="export-step-5">
            <a:extLst xmlns:a="http://schemas.openxmlformats.org/drawingml/2006/main">
              <a:ext uri="{FF2B5EF4-FFF2-40B4-BE49-F238E27FC236}">
                <a16:creationId xmlns:a16="http://schemas.microsoft.com/office/drawing/2014/main" id="{D05675B7-9658-4A44-A22E-96CBBBE3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81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1"/>
          </a:solidFill>
          <a:ln xmlns:a="http://schemas.openxmlformats.org/drawingml/2006/main" w="0">
            <a:solidFill>
              <a:srgbClr val="007C9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export-label-5">
            <a:extLst xmlns:a="http://schemas.openxmlformats.org/drawingml/2006/main">
              <a:ext uri="{FF2B5EF4-FFF2-40B4-BE49-F238E27FC236}">
                <a16:creationId xmlns:a16="http://schemas.microsoft.com/office/drawing/2014/main" id="{A1321C96-D243-4AB7-80FE-F3362332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57650"/>
            <a:ext cx="108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51C2C"/>
                </a:solidFill>
              </a:defRPr>
            </a:pPr>
            <a:r>
              <a:rPr sz="1125" b="1">
                <a:solidFill>
                  <a:srgbClr val="051C2C"/>
                </a:solidFill>
              </a:rPr>
              <a:t>metadata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051C2C"/>
                </a:solidFill>
              </a:defRPr>
            </a:pPr>
            <a:r>
              <a:rPr sz="1125" b="1">
                <a:solidFill>
                  <a:srgbClr val="051C2C"/>
                </a:solidFill>
              </a:rPr>
              <a:t>export</a:t>
            </a:r>
          </a:p>
        </p:txBody>
      </p:sp>
      <p:sp>
        <p:nvSpPr>
          <p:cNvPr id="20" name="forbidden-boundary">
            <a:extLst xmlns:a="http://schemas.openxmlformats.org/drawingml/2006/main">
              <a:ext uri="{FF2B5EF4-FFF2-40B4-BE49-F238E27FC236}">
                <a16:creationId xmlns:a16="http://schemas.microsoft.com/office/drawing/2014/main" id="{26E31253-D172-4649-8B25-EBF939D7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752600"/>
            <a:ext cx="3581400" cy="2838450"/>
          </a:xfrm>
          <a:prstGeom xmlns:a="http://schemas.openxmlformats.org/drawingml/2006/main" prst="roundRect">
            <a:avLst>
              <a:gd name="adj" fmla="val 6711"/>
            </a:avLst>
          </a:prstGeom>
          <a:solidFill xmlns:a="http://schemas.openxmlformats.org/drawingml/2006/main">
            <a:srgbClr val="F7E8E6"/>
          </a:solidFill>
          <a:ln xmlns:a="http://schemas.openxmlformats.org/drawingml/2006/main" w="17145">
            <a:solidFill>
              <a:srgbClr val="B73A3A"/>
            </a:solidFill>
            <a:prstDash val="solid"/>
          </a:ln>
        </p:spPr>
      </p:sp>
      <p:sp>
        <p:nvSpPr>
          <p:cNvPr id="21" name="forbidden-kicker">
            <a:extLst xmlns:a="http://schemas.openxmlformats.org/drawingml/2006/main">
              <a:ext uri="{FF2B5EF4-FFF2-40B4-BE49-F238E27FC236}">
                <a16:creationId xmlns:a16="http://schemas.microsoft.com/office/drawing/2014/main" id="{6AA43687-F423-40D4-B472-EFCCA65A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716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73A3A"/>
                </a:solidFill>
              </a:defRPr>
            </a:pPr>
            <a:r>
              <a:rPr sz="1050" b="1">
                <a:solidFill>
                  <a:srgbClr val="B73A3A"/>
                </a:solidFill>
              </a:rPr>
              <a:t>NEVER INCLUDED</a:t>
            </a:r>
          </a:p>
        </p:txBody>
      </p:sp>
      <p:sp>
        <p:nvSpPr>
          <p:cNvPr id="22" name="forbidden-title">
            <a:extLst xmlns:a="http://schemas.openxmlformats.org/drawingml/2006/main">
              <a:ext uri="{FF2B5EF4-FFF2-40B4-BE49-F238E27FC236}">
                <a16:creationId xmlns:a16="http://schemas.microsoft.com/office/drawing/2014/main" id="{822BFFBA-E4E9-4F19-8B86-DD2BDB85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1457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B73A3A"/>
                </a:solidFill>
              </a:defRPr>
            </a:pPr>
            <a:r>
              <a:rPr sz="1875" b="1">
                <a:solidFill>
                  <a:srgbClr val="B73A3A"/>
                </a:solidFill>
              </a:rPr>
              <a:t>Repository Stores No Work</a:t>
            </a:r>
          </a:p>
        </p:txBody>
      </p:sp>
      <p:sp>
        <p:nvSpPr>
          <p:cNvPr id="23" name="ban-mark-1">
            <a:extLst xmlns:a="http://schemas.openxmlformats.org/drawingml/2006/main">
              <a:ext uri="{FF2B5EF4-FFF2-40B4-BE49-F238E27FC236}">
                <a16:creationId xmlns:a16="http://schemas.microsoft.com/office/drawing/2014/main" id="{BA4735F2-01DD-40DC-A21A-79ED9E56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575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73A3A"/>
                </a:solidFill>
              </a:defRPr>
            </a:pPr>
            <a:r>
              <a:rPr sz="1650" b="1">
                <a:solidFill>
                  <a:srgbClr val="B73A3A"/>
                </a:solidFill>
              </a:rPr>
              <a:t>×</a:t>
            </a:r>
          </a:p>
        </p:txBody>
      </p:sp>
      <p:sp>
        <p:nvSpPr>
          <p:cNvPr id="24" name="ban-text-1">
            <a:extLst xmlns:a="http://schemas.openxmlformats.org/drawingml/2006/main">
              <a:ext uri="{FF2B5EF4-FFF2-40B4-BE49-F238E27FC236}">
                <a16:creationId xmlns:a16="http://schemas.microsoft.com/office/drawing/2014/main" id="{06F1AD9A-74BC-427F-A6BE-D067F04C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51C2C"/>
                </a:solidFill>
              </a:defRPr>
            </a:pPr>
            <a:r>
              <a:rPr sz="1200" b="1">
                <a:solidFill>
                  <a:srgbClr val="051C2C"/>
                </a:solidFill>
              </a:rPr>
              <a:t>Asset bytes / source copy / exact coordinates</a:t>
            </a:r>
          </a:p>
        </p:txBody>
      </p:sp>
      <p:sp>
        <p:nvSpPr>
          <p:cNvPr id="25" name="ban-mark-2">
            <a:extLst xmlns:a="http://schemas.openxmlformats.org/drawingml/2006/main">
              <a:ext uri="{FF2B5EF4-FFF2-40B4-BE49-F238E27FC236}">
                <a16:creationId xmlns:a16="http://schemas.microsoft.com/office/drawing/2014/main" id="{7AD65F3B-8222-4582-AC63-EBF43ABE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575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73A3A"/>
                </a:solidFill>
              </a:defRPr>
            </a:pPr>
            <a:r>
              <a:rPr sz="1650" b="1">
                <a:solidFill>
                  <a:srgbClr val="B73A3A"/>
                </a:solidFill>
              </a:rPr>
              <a:t>×</a:t>
            </a:r>
          </a:p>
        </p:txBody>
      </p:sp>
      <p:sp>
        <p:nvSpPr>
          <p:cNvPr id="26" name="ban-text-2">
            <a:extLst xmlns:a="http://schemas.openxmlformats.org/drawingml/2006/main">
              <a:ext uri="{FF2B5EF4-FFF2-40B4-BE49-F238E27FC236}">
                <a16:creationId xmlns:a16="http://schemas.microsoft.com/office/drawing/2014/main" id="{D105C73E-CF16-4DA1-8F6F-DB0051CD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766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51C2C"/>
                </a:solidFill>
              </a:defRPr>
            </a:pPr>
            <a:r>
              <a:rPr sz="1200" b="1">
                <a:solidFill>
                  <a:srgbClr val="051C2C"/>
                </a:solidFill>
              </a:rPr>
              <a:t>Enterprise templates / masters / brand kits / logos</a:t>
            </a:r>
          </a:p>
        </p:txBody>
      </p:sp>
      <p:sp>
        <p:nvSpPr>
          <p:cNvPr id="27" name="ban-mark-3">
            <a:extLst xmlns:a="http://schemas.openxmlformats.org/drawingml/2006/main">
              <a:ext uri="{FF2B5EF4-FFF2-40B4-BE49-F238E27FC236}">
                <a16:creationId xmlns:a16="http://schemas.microsoft.com/office/drawing/2014/main" id="{680C1693-CA1C-495F-AD48-2CAECD6E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576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73A3A"/>
                </a:solidFill>
              </a:defRPr>
            </a:pPr>
            <a:r>
              <a:rPr sz="1650" b="1">
                <a:solidFill>
                  <a:srgbClr val="B73A3A"/>
                </a:solidFill>
              </a:rPr>
              <a:t>×</a:t>
            </a:r>
          </a:p>
        </p:txBody>
      </p:sp>
      <p:sp>
        <p:nvSpPr>
          <p:cNvPr id="28" name="ban-text-3">
            <a:extLst xmlns:a="http://schemas.openxmlformats.org/drawingml/2006/main">
              <a:ext uri="{FF2B5EF4-FFF2-40B4-BE49-F238E27FC236}">
                <a16:creationId xmlns:a16="http://schemas.microsoft.com/office/drawing/2014/main" id="{2FBC19D7-ADC0-4F6F-9302-7BC96A1A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766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51C2C"/>
                </a:solidFill>
              </a:defRPr>
            </a:pPr>
            <a:r>
              <a:rPr sz="1200" b="1">
                <a:solidFill>
                  <a:srgbClr val="051C2C"/>
                </a:solidFill>
              </a:rPr>
              <a:t>Font files / internal data / model weights</a:t>
            </a:r>
          </a:p>
        </p:txBody>
      </p:sp>
      <p:sp>
        <p:nvSpPr>
          <p:cNvPr id="29" name="ban-mark-4">
            <a:extLst xmlns:a="http://schemas.openxmlformats.org/drawingml/2006/main">
              <a:ext uri="{FF2B5EF4-FFF2-40B4-BE49-F238E27FC236}">
                <a16:creationId xmlns:a16="http://schemas.microsoft.com/office/drawing/2014/main" id="{48E2891C-BEB2-48B3-8782-9F2F551E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576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73A3A"/>
                </a:solidFill>
              </a:defRPr>
            </a:pPr>
            <a:r>
              <a:rPr sz="1650" b="1">
                <a:solidFill>
                  <a:srgbClr val="B73A3A"/>
                </a:solidFill>
              </a:rPr>
              <a:t>×</a:t>
            </a:r>
          </a:p>
        </p:txBody>
      </p:sp>
      <p:sp>
        <p:nvSpPr>
          <p:cNvPr id="30" name="ban-text-4">
            <a:extLst xmlns:a="http://schemas.openxmlformats.org/drawingml/2006/main">
              <a:ext uri="{FF2B5EF4-FFF2-40B4-BE49-F238E27FC236}">
                <a16:creationId xmlns:a16="http://schemas.microsoft.com/office/drawing/2014/main" id="{762FCA71-27B1-46F3-9700-6D1D14E1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767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51C2C"/>
                </a:solidFill>
              </a:defRPr>
            </a:pPr>
            <a:r>
              <a:rPr sz="1200" b="1">
                <a:solidFill>
                  <a:srgbClr val="051C2C"/>
                </a:solidFill>
              </a:rPr>
              <a:t>Automatic admission of outputs / aesthetic ground truth</a:t>
            </a:r>
          </a:p>
        </p:txBody>
      </p:sp>
      <p:sp>
        <p:nvSpPr>
          <p:cNvPr id="31" name="unresolved-divider">
            <a:extLst xmlns:a="http://schemas.openxmlformats.org/drawingml/2006/main">
              <a:ext uri="{FF2B5EF4-FFF2-40B4-BE49-F238E27FC236}">
                <a16:creationId xmlns:a16="http://schemas.microsoft.com/office/drawing/2014/main" id="{6EC4F26B-9A54-4CEF-A714-DF4B782F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45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32" name="unresolved-kicker">
            <a:extLst xmlns:a="http://schemas.openxmlformats.org/drawingml/2006/main">
              <a:ext uri="{FF2B5EF4-FFF2-40B4-BE49-F238E27FC236}">
                <a16:creationId xmlns:a16="http://schemas.microsoft.com/office/drawing/2014/main" id="{ADDFE014-FBA9-47B8-846B-A651D4DA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73A3A"/>
                </a:solidFill>
              </a:defRPr>
            </a:pPr>
            <a:r>
              <a:rPr sz="1050" b="1">
                <a:solidFill>
                  <a:srgbClr val="B73A3A"/>
                </a:solidFill>
              </a:rPr>
              <a:t>NO REGISTERED MATCH</a:t>
            </a:r>
          </a:p>
        </p:txBody>
      </p:sp>
      <p:sp>
        <p:nvSpPr>
          <p:cNvPr id="33" name="unresolved-query">
            <a:extLst xmlns:a="http://schemas.openxmlformats.org/drawingml/2006/main">
              <a:ext uri="{FF2B5EF4-FFF2-40B4-BE49-F238E27FC236}">
                <a16:creationId xmlns:a16="http://schemas.microsoft.com/office/drawing/2014/main" id="{1E17563F-26A5-4E4B-A9A1-173844F1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51C2C"/>
                </a:solidFill>
              </a:defRPr>
            </a:pPr>
            <a:r>
              <a:rPr sz="1350" b="1">
                <a:solidFill>
                  <a:srgbClr val="051C2C"/>
                </a:solidFill>
              </a:rPr>
              <a:t>request</a:t>
            </a:r>
          </a:p>
        </p:txBody>
      </p:sp>
      <p:sp>
        <p:nvSpPr>
          <p:cNvPr id="34" name="unresolved-arrow-one">
            <a:extLst xmlns:a="http://schemas.openxmlformats.org/drawingml/2006/main">
              <a:ext uri="{FF2B5EF4-FFF2-40B4-BE49-F238E27FC236}">
                <a16:creationId xmlns:a16="http://schemas.microsoft.com/office/drawing/2014/main" id="{2D2100F3-5873-4DD4-960E-A69F2FA1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5114925"/>
            <a:ext cx="8191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7E8E6"/>
          </a:solidFill>
          <a:ln xmlns:a="http://schemas.openxmlformats.org/drawingml/2006/main" w="0">
            <a:solidFill>
              <a:srgbClr val="F7E8E6"/>
            </a:solidFill>
            <a:prstDash val="solid"/>
          </a:ln>
        </p:spPr>
      </p:sp>
      <p:sp>
        <p:nvSpPr>
          <p:cNvPr id="35" name="unresolved-status">
            <a:extLst xmlns:a="http://schemas.openxmlformats.org/drawingml/2006/main">
              <a:ext uri="{FF2B5EF4-FFF2-40B4-BE49-F238E27FC236}">
                <a16:creationId xmlns:a16="http://schemas.microsoft.com/office/drawing/2014/main" id="{2F5A1365-3DF0-4A89-B511-EF3890F1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48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73A3A"/>
                </a:solidFill>
              </a:defRPr>
            </a:pPr>
            <a:r>
              <a:rPr sz="1350" b="1">
                <a:solidFill>
                  <a:srgbClr val="B73A3A"/>
                </a:solidFill>
              </a:rPr>
              <a:t>unresolved / explicit fallback</a:t>
            </a:r>
          </a:p>
        </p:txBody>
      </p:sp>
      <p:sp>
        <p:nvSpPr>
          <p:cNvPr id="36" name="unresolved-arrow-two">
            <a:extLst xmlns:a="http://schemas.openxmlformats.org/drawingml/2006/main">
              <a:ext uri="{FF2B5EF4-FFF2-40B4-BE49-F238E27FC236}">
                <a16:creationId xmlns:a16="http://schemas.microsoft.com/office/drawing/2014/main" id="{FB7A49A6-28CE-4CC2-9C37-8B4C0BCF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114925"/>
            <a:ext cx="8191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7E8E6"/>
          </a:solidFill>
          <a:ln xmlns:a="http://schemas.openxmlformats.org/drawingml/2006/main" w="0">
            <a:solidFill>
              <a:srgbClr val="F7E8E6"/>
            </a:solidFill>
            <a:prstDash val="solid"/>
          </a:ln>
        </p:spPr>
      </p:sp>
      <p:sp>
        <p:nvSpPr>
          <p:cNvPr id="37" name="unresolved-stop">
            <a:extLst xmlns:a="http://schemas.openxmlformats.org/drawingml/2006/main">
              <a:ext uri="{FF2B5EF4-FFF2-40B4-BE49-F238E27FC236}">
                <a16:creationId xmlns:a16="http://schemas.microsoft.com/office/drawing/2014/main" id="{76AB27F5-1A22-429E-9882-BC279F84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482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73A3A"/>
                </a:solidFill>
              </a:defRPr>
            </a:pPr>
            <a:r>
              <a:rPr sz="1350" b="1">
                <a:solidFill>
                  <a:srgbClr val="B73A3A"/>
                </a:solidFill>
              </a:rPr>
              <a:t>NO PLAN</a:t>
            </a:r>
          </a:p>
        </p:txBody>
      </p:sp>
      <p:sp>
        <p:nvSpPr>
          <p:cNvPr id="38" name="unresolved-note">
            <a:extLst xmlns:a="http://schemas.openxmlformats.org/drawingml/2006/main">
              <a:ext uri="{FF2B5EF4-FFF2-40B4-BE49-F238E27FC236}">
                <a16:creationId xmlns:a16="http://schemas.microsoft.com/office/drawing/2014/main" id="{CA653E34-174E-4243-91F4-C882C9C1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67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B6770"/>
                </a:solidFill>
              </a:defRPr>
            </a:pPr>
            <a:r>
              <a:rPr sz="1200" b="1">
                <a:solidFill>
                  <a:srgbClr val="5B6770"/>
                </a:solidFill>
              </a:rPr>
              <a:t>No substitute guessed</a:t>
            </a:r>
          </a:p>
        </p:txBody>
      </p:sp>
      <p:sp>
        <p:nvSpPr>
          <p:cNvPr id="39" name="footer-rule-two">
            <a:extLst xmlns:a="http://schemas.openxmlformats.org/drawingml/2006/main">
              <a:ext uri="{FF2B5EF4-FFF2-40B4-BE49-F238E27FC236}">
                <a16:creationId xmlns:a16="http://schemas.microsoft.com/office/drawing/2014/main" id="{1301E468-F660-4804-B5CE-78202DCC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45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40" name="test-stage">
            <a:extLst xmlns:a="http://schemas.openxmlformats.org/drawingml/2006/main">
              <a:ext uri="{FF2B5EF4-FFF2-40B4-BE49-F238E27FC236}">
                <a16:creationId xmlns:a16="http://schemas.microsoft.com/office/drawing/2014/main" id="{BBB75782-5632-47E9-9C9B-0EF2EA86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251FF"/>
                </a:solidFill>
              </a:defRPr>
            </a:pPr>
            <a:r>
              <a:rPr sz="1200" b="1">
                <a:solidFill>
                  <a:srgbClr val="2251FF"/>
                </a:solidFill>
              </a:rPr>
              <a:t>10 STAGE 4 TESTS</a:t>
            </a:r>
          </a:p>
        </p:txBody>
      </p:sp>
      <p:sp>
        <p:nvSpPr>
          <p:cNvPr id="41" name="test-suite">
            <a:extLst xmlns:a="http://schemas.openxmlformats.org/drawingml/2006/main">
              <a:ext uri="{FF2B5EF4-FFF2-40B4-BE49-F238E27FC236}">
                <a16:creationId xmlns:a16="http://schemas.microsoft.com/office/drawing/2014/main" id="{DDB9C917-610C-4F8F-81CD-DD39C87D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943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7C91"/>
                </a:solidFill>
              </a:defRPr>
            </a:pPr>
            <a:r>
              <a:rPr sz="1200" b="1">
                <a:solidFill>
                  <a:srgbClr val="007C91"/>
                </a:solidFill>
              </a:rPr>
              <a:t>48 SUITE TESTS</a:t>
            </a:r>
          </a:p>
        </p:txBody>
      </p:sp>
      <p:sp>
        <p:nvSpPr>
          <p:cNvPr id="42" name="asset-stat">
            <a:extLst xmlns:a="http://schemas.openxmlformats.org/drawingml/2006/main">
              <a:ext uri="{FF2B5EF4-FFF2-40B4-BE49-F238E27FC236}">
                <a16:creationId xmlns:a16="http://schemas.microsoft.com/office/drawing/2014/main" id="{E3F24040-3983-48D5-8B83-6014340D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943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7C91"/>
                </a:solidFill>
              </a:defRPr>
            </a:pPr>
            <a:r>
              <a:rPr sz="1200" b="1">
                <a:solidFill>
                  <a:srgbClr val="007C91"/>
                </a:solidFill>
              </a:rPr>
              <a:t>0 EMBEDDED ASSETS</a:t>
            </a:r>
          </a:p>
        </p:txBody>
      </p:sp>
      <p:sp>
        <p:nvSpPr>
          <p:cNvPr id="43" name="version-two">
            <a:extLst xmlns:a="http://schemas.openxmlformats.org/drawingml/2006/main">
              <a:ext uri="{FF2B5EF4-FFF2-40B4-BE49-F238E27FC236}">
                <a16:creationId xmlns:a16="http://schemas.microsoft.com/office/drawing/2014/main" id="{20448263-14E9-423C-B088-0C91FA9B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9436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770"/>
                </a:solidFill>
              </a:defRPr>
            </a:pPr>
            <a:r>
              <a:rPr sz="1050" b="0">
                <a:solidFill>
                  <a:srgbClr val="5B6770"/>
                </a:solidFill>
              </a:rPr>
              <a:t>VERSION 0.3.0 · no merge · no release</a:t>
            </a:r>
          </a:p>
        </p:txBody>
      </p:sp>
    </p:spTree>
    <p:extLst>
      <p:ext uri="{BB962C8B-B14F-4D97-AF65-F5344CB8AC3E}">
        <p14:creationId xmlns:p14="http://schemas.microsoft.com/office/powerpoint/2010/main" val="170430931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eyebrow-1">
            <a:extLst xmlns:a="http://schemas.openxmlformats.org/drawingml/2006/main">
              <a:ext uri="{FF2B5EF4-FFF2-40B4-BE49-F238E27FC236}">
                <a16:creationId xmlns:a16="http://schemas.microsoft.com/office/drawing/2014/main" id="{E45B34C2-AD19-4430-944D-C2E836FB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51FF"/>
                </a:solidFill>
              </a:defRPr>
            </a:pPr>
            <a:r>
              <a:rPr sz="975" b="1">
                <a:solidFill>
                  <a:srgbClr val="2251FF"/>
                </a:solidFill>
              </a:rPr>
              <a:t>STAGE 5 · FEEDBACK, BENCHMARK &amp; READINESS · UNRELEASED</a:t>
            </a:r>
          </a:p>
        </p:txBody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27DDEA8C-CF78-4A18-87E7-C2D682F3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51C2C"/>
                </a:solidFill>
              </a:defRPr>
            </a:pPr>
            <a:r>
              <a:rPr sz="2775" b="1">
                <a:solidFill>
                  <a:srgbClr val="051C2C"/>
                </a:solidFill>
              </a:rPr>
              <a:t>Only Human Decisions Move Feedback into the Index</a:t>
            </a:r>
          </a:p>
        </p:txBody>
      </p:sp>
      <p:sp>
        <p:nvSpPr>
          <p:cNvPr id="3" name="subtitle-1">
            <a:extLst xmlns:a="http://schemas.openxmlformats.org/drawingml/2006/main">
              <a:ext uri="{FF2B5EF4-FFF2-40B4-BE49-F238E27FC236}">
                <a16:creationId xmlns:a16="http://schemas.microsoft.com/office/drawing/2014/main" id="{F4C489F8-2B77-42F9-BE92-B4EE6AE1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770"/>
                </a:solidFill>
              </a:defRPr>
            </a:pPr>
            <a:r>
              <a:rPr sz="1350" b="0">
                <a:solidFill>
                  <a:srgbClr val="5B6770"/>
                </a:solidFill>
              </a:rPr>
              <a:t>Five Skills keep their authority: responsible layers record candidates, separate admission binds exact hashes, and Supervisor only routes.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010F374E-4073-4368-8374-AD4B0CF8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770"/>
                </a:solidFill>
              </a:defRPr>
            </a:pPr>
            <a:r>
              <a:rPr sz="1050" b="1">
                <a:solidFill>
                  <a:srgbClr val="5B6770"/>
                </a:solidFill>
              </a:rPr>
              <a:t>01</a:t>
            </a:r>
          </a:p>
        </p:txBody>
      </p:sp>
      <p:sp>
        <p:nvSpPr>
          <p:cNvPr id="5" name="observation-source">
            <a:extLst xmlns:a="http://schemas.openxmlformats.org/drawingml/2006/main">
              <a:ext uri="{FF2B5EF4-FFF2-40B4-BE49-F238E27FC236}">
                <a16:creationId xmlns:a16="http://schemas.microsoft.com/office/drawing/2014/main" id="{B4C0BE24-8F3D-45A8-8DC3-90BDA42D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381250" cy="3143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3E5C"/>
          </a:solidFill>
          <a:ln xmlns:a="http://schemas.openxmlformats.org/drawingml/2006/main" w="0">
            <a:solidFill>
              <a:srgbClr val="153E5C"/>
            </a:solidFill>
            <a:prstDash val="solid"/>
          </a:ln>
        </p:spPr>
      </p:sp>
      <p:sp>
        <p:nvSpPr>
          <p:cNvPr id="6" name="observation-kicker">
            <a:extLst xmlns:a="http://schemas.openxmlformats.org/drawingml/2006/main">
              <a:ext uri="{FF2B5EF4-FFF2-40B4-BE49-F238E27FC236}">
                <a16:creationId xmlns:a16="http://schemas.microsoft.com/office/drawing/2014/main" id="{8FFABDB6-EDE0-4D10-854B-912DCDF3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6DEE3"/>
                </a:solidFill>
              </a:defRPr>
            </a:pPr>
            <a:r>
              <a:rPr sz="975" b="1">
                <a:solidFill>
                  <a:srgbClr val="D6DEE3"/>
                </a:solidFill>
              </a:rPr>
              <a:t>SOURCE · OBSERVATION ONLY</a:t>
            </a:r>
          </a:p>
        </p:txBody>
      </p:sp>
      <p:sp>
        <p:nvSpPr>
          <p:cNvPr id="7" name="observation-count">
            <a:extLst xmlns:a="http://schemas.openxmlformats.org/drawingml/2006/main">
              <a:ext uri="{FF2B5EF4-FFF2-40B4-BE49-F238E27FC236}">
                <a16:creationId xmlns:a16="http://schemas.microsoft.com/office/drawing/2014/main" id="{A7950208-5712-41DF-8D6E-401BB774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95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observation-label">
            <a:extLst xmlns:a="http://schemas.openxmlformats.org/drawingml/2006/main">
              <a:ext uri="{FF2B5EF4-FFF2-40B4-BE49-F238E27FC236}">
                <a16:creationId xmlns:a16="http://schemas.microsoft.com/office/drawing/2014/main" id="{1BF22E05-317A-4A7E-A8DE-CAC26E91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336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synthetic observations</a:t>
            </a:r>
          </a:p>
        </p:txBody>
      </p:sp>
      <p:sp>
        <p:nvSpPr>
          <p:cNvPr id="9" name="observation-rule">
            <a:extLst xmlns:a="http://schemas.openxmlformats.org/drawingml/2006/main">
              <a:ext uri="{FF2B5EF4-FFF2-40B4-BE49-F238E27FC236}">
                <a16:creationId xmlns:a16="http://schemas.microsoft.com/office/drawing/2014/main" id="{5E3525F3-7F8E-4DB7-941D-16FE4791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67075"/>
            <a:ext cx="192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B6770"/>
            </a:solidFill>
            <a:prstDash val="solid"/>
          </a:ln>
        </p:spPr>
      </p:sp>
      <p:sp>
        <p:nvSpPr>
          <p:cNvPr id="10" name="observation-body">
            <a:extLst xmlns:a="http://schemas.openxmlformats.org/drawingml/2006/main">
              <a:ext uri="{FF2B5EF4-FFF2-40B4-BE49-F238E27FC236}">
                <a16:creationId xmlns:a16="http://schemas.microsoft.com/office/drawing/2014/main" id="{08F9DC1F-5C9F-49AE-A6AA-F3F608F2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1924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stage = Output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promotion_status = observation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evidence_refs = synthetic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auto_promote = false</a:t>
            </a:r>
          </a:p>
        </p:txBody>
      </p:sp>
      <p:sp>
        <p:nvSpPr>
          <p:cNvPr id="11" name="observation-foot">
            <a:extLst xmlns:a="http://schemas.openxmlformats.org/drawingml/2006/main">
              <a:ext uri="{FF2B5EF4-FFF2-40B4-BE49-F238E27FC236}">
                <a16:creationId xmlns:a16="http://schemas.microsoft.com/office/drawing/2014/main" id="{F6F1AE4C-4DEE-41A7-B96B-703A7B54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D6DEE3"/>
                </a:solidFill>
              </a:defRPr>
            </a:pPr>
            <a:r>
              <a:rPr sz="1125" b="1">
                <a:solidFill>
                  <a:srgbClr val="D6DEE3"/>
                </a:solidFill>
              </a:rPr>
              <a:t>Observation ≠ knowledge</a:t>
            </a:r>
          </a:p>
        </p:txBody>
      </p:sp>
      <p:sp>
        <p:nvSpPr>
          <p:cNvPr id="12" name="source-to-gate">
            <a:extLst xmlns:a="http://schemas.openxmlformats.org/drawingml/2006/main">
              <a:ext uri="{FF2B5EF4-FFF2-40B4-BE49-F238E27FC236}">
                <a16:creationId xmlns:a16="http://schemas.microsoft.com/office/drawing/2014/main" id="{C7869A16-2D89-44BD-8C6F-5E6DCC4C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314700"/>
            <a:ext cx="514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F1F8"/>
          </a:solidFill>
          <a:ln xmlns:a="http://schemas.openxmlformats.org/drawingml/2006/main" w="0">
            <a:solidFill>
              <a:srgbClr val="E8F1F8"/>
            </a:solidFill>
            <a:prstDash val="solid"/>
          </a:ln>
        </p:spPr>
      </p:sp>
      <p:sp>
        <p:nvSpPr>
          <p:cNvPr id="13" name="gate-kicker">
            <a:extLst xmlns:a="http://schemas.openxmlformats.org/drawingml/2006/main">
              <a:ext uri="{FF2B5EF4-FFF2-40B4-BE49-F238E27FC236}">
                <a16:creationId xmlns:a16="http://schemas.microsoft.com/office/drawing/2014/main" id="{0DC9BDF3-84A0-402A-817D-5C0A266A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478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51FF"/>
                </a:solidFill>
              </a:defRPr>
            </a:pPr>
            <a:r>
              <a:rPr sz="1050" b="1">
                <a:solidFill>
                  <a:srgbClr val="2251FF"/>
                </a:solidFill>
              </a:rPr>
              <a:t>SEPARATE ADMISSION GATE</a:t>
            </a:r>
          </a:p>
        </p:txBody>
      </p:sp>
      <p:sp>
        <p:nvSpPr>
          <p:cNvPr id="14" name="gate-spine">
            <a:extLst xmlns:a="http://schemas.openxmlformats.org/drawingml/2006/main">
              <a:ext uri="{FF2B5EF4-FFF2-40B4-BE49-F238E27FC236}">
                <a16:creationId xmlns:a16="http://schemas.microsoft.com/office/drawing/2014/main" id="{CE0BA53D-E854-4EE4-B270-20926571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4315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DEE3"/>
            </a:solidFill>
            <a:prstDash val="solid"/>
          </a:ln>
        </p:spPr>
      </p:sp>
      <p:sp>
        <p:nvSpPr>
          <p:cNvPr id="15" name="gate-dot-1">
            <a:extLst xmlns:a="http://schemas.openxmlformats.org/drawingml/2006/main">
              <a:ext uri="{FF2B5EF4-FFF2-40B4-BE49-F238E27FC236}">
                <a16:creationId xmlns:a16="http://schemas.microsoft.com/office/drawing/2014/main" id="{19ED522F-15DC-4355-BC89-8D38661D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 w="0">
            <a:solidFill>
              <a:srgbClr val="2251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gate-title-1">
            <a:extLst xmlns:a="http://schemas.openxmlformats.org/drawingml/2006/main">
              <a:ext uri="{FF2B5EF4-FFF2-40B4-BE49-F238E27FC236}">
                <a16:creationId xmlns:a16="http://schemas.microsoft.com/office/drawing/2014/main" id="{730FCC73-2867-4F28-A6D8-20F706DA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51C2C"/>
                </a:solidFill>
              </a:defRPr>
            </a:pPr>
            <a:r>
              <a:rPr sz="1275" b="1">
                <a:solidFill>
                  <a:srgbClr val="051C2C"/>
                </a:solidFill>
              </a:rPr>
              <a:t>Independent human decision</a:t>
            </a:r>
          </a:p>
        </p:txBody>
      </p:sp>
      <p:sp>
        <p:nvSpPr>
          <p:cNvPr id="17" name="gate-detail-1">
            <a:extLst xmlns:a="http://schemas.openxmlformats.org/drawingml/2006/main">
              <a:ext uri="{FF2B5EF4-FFF2-40B4-BE49-F238E27FC236}">
                <a16:creationId xmlns:a16="http://schemas.microsoft.com/office/drawing/2014/main" id="{3E6E358E-6928-4545-A81C-5F830F61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955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770"/>
                </a:solidFill>
              </a:defRPr>
            </a:pPr>
            <a:r>
              <a:rPr sz="1125" b="0">
                <a:solidFill>
                  <a:srgbClr val="5B6770"/>
                </a:solidFill>
              </a:rPr>
              <a:t>Not a runtime result or model score</a:t>
            </a:r>
          </a:p>
        </p:txBody>
      </p:sp>
      <p:sp>
        <p:nvSpPr>
          <p:cNvPr id="18" name="gate-dot-2">
            <a:extLst xmlns:a="http://schemas.openxmlformats.org/drawingml/2006/main">
              <a:ext uri="{FF2B5EF4-FFF2-40B4-BE49-F238E27FC236}">
                <a16:creationId xmlns:a16="http://schemas.microsoft.com/office/drawing/2014/main" id="{48091FC0-5EBE-424F-83FC-3213D701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86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6A00"/>
          </a:solidFill>
          <a:ln xmlns:a="http://schemas.openxmlformats.org/drawingml/2006/main" w="0">
            <a:solidFill>
              <a:srgbClr val="B26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gate-title-2">
            <a:extLst xmlns:a="http://schemas.openxmlformats.org/drawingml/2006/main">
              <a:ext uri="{FF2B5EF4-FFF2-40B4-BE49-F238E27FC236}">
                <a16:creationId xmlns:a16="http://schemas.microsoft.com/office/drawing/2014/main" id="{0E5AAD9F-C35C-4008-8155-DE9932DF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67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51C2C"/>
                </a:solidFill>
              </a:defRPr>
            </a:pPr>
            <a:r>
              <a:rPr sz="1275" b="1">
                <a:solidFill>
                  <a:srgbClr val="051C2C"/>
                </a:solidFill>
              </a:rPr>
              <a:t>Canonical SHA-256 exact match</a:t>
            </a:r>
          </a:p>
        </p:txBody>
      </p:sp>
      <p:sp>
        <p:nvSpPr>
          <p:cNvPr id="20" name="gate-detail-2">
            <a:extLst xmlns:a="http://schemas.openxmlformats.org/drawingml/2006/main">
              <a:ext uri="{FF2B5EF4-FFF2-40B4-BE49-F238E27FC236}">
                <a16:creationId xmlns:a16="http://schemas.microsoft.com/office/drawing/2014/main" id="{D168A340-83EA-4C27-9DA0-CE6DB458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147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770"/>
                </a:solidFill>
              </a:defRPr>
            </a:pPr>
            <a:r>
              <a:rPr sz="1125" b="0">
                <a:solidFill>
                  <a:srgbClr val="5B6770"/>
                </a:solidFill>
              </a:rPr>
              <a:t>Any content change invalidates prior admission</a:t>
            </a:r>
          </a:p>
        </p:txBody>
      </p:sp>
      <p:sp>
        <p:nvSpPr>
          <p:cNvPr id="21" name="gate-dot-3">
            <a:extLst xmlns:a="http://schemas.openxmlformats.org/drawingml/2006/main">
              <a:ext uri="{FF2B5EF4-FFF2-40B4-BE49-F238E27FC236}">
                <a16:creationId xmlns:a16="http://schemas.microsoft.com/office/drawing/2014/main" id="{4E6669CF-0A38-4104-B8D0-5E0BF337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05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1"/>
          </a:solidFill>
          <a:ln xmlns:a="http://schemas.openxmlformats.org/drawingml/2006/main" w="0">
            <a:solidFill>
              <a:srgbClr val="007C9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gate-title-3">
            <a:extLst xmlns:a="http://schemas.openxmlformats.org/drawingml/2006/main">
              <a:ext uri="{FF2B5EF4-FFF2-40B4-BE49-F238E27FC236}">
                <a16:creationId xmlns:a16="http://schemas.microsoft.com/office/drawing/2014/main" id="{50087BCB-44DB-48CD-B5A5-3F791E81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86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51C2C"/>
                </a:solidFill>
              </a:defRPr>
            </a:pPr>
            <a:r>
              <a:rPr sz="1275" b="1">
                <a:solidFill>
                  <a:srgbClr val="051C2C"/>
                </a:solidFill>
              </a:rPr>
              <a:t>Layer and purpose retained</a:t>
            </a:r>
          </a:p>
        </p:txBody>
      </p:sp>
      <p:sp>
        <p:nvSpPr>
          <p:cNvPr id="23" name="gate-detail-3">
            <a:extLst xmlns:a="http://schemas.openxmlformats.org/drawingml/2006/main">
              <a:ext uri="{FF2B5EF4-FFF2-40B4-BE49-F238E27FC236}">
                <a16:creationId xmlns:a16="http://schemas.microsoft.com/office/drawing/2014/main" id="{F669B88C-3C43-4C01-958C-FD0B7E87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338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770"/>
                </a:solidFill>
              </a:defRPr>
            </a:pPr>
            <a:r>
              <a:rPr sz="1125" b="0">
                <a:solidFill>
                  <a:srgbClr val="5B6770"/>
                </a:solidFill>
              </a:rPr>
              <a:t>private-runtime · never_copy</a:t>
            </a:r>
          </a:p>
        </p:txBody>
      </p:sp>
      <p:sp>
        <p:nvSpPr>
          <p:cNvPr id="24" name="supervisor-boundary">
            <a:extLst xmlns:a="http://schemas.openxmlformats.org/drawingml/2006/main">
              <a:ext uri="{FF2B5EF4-FFF2-40B4-BE49-F238E27FC236}">
                <a16:creationId xmlns:a16="http://schemas.microsoft.com/office/drawing/2014/main" id="{2BD8D765-ACF6-4DF8-8330-7BC8D208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291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B6770"/>
                </a:solidFill>
              </a:defRPr>
            </a:pPr>
            <a:r>
              <a:rPr sz="1125" b="1">
                <a:solidFill>
                  <a:srgbClr val="5B6770"/>
                </a:solidFill>
              </a:rPr>
              <a:t>SUPERVISOR: diagnoses and routes candidates only; 0 independent feedback stores</a:t>
            </a:r>
          </a:p>
        </p:txBody>
      </p:sp>
      <p:sp>
        <p:nvSpPr>
          <p:cNvPr id="25" name="gate-to-result">
            <a:extLst xmlns:a="http://schemas.openxmlformats.org/drawingml/2006/main">
              <a:ext uri="{FF2B5EF4-FFF2-40B4-BE49-F238E27FC236}">
                <a16:creationId xmlns:a16="http://schemas.microsoft.com/office/drawing/2014/main" id="{3B85BC1A-7022-4534-B4F3-6C01C004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14700"/>
            <a:ext cx="571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F3F6"/>
          </a:solidFill>
          <a:ln xmlns:a="http://schemas.openxmlformats.org/drawingml/2006/main" w="0">
            <a:solidFill>
              <a:srgbClr val="E5F3F6"/>
            </a:solidFill>
            <a:prstDash val="solid"/>
          </a:ln>
        </p:spPr>
      </p:sp>
      <p:sp>
        <p:nvSpPr>
          <p:cNvPr id="26" name="admitted-provider">
            <a:extLst xmlns:a="http://schemas.openxmlformats.org/drawingml/2006/main">
              <a:ext uri="{FF2B5EF4-FFF2-40B4-BE49-F238E27FC236}">
                <a16:creationId xmlns:a16="http://schemas.microsoft.com/office/drawing/2014/main" id="{34DF812E-2DB3-4D79-BDBC-75B9D990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47850"/>
            <a:ext cx="3657600" cy="1905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5F3F6"/>
          </a:solidFill>
          <a:ln xmlns:a="http://schemas.openxmlformats.org/drawingml/2006/main" w="17145">
            <a:solidFill>
              <a:srgbClr val="007C91"/>
            </a:solidFill>
            <a:prstDash val="solid"/>
          </a:ln>
        </p:spPr>
      </p:sp>
      <p:sp>
        <p:nvSpPr>
          <p:cNvPr id="27" name="admitted-kicker">
            <a:extLst xmlns:a="http://schemas.openxmlformats.org/drawingml/2006/main">
              <a:ext uri="{FF2B5EF4-FFF2-40B4-BE49-F238E27FC236}">
                <a16:creationId xmlns:a16="http://schemas.microsoft.com/office/drawing/2014/main" id="{DCE3393D-1D21-4474-BAD3-7D3C8AE1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76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7C91"/>
                </a:solidFill>
              </a:defRPr>
            </a:pPr>
            <a:r>
              <a:rPr sz="1050" b="1">
                <a:solidFill>
                  <a:srgbClr val="007C91"/>
                </a:solidFill>
              </a:rPr>
              <a:t>ADMITTED · PRIVATE PROVIDER</a:t>
            </a:r>
          </a:p>
        </p:txBody>
      </p:sp>
      <p:sp>
        <p:nvSpPr>
          <p:cNvPr id="28" name="admitted-title">
            <a:extLst xmlns:a="http://schemas.openxmlformats.org/drawingml/2006/main">
              <a:ext uri="{FF2B5EF4-FFF2-40B4-BE49-F238E27FC236}">
                <a16:creationId xmlns:a16="http://schemas.microsoft.com/office/drawing/2014/main" id="{55CA9D74-A318-48D1-8828-EBF7D7E3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193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7C91"/>
                </a:solidFill>
              </a:defRPr>
            </a:pPr>
            <a:r>
              <a:rPr sz="2025" b="1">
                <a:solidFill>
                  <a:srgbClr val="007C91"/>
                </a:solidFill>
              </a:rPr>
              <a:t>1 Learning available</a:t>
            </a:r>
          </a:p>
        </p:txBody>
      </p:sp>
      <p:sp>
        <p:nvSpPr>
          <p:cNvPr id="29" name="admitted-id">
            <a:extLst xmlns:a="http://schemas.openxmlformats.org/drawingml/2006/main">
              <a:ext uri="{FF2B5EF4-FFF2-40B4-BE49-F238E27FC236}">
                <a16:creationId xmlns:a16="http://schemas.microsoft.com/office/drawing/2014/main" id="{0A0ED8B3-022E-455A-963C-FDA0595E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146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51C2C"/>
                </a:solidFill>
              </a:defRPr>
            </a:pPr>
            <a:r>
              <a:rPr sz="1350" b="1">
                <a:solidFill>
                  <a:srgbClr val="051C2C"/>
                </a:solidFill>
              </a:rPr>
              <a:t>learning.synthetic-label-offset</a:t>
            </a:r>
          </a:p>
        </p:txBody>
      </p:sp>
      <p:sp>
        <p:nvSpPr>
          <p:cNvPr id="30" name="admitted-rights">
            <a:extLst xmlns:a="http://schemas.openxmlformats.org/drawingml/2006/main">
              <a:ext uri="{FF2B5EF4-FFF2-40B4-BE49-F238E27FC236}">
                <a16:creationId xmlns:a16="http://schemas.microsoft.com/office/drawing/2014/main" id="{0B80F3C0-E6D1-4DEF-8CEE-C2F5396C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766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770"/>
                </a:solidFill>
              </a:defRPr>
            </a:pPr>
            <a:r>
              <a:rPr sz="1125" b="0">
                <a:solidFill>
                  <a:srgbClr val="5B6770"/>
                </a:solidFill>
              </a:rPr>
              <a:t>local-private · local-only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B6770"/>
                </a:solidFill>
              </a:defRPr>
            </a:pPr>
            <a:r>
              <a:rPr sz="1125" b="0">
                <a:solidFill>
                  <a:srgbClr val="5B6770"/>
                </a:solidFill>
              </a:rPr>
              <a:t>public_catalog_eligible = false</a:t>
            </a:r>
          </a:p>
        </p:txBody>
      </p:sp>
      <p:sp>
        <p:nvSpPr>
          <p:cNvPr id="31" name="blocked-observation">
            <a:extLst xmlns:a="http://schemas.openxmlformats.org/drawingml/2006/main">
              <a:ext uri="{FF2B5EF4-FFF2-40B4-BE49-F238E27FC236}">
                <a16:creationId xmlns:a16="http://schemas.microsoft.com/office/drawing/2014/main" id="{75E987AF-4AD8-4349-9AF9-9A543DF5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81450"/>
            <a:ext cx="3657600" cy="1009650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F7E8E6"/>
          </a:solidFill>
          <a:ln xmlns:a="http://schemas.openxmlformats.org/drawingml/2006/main" w="14288">
            <a:solidFill>
              <a:srgbClr val="B73A3A"/>
            </a:solidFill>
            <a:prstDash val="solid"/>
          </a:ln>
        </p:spPr>
      </p:sp>
      <p:sp>
        <p:nvSpPr>
          <p:cNvPr id="32" name="blocked-mark">
            <a:extLst xmlns:a="http://schemas.openxmlformats.org/drawingml/2006/main">
              <a:ext uri="{FF2B5EF4-FFF2-40B4-BE49-F238E27FC236}">
                <a16:creationId xmlns:a16="http://schemas.microsoft.com/office/drawing/2014/main" id="{454B6082-D5B6-4D31-BBA7-4C62EF74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52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B73A3A"/>
                </a:solidFill>
              </a:defRPr>
            </a:pPr>
            <a:r>
              <a:rPr sz="2250" b="1">
                <a:solidFill>
                  <a:srgbClr val="B73A3A"/>
                </a:solidFill>
              </a:rPr>
              <a:t>×</a:t>
            </a:r>
          </a:p>
        </p:txBody>
      </p:sp>
      <p:sp>
        <p:nvSpPr>
          <p:cNvPr id="33" name="blocked-title">
            <a:extLst xmlns:a="http://schemas.openxmlformats.org/drawingml/2006/main">
              <a:ext uri="{FF2B5EF4-FFF2-40B4-BE49-F238E27FC236}">
                <a16:creationId xmlns:a16="http://schemas.microsoft.com/office/drawing/2014/main" id="{4CD9A9D0-1E77-4AF3-BB13-C7B22820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719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73A3A"/>
                </a:solidFill>
              </a:defRPr>
            </a:pPr>
            <a:r>
              <a:rPr sz="1350" b="1">
                <a:solidFill>
                  <a:srgbClr val="B73A3A"/>
                </a:solidFill>
              </a:rPr>
              <a:t>1 observation remains blocked</a:t>
            </a:r>
          </a:p>
        </p:txBody>
      </p:sp>
      <p:sp>
        <p:nvSpPr>
          <p:cNvPr id="34" name="blocked-reason">
            <a:extLst xmlns:a="http://schemas.openxmlformats.org/drawingml/2006/main">
              <a:ext uri="{FF2B5EF4-FFF2-40B4-BE49-F238E27FC236}">
                <a16:creationId xmlns:a16="http://schemas.microsoft.com/office/drawing/2014/main" id="{2E4FBB82-772B-470E-A17E-AD34E45A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529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770"/>
                </a:solidFill>
              </a:defRPr>
            </a:pPr>
            <a:r>
              <a:rPr sz="1125" b="0">
                <a:solidFill>
                  <a:srgbClr val="5B6770"/>
                </a:solidFill>
              </a:rPr>
              <a:t>human-admission-required · explicitly skipped</a:t>
            </a:r>
          </a:p>
        </p:txBody>
      </p:sp>
      <p:sp>
        <p:nvSpPr>
          <p:cNvPr id="35" name="footer-rule-one">
            <a:extLst xmlns:a="http://schemas.openxmlformats.org/drawingml/2006/main">
              <a:ext uri="{FF2B5EF4-FFF2-40B4-BE49-F238E27FC236}">
                <a16:creationId xmlns:a16="http://schemas.microsoft.com/office/drawing/2014/main" id="{50DFEEEF-4A20-4ECC-AF8B-D2506C1C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45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36" name="stat-source">
            <a:extLst xmlns:a="http://schemas.openxmlformats.org/drawingml/2006/main">
              <a:ext uri="{FF2B5EF4-FFF2-40B4-BE49-F238E27FC236}">
                <a16:creationId xmlns:a16="http://schemas.microsoft.com/office/drawing/2014/main" id="{9A4A5634-39C5-485A-AE35-FDD76D0E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3E5C"/>
                </a:solidFill>
              </a:defRPr>
            </a:pPr>
            <a:r>
              <a:rPr sz="1200" b="1">
                <a:solidFill>
                  <a:srgbClr val="153E5C"/>
                </a:solidFill>
              </a:rPr>
              <a:t>2 SOURCE OBSERVATIONS</a:t>
            </a:r>
          </a:p>
        </p:txBody>
      </p:sp>
      <p:sp>
        <p:nvSpPr>
          <p:cNvPr id="37" name="stat-indexed">
            <a:extLst xmlns:a="http://schemas.openxmlformats.org/drawingml/2006/main">
              <a:ext uri="{FF2B5EF4-FFF2-40B4-BE49-F238E27FC236}">
                <a16:creationId xmlns:a16="http://schemas.microsoft.com/office/drawing/2014/main" id="{E669306B-8970-4203-B750-D1BF4065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8102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7C91"/>
                </a:solidFill>
              </a:defRPr>
            </a:pPr>
            <a:r>
              <a:rPr sz="1200" b="1">
                <a:solidFill>
                  <a:srgbClr val="007C91"/>
                </a:solidFill>
              </a:rPr>
              <a:t>1 HASH-BOUND ADMISSION</a:t>
            </a:r>
          </a:p>
        </p:txBody>
      </p:sp>
      <p:sp>
        <p:nvSpPr>
          <p:cNvPr id="38" name="stat-auto">
            <a:extLst xmlns:a="http://schemas.openxmlformats.org/drawingml/2006/main">
              <a:ext uri="{FF2B5EF4-FFF2-40B4-BE49-F238E27FC236}">
                <a16:creationId xmlns:a16="http://schemas.microsoft.com/office/drawing/2014/main" id="{F1FA7A9A-681D-471F-B725-AB21B16E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8102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73A3A"/>
                </a:solidFill>
              </a:defRPr>
            </a:pPr>
            <a:r>
              <a:rPr sz="1200" b="1">
                <a:solidFill>
                  <a:srgbClr val="B73A3A"/>
                </a:solidFill>
              </a:rPr>
              <a:t>0 AUTO PROMOTIONS</a:t>
            </a:r>
          </a:p>
        </p:txBody>
      </p:sp>
      <p:sp>
        <p:nvSpPr>
          <p:cNvPr id="39" name="version-one">
            <a:extLst xmlns:a="http://schemas.openxmlformats.org/drawingml/2006/main">
              <a:ext uri="{FF2B5EF4-FFF2-40B4-BE49-F238E27FC236}">
                <a16:creationId xmlns:a16="http://schemas.microsoft.com/office/drawing/2014/main" id="{59B6ABE0-F48B-49A1-8B05-76516DE6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81025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770"/>
                </a:solidFill>
              </a:defRPr>
            </a:pPr>
            <a:r>
              <a:rPr sz="1050" b="0">
                <a:solidFill>
                  <a:srgbClr val="5B6770"/>
                </a:solidFill>
              </a:rPr>
              <a:t>VERSION 0.3.0 · private feedback only</a:t>
            </a:r>
          </a:p>
        </p:txBody>
      </p:sp>
    </p:spTree>
    <p:extLst>
      <p:ext uri="{BB962C8B-B14F-4D97-AF65-F5344CB8AC3E}">
        <p14:creationId xmlns:p14="http://schemas.microsoft.com/office/powerpoint/2010/main" val="67238339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eyebrow-2">
            <a:extLst xmlns:a="http://schemas.openxmlformats.org/drawingml/2006/main">
              <a:ext uri="{FF2B5EF4-FFF2-40B4-BE49-F238E27FC236}">
                <a16:creationId xmlns:a16="http://schemas.microsoft.com/office/drawing/2014/main" id="{CFA6DD71-24E5-4B5F-BE5D-F7DE8379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51FF"/>
                </a:solidFill>
              </a:defRPr>
            </a:pPr>
            <a:r>
              <a:rPr sz="975" b="1">
                <a:solidFill>
                  <a:srgbClr val="2251FF"/>
                </a:solidFill>
              </a:rPr>
              <a:t>STAGE 5 · FEEDBACK, BENCHMARK &amp; READINESS · UNRELEASED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FD219B31-986C-4623-A64F-A165ED82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51C2C"/>
                </a:solidFill>
              </a:defRPr>
            </a:pPr>
            <a:r>
              <a:rPr sz="2775" b="1">
                <a:solidFill>
                  <a:srgbClr val="051C2C"/>
                </a:solidFill>
              </a:rPr>
              <a:t>Benchmarks Make Drift, Fabrication, and Early Release Fail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9089ECFB-F2B5-46AE-A501-B0DFF4DE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770"/>
                </a:solidFill>
              </a:defRPr>
            </a:pPr>
            <a:r>
              <a:rPr sz="1350" b="0">
                <a:solidFill>
                  <a:srgbClr val="5B6770"/>
                </a:solidFill>
              </a:rPr>
              <a:t>Snapshots lock retrieval facts; migration preserves private boundaries; passing every check still does not grant release authority.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E6262294-E358-4255-8F2E-F9313F90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B6770"/>
                </a:solidFill>
              </a:defRPr>
            </a:pPr>
            <a:r>
              <a:rPr sz="1050" b="1">
                <a:solidFill>
                  <a:srgbClr val="5B6770"/>
                </a:solidFill>
              </a:rPr>
              <a:t>02</a:t>
            </a:r>
          </a:p>
        </p:txBody>
      </p:sp>
      <p:sp>
        <p:nvSpPr>
          <p:cNvPr id="5" name="benchmark-kicker">
            <a:extLst xmlns:a="http://schemas.openxmlformats.org/drawingml/2006/main">
              <a:ext uri="{FF2B5EF4-FFF2-40B4-BE49-F238E27FC236}">
                <a16:creationId xmlns:a16="http://schemas.microsoft.com/office/drawing/2014/main" id="{EC502D11-2F36-404D-B8F4-91C06314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7C91"/>
                </a:solidFill>
              </a:defRPr>
            </a:pPr>
            <a:r>
              <a:rPr sz="1050" b="1">
                <a:solidFill>
                  <a:srgbClr val="007C91"/>
                </a:solidFill>
              </a:rPr>
              <a:t>FIXED-SNAPSHOT RETRIEVAL BENCHMARK</a:t>
            </a:r>
          </a:p>
        </p:txBody>
      </p:sp>
      <p:sp>
        <p:nvSpPr>
          <p:cNvPr id="6" name="benchmark-score">
            <a:extLst xmlns:a="http://schemas.openxmlformats.org/drawingml/2006/main">
              <a:ext uri="{FF2B5EF4-FFF2-40B4-BE49-F238E27FC236}">
                <a16:creationId xmlns:a16="http://schemas.microsoft.com/office/drawing/2014/main" id="{BB8AC8AD-0040-4FA6-813C-7772BF57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2247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07C91"/>
                </a:solidFill>
              </a:defRPr>
            </a:pPr>
            <a:r>
              <a:rPr sz="4050" b="1">
                <a:solidFill>
                  <a:srgbClr val="007C91"/>
                </a:solidFill>
              </a:rPr>
              <a:t>4 / 4</a:t>
            </a:r>
          </a:p>
        </p:txBody>
      </p:sp>
      <p:sp>
        <p:nvSpPr>
          <p:cNvPr id="7" name="benchmark-score-label">
            <a:extLst xmlns:a="http://schemas.openxmlformats.org/drawingml/2006/main">
              <a:ext uri="{FF2B5EF4-FFF2-40B4-BE49-F238E27FC236}">
                <a16:creationId xmlns:a16="http://schemas.microsoft.com/office/drawing/2014/main" id="{57E66ED2-3D45-4205-AD15-62EC43A4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193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51C2C"/>
                </a:solidFill>
              </a:defRPr>
            </a:pPr>
            <a:r>
              <a:rPr sz="1575" b="1">
                <a:solidFill>
                  <a:srgbClr val="051C2C"/>
                </a:solidFill>
              </a:rPr>
              <a:t>passed</a:t>
            </a:r>
          </a:p>
        </p:txBody>
      </p:sp>
      <p:sp>
        <p:nvSpPr>
          <p:cNvPr id="8" name="snapshot-label">
            <a:extLst xmlns:a="http://schemas.openxmlformats.org/drawingml/2006/main">
              <a:ext uri="{FF2B5EF4-FFF2-40B4-BE49-F238E27FC236}">
                <a16:creationId xmlns:a16="http://schemas.microsoft.com/office/drawing/2014/main" id="{5A6109C9-7E88-4A1C-8A7E-9FDF662E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7170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770"/>
                </a:solidFill>
              </a:defRPr>
            </a:pPr>
            <a:r>
              <a:rPr sz="975" b="1">
                <a:solidFill>
                  <a:srgbClr val="5B6770"/>
                </a:solidFill>
              </a:rPr>
              <a:t>PROVIDER SNAPSHOTS</a:t>
            </a:r>
          </a:p>
        </p:txBody>
      </p:sp>
      <p:sp>
        <p:nvSpPr>
          <p:cNvPr id="9" name="snapshot-value">
            <a:extLst xmlns:a="http://schemas.openxmlformats.org/drawingml/2006/main">
              <a:ext uri="{FF2B5EF4-FFF2-40B4-BE49-F238E27FC236}">
                <a16:creationId xmlns:a16="http://schemas.microsoft.com/office/drawing/2014/main" id="{75FADDE6-A780-4233-B054-CDC7A947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193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3E5C"/>
                </a:solidFill>
              </a:defRPr>
            </a:pPr>
            <a:r>
              <a:rPr sz="1500" b="1">
                <a:solidFill>
                  <a:srgbClr val="153E5C"/>
                </a:solidFill>
              </a:rPr>
              <a:t>24 public + 1 private</a:t>
            </a:r>
          </a:p>
        </p:txBody>
      </p:sp>
      <p:sp>
        <p:nvSpPr>
          <p:cNvPr id="10" name="case-backbone">
            <a:extLst xmlns:a="http://schemas.openxmlformats.org/drawingml/2006/main">
              <a:ext uri="{FF2B5EF4-FFF2-40B4-BE49-F238E27FC236}">
                <a16:creationId xmlns:a16="http://schemas.microsoft.com/office/drawing/2014/main" id="{32D5ADB9-DE49-49D5-9748-B863C9E0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76575"/>
            <a:ext cx="493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C91"/>
            </a:solidFill>
            <a:prstDash val="solid"/>
          </a:ln>
        </p:spPr>
      </p:sp>
      <p:sp>
        <p:nvSpPr>
          <p:cNvPr id="11" name="case-dot-1">
            <a:extLst xmlns:a="http://schemas.openxmlformats.org/drawingml/2006/main">
              <a:ext uri="{FF2B5EF4-FFF2-40B4-BE49-F238E27FC236}">
                <a16:creationId xmlns:a16="http://schemas.microsoft.com/office/drawing/2014/main" id="{12FCB672-C3A5-45B5-AFA8-E9E49C9D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E5C"/>
          </a:solidFill>
          <a:ln xmlns:a="http://schemas.openxmlformats.org/drawingml/2006/main" w="0">
            <a:solidFill>
              <a:srgbClr val="153E5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case-title-1">
            <a:extLst xmlns:a="http://schemas.openxmlformats.org/drawingml/2006/main">
              <a:ext uri="{FF2B5EF4-FFF2-40B4-BE49-F238E27FC236}">
                <a16:creationId xmlns:a16="http://schemas.microsoft.com/office/drawing/2014/main" id="{16B1C2B0-4F7C-4C81-B953-95426DF8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00425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51C2C"/>
                </a:solidFill>
              </a:defRPr>
            </a:pPr>
            <a:r>
              <a:rPr sz="1125" b="1">
                <a:solidFill>
                  <a:srgbClr val="051C2C"/>
                </a:solidFill>
              </a:rPr>
              <a:t>Composition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051C2C"/>
                </a:solidFill>
              </a:defRPr>
            </a:pPr>
            <a:r>
              <a:rPr sz="1125" b="1">
                <a:solidFill>
                  <a:srgbClr val="051C2C"/>
                </a:solidFill>
              </a:rPr>
              <a:t>Pattern</a:t>
            </a:r>
          </a:p>
        </p:txBody>
      </p:sp>
      <p:sp>
        <p:nvSpPr>
          <p:cNvPr id="13" name="case-outcome-1">
            <a:extLst xmlns:a="http://schemas.openxmlformats.org/drawingml/2006/main">
              <a:ext uri="{FF2B5EF4-FFF2-40B4-BE49-F238E27FC236}">
                <a16:creationId xmlns:a16="http://schemas.microsoft.com/office/drawing/2014/main" id="{10CA2BCA-2BAB-430C-A096-10B3208B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433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53E5C"/>
                </a:solidFill>
              </a:defRPr>
            </a:pPr>
            <a:r>
              <a:rPr sz="1050" b="1">
                <a:solidFill>
                  <a:srgbClr val="153E5C"/>
                </a:solidFill>
              </a:rPr>
              <a:t>MATCHED</a:t>
            </a:r>
          </a:p>
        </p:txBody>
      </p:sp>
      <p:sp>
        <p:nvSpPr>
          <p:cNvPr id="14" name="case-dot-2">
            <a:extLst xmlns:a="http://schemas.openxmlformats.org/drawingml/2006/main">
              <a:ext uri="{FF2B5EF4-FFF2-40B4-BE49-F238E27FC236}">
                <a16:creationId xmlns:a16="http://schemas.microsoft.com/office/drawing/2014/main" id="{6464ACA4-8BDF-4CB2-9E61-8F4E0B77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57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 w="0">
            <a:solidFill>
              <a:srgbClr val="2251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case-title-2">
            <a:extLst xmlns:a="http://schemas.openxmlformats.org/drawingml/2006/main">
              <a:ext uri="{FF2B5EF4-FFF2-40B4-BE49-F238E27FC236}">
                <a16:creationId xmlns:a16="http://schemas.microsoft.com/office/drawing/2014/main" id="{49C972A1-859D-4CBB-BAB7-8E974715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00425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51C2C"/>
                </a:solidFill>
              </a:defRPr>
            </a:pPr>
            <a:r>
              <a:rPr sz="1125" b="1">
                <a:solidFill>
                  <a:srgbClr val="051C2C"/>
                </a:solidFill>
              </a:rPr>
              <a:t>Failure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051C2C"/>
                </a:solidFill>
              </a:defRPr>
            </a:pPr>
            <a:r>
              <a:rPr sz="1125" b="1">
                <a:solidFill>
                  <a:srgbClr val="051C2C"/>
                </a:solidFill>
              </a:rPr>
              <a:t>Pattern</a:t>
            </a:r>
          </a:p>
        </p:txBody>
      </p:sp>
      <p:sp>
        <p:nvSpPr>
          <p:cNvPr id="16" name="case-outcome-2">
            <a:extLst xmlns:a="http://schemas.openxmlformats.org/drawingml/2006/main">
              <a:ext uri="{FF2B5EF4-FFF2-40B4-BE49-F238E27FC236}">
                <a16:creationId xmlns:a16="http://schemas.microsoft.com/office/drawing/2014/main" id="{DC3E3AAB-9081-45AB-AE0F-C8ACC1C1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9433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251FF"/>
                </a:solidFill>
              </a:defRPr>
            </a:pPr>
            <a:r>
              <a:rPr sz="1050" b="1">
                <a:solidFill>
                  <a:srgbClr val="2251FF"/>
                </a:solidFill>
              </a:rPr>
              <a:t>MATCHED</a:t>
            </a:r>
          </a:p>
        </p:txBody>
      </p:sp>
      <p:sp>
        <p:nvSpPr>
          <p:cNvPr id="17" name="case-dot-3">
            <a:extLst xmlns:a="http://schemas.openxmlformats.org/drawingml/2006/main">
              <a:ext uri="{FF2B5EF4-FFF2-40B4-BE49-F238E27FC236}">
                <a16:creationId xmlns:a16="http://schemas.microsoft.com/office/drawing/2014/main" id="{DB3653C1-6282-4ADB-ABC1-7667D3B1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57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6A00"/>
          </a:solidFill>
          <a:ln xmlns:a="http://schemas.openxmlformats.org/drawingml/2006/main" w="0">
            <a:solidFill>
              <a:srgbClr val="B26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case-title-3">
            <a:extLst xmlns:a="http://schemas.openxmlformats.org/drawingml/2006/main">
              <a:ext uri="{FF2B5EF4-FFF2-40B4-BE49-F238E27FC236}">
                <a16:creationId xmlns:a16="http://schemas.microsoft.com/office/drawing/2014/main" id="{2E40184C-EC50-450B-B208-FBCFD060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00425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51C2C"/>
                </a:solidFill>
              </a:defRPr>
            </a:pPr>
            <a:r>
              <a:rPr sz="1125" b="1">
                <a:solidFill>
                  <a:srgbClr val="051C2C"/>
                </a:solidFill>
              </a:rPr>
              <a:t>Private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051C2C"/>
                </a:solidFill>
              </a:defRPr>
            </a:pPr>
            <a:r>
              <a:rPr sz="1125" b="1">
                <a:solidFill>
                  <a:srgbClr val="051C2C"/>
                </a:solidFill>
              </a:rPr>
              <a:t>Learning</a:t>
            </a:r>
          </a:p>
        </p:txBody>
      </p:sp>
      <p:sp>
        <p:nvSpPr>
          <p:cNvPr id="19" name="case-outcome-3">
            <a:extLst xmlns:a="http://schemas.openxmlformats.org/drawingml/2006/main">
              <a:ext uri="{FF2B5EF4-FFF2-40B4-BE49-F238E27FC236}">
                <a16:creationId xmlns:a16="http://schemas.microsoft.com/office/drawing/2014/main" id="{4C430F86-EF4D-4020-8420-5491E18B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433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B26A00"/>
                </a:solidFill>
              </a:defRPr>
            </a:pPr>
            <a:r>
              <a:rPr sz="1050" b="1">
                <a:solidFill>
                  <a:srgbClr val="B26A00"/>
                </a:solidFill>
              </a:rPr>
              <a:t>MATCHED</a:t>
            </a:r>
          </a:p>
        </p:txBody>
      </p:sp>
      <p:sp>
        <p:nvSpPr>
          <p:cNvPr id="20" name="case-dot-4">
            <a:extLst xmlns:a="http://schemas.openxmlformats.org/drawingml/2006/main">
              <a:ext uri="{FF2B5EF4-FFF2-40B4-BE49-F238E27FC236}">
                <a16:creationId xmlns:a16="http://schemas.microsoft.com/office/drawing/2014/main" id="{D97AE2FF-ED70-4850-9578-ED6D7AE8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3A3A"/>
          </a:solidFill>
          <a:ln xmlns:a="http://schemas.openxmlformats.org/drawingml/2006/main" w="0">
            <a:solidFill>
              <a:srgbClr val="B73A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case-title-4">
            <a:extLst xmlns:a="http://schemas.openxmlformats.org/drawingml/2006/main">
              <a:ext uri="{FF2B5EF4-FFF2-40B4-BE49-F238E27FC236}">
                <a16:creationId xmlns:a16="http://schemas.microsoft.com/office/drawing/2014/main" id="{3EC24500-57E6-4C2E-8941-66C438FC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00425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51C2C"/>
                </a:solidFill>
              </a:defRPr>
            </a:pPr>
            <a:r>
              <a:rPr sz="1125" b="1">
                <a:solidFill>
                  <a:srgbClr val="051C2C"/>
                </a:solidFill>
              </a:rPr>
              <a:t>Unregistered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051C2C"/>
                </a:solidFill>
              </a:defRPr>
            </a:pPr>
            <a:r>
              <a:rPr sz="1125" b="1">
                <a:solidFill>
                  <a:srgbClr val="051C2C"/>
                </a:solidFill>
              </a:rPr>
              <a:t>request</a:t>
            </a:r>
          </a:p>
        </p:txBody>
      </p:sp>
      <p:sp>
        <p:nvSpPr>
          <p:cNvPr id="22" name="case-outcome-4">
            <a:extLst xmlns:a="http://schemas.openxmlformats.org/drawingml/2006/main">
              <a:ext uri="{FF2B5EF4-FFF2-40B4-BE49-F238E27FC236}">
                <a16:creationId xmlns:a16="http://schemas.microsoft.com/office/drawing/2014/main" id="{EF8A88EA-2365-4A70-A99C-1BACF9BA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433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B73A3A"/>
                </a:solidFill>
              </a:defRPr>
            </a:pPr>
            <a:r>
              <a:rPr sz="1050" b="1">
                <a:solidFill>
                  <a:srgbClr val="B73A3A"/>
                </a:solidFill>
              </a:rPr>
              <a:t>UNRESOLVED</a:t>
            </a:r>
          </a:p>
        </p:txBody>
      </p:sp>
      <p:sp>
        <p:nvSpPr>
          <p:cNvPr id="23" name="benchmark-guard">
            <a:extLst xmlns:a="http://schemas.openxmlformats.org/drawingml/2006/main">
              <a:ext uri="{FF2B5EF4-FFF2-40B4-BE49-F238E27FC236}">
                <a16:creationId xmlns:a16="http://schemas.microsoft.com/office/drawing/2014/main" id="{719B5BF5-AC49-4428-96DD-A25EAA09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79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7C91"/>
                </a:solidFill>
              </a:defRPr>
            </a:pPr>
            <a:r>
              <a:rPr sz="1200" b="1">
                <a:solidFill>
                  <a:srgbClr val="007C91"/>
                </a:solidFill>
              </a:rPr>
              <a:t>0 snapshot drift  ·  0 invented IDs  ·  baseline auto-update = false</a:t>
            </a:r>
          </a:p>
        </p:txBody>
      </p:sp>
      <p:sp>
        <p:nvSpPr>
          <p:cNvPr id="24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38A9368C-5044-444E-92E4-10A5F0E2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71650"/>
            <a:ext cx="0" cy="3371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25" name="migration-kicker">
            <a:extLst xmlns:a="http://schemas.openxmlformats.org/drawingml/2006/main">
              <a:ext uri="{FF2B5EF4-FFF2-40B4-BE49-F238E27FC236}">
                <a16:creationId xmlns:a16="http://schemas.microsoft.com/office/drawing/2014/main" id="{C33B654A-5A2A-42FF-9EFE-CBEBFCEF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09750"/>
            <a:ext cx="396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51FF"/>
                </a:solidFill>
              </a:defRPr>
            </a:pPr>
            <a:r>
              <a:rPr sz="1050" b="1">
                <a:solidFill>
                  <a:srgbClr val="2251FF"/>
                </a:solidFill>
              </a:rPr>
              <a:t>FAIL-CLOSED LEGACY MIGRATION</a:t>
            </a:r>
          </a:p>
        </p:txBody>
      </p:sp>
      <p:sp>
        <p:nvSpPr>
          <p:cNvPr id="26" name="migration-source">
            <a:extLst xmlns:a="http://schemas.openxmlformats.org/drawingml/2006/main">
              <a:ext uri="{FF2B5EF4-FFF2-40B4-BE49-F238E27FC236}">
                <a16:creationId xmlns:a16="http://schemas.microsoft.com/office/drawing/2014/main" id="{EB392F2F-8804-4894-ACEC-1DCF409D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526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51C2C"/>
                </a:solidFill>
              </a:defRPr>
            </a:pPr>
            <a:r>
              <a:rPr sz="1575" b="1">
                <a:solidFill>
                  <a:srgbClr val="051C2C"/>
                </a:solidFill>
              </a:rPr>
              <a:t>3 assets + 2 learning</a:t>
            </a:r>
          </a:p>
        </p:txBody>
      </p:sp>
      <p:sp>
        <p:nvSpPr>
          <p:cNvPr id="27" name="migration-arrow">
            <a:extLst xmlns:a="http://schemas.openxmlformats.org/drawingml/2006/main">
              <a:ext uri="{FF2B5EF4-FFF2-40B4-BE49-F238E27FC236}">
                <a16:creationId xmlns:a16="http://schemas.microsoft.com/office/drawing/2014/main" id="{B78C9648-1135-4B1A-A327-0AD212CC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09800"/>
            <a:ext cx="552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F1F8"/>
          </a:solidFill>
          <a:ln xmlns:a="http://schemas.openxmlformats.org/drawingml/2006/main" w="0">
            <a:solidFill>
              <a:srgbClr val="E8F1F8"/>
            </a:solidFill>
            <a:prstDash val="solid"/>
          </a:ln>
        </p:spPr>
      </p:sp>
      <p:sp>
        <p:nvSpPr>
          <p:cNvPr id="28" name="migration-output">
            <a:extLst xmlns:a="http://schemas.openxmlformats.org/drawingml/2006/main">
              <a:ext uri="{FF2B5EF4-FFF2-40B4-BE49-F238E27FC236}">
                <a16:creationId xmlns:a16="http://schemas.microsoft.com/office/drawing/2014/main" id="{CEB3C49C-3CC3-4EC9-8697-878E8DCD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5265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007C91"/>
                </a:solidFill>
              </a:defRPr>
            </a:pPr>
            <a:r>
              <a:rPr sz="1575" b="1">
                <a:solidFill>
                  <a:srgbClr val="007C91"/>
                </a:solidFill>
              </a:rPr>
              <a:t>2 migrated</a:t>
            </a:r>
          </a:p>
        </p:txBody>
      </p:sp>
      <p:sp>
        <p:nvSpPr>
          <p:cNvPr id="29" name="migration-success">
            <a:extLst xmlns:a="http://schemas.openxmlformats.org/drawingml/2006/main">
              <a:ext uri="{FF2B5EF4-FFF2-40B4-BE49-F238E27FC236}">
                <a16:creationId xmlns:a16="http://schemas.microsoft.com/office/drawing/2014/main" id="{5AF58BB1-8274-4725-9778-F15E997A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28900"/>
            <a:ext cx="18478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5F3F6"/>
          </a:solidFill>
          <a:ln xmlns:a="http://schemas.openxmlformats.org/drawingml/2006/main" w="13335">
            <a:solidFill>
              <a:srgbClr val="007C91"/>
            </a:solidFill>
            <a:prstDash val="solid"/>
          </a:ln>
        </p:spPr>
      </p:sp>
      <p:sp>
        <p:nvSpPr>
          <p:cNvPr id="30" name="migration-success-count">
            <a:extLst xmlns:a="http://schemas.openxmlformats.org/drawingml/2006/main">
              <a:ext uri="{FF2B5EF4-FFF2-40B4-BE49-F238E27FC236}">
                <a16:creationId xmlns:a16="http://schemas.microsoft.com/office/drawing/2014/main" id="{20928DA7-79C2-4D4B-A8A9-1F7A4EB7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813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07C91"/>
                </a:solidFill>
              </a:defRPr>
            </a:pPr>
            <a:r>
              <a:rPr sz="2700" b="1">
                <a:solidFill>
                  <a:srgbClr val="007C91"/>
                </a:solidFill>
              </a:rPr>
              <a:t>2</a:t>
            </a:r>
          </a:p>
        </p:txBody>
      </p:sp>
      <p:sp>
        <p:nvSpPr>
          <p:cNvPr id="31" name="migration-success-copy">
            <a:extLst xmlns:a="http://schemas.openxmlformats.org/drawingml/2006/main">
              <a:ext uri="{FF2B5EF4-FFF2-40B4-BE49-F238E27FC236}">
                <a16:creationId xmlns:a16="http://schemas.microsoft.com/office/drawing/2014/main" id="{4BBCFA04-314F-40C2-B68C-81ABE6EE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51C2C"/>
                </a:solidFill>
              </a:defRPr>
            </a:pPr>
            <a:r>
              <a:rPr sz="1200" b="1">
                <a:solidFill>
                  <a:srgbClr val="051C2C"/>
                </a:solidFill>
              </a:rPr>
              <a:t>1 knowledge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051C2C"/>
                </a:solidFill>
              </a:defRPr>
            </a:pPr>
            <a:r>
              <a:rPr sz="1200" b="1">
                <a:solidFill>
                  <a:srgbClr val="051C2C"/>
                </a:solidFill>
              </a:rPr>
              <a:t>1 learning</a:t>
            </a:r>
          </a:p>
        </p:txBody>
      </p:sp>
      <p:sp>
        <p:nvSpPr>
          <p:cNvPr id="32" name="migration-success-rights">
            <a:extLst xmlns:a="http://schemas.openxmlformats.org/drawingml/2006/main">
              <a:ext uri="{FF2B5EF4-FFF2-40B4-BE49-F238E27FC236}">
                <a16:creationId xmlns:a16="http://schemas.microsoft.com/office/drawing/2014/main" id="{E925AD2D-F2CE-4462-B6B8-5B7F8C20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909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7C91"/>
                </a:solidFill>
              </a:defRPr>
            </a:pPr>
            <a:r>
              <a:rPr sz="975" b="1">
                <a:solidFill>
                  <a:srgbClr val="007C91"/>
                </a:solidFill>
              </a:rPr>
              <a:t>private scope preserved</a:t>
            </a:r>
          </a:p>
        </p:txBody>
      </p:sp>
      <p:sp>
        <p:nvSpPr>
          <p:cNvPr id="33" name="migration-skipped">
            <a:extLst xmlns:a="http://schemas.openxmlformats.org/drawingml/2006/main">
              <a:ext uri="{FF2B5EF4-FFF2-40B4-BE49-F238E27FC236}">
                <a16:creationId xmlns:a16="http://schemas.microsoft.com/office/drawing/2014/main" id="{39AD1350-AE4E-4D47-A57A-F490F03D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28900"/>
            <a:ext cx="19240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7E8E6"/>
          </a:solidFill>
          <a:ln xmlns:a="http://schemas.openxmlformats.org/drawingml/2006/main" w="13335">
            <a:solidFill>
              <a:srgbClr val="B73A3A"/>
            </a:solidFill>
            <a:prstDash val="solid"/>
          </a:ln>
        </p:spPr>
      </p:sp>
      <p:sp>
        <p:nvSpPr>
          <p:cNvPr id="34" name="migration-skipped-count">
            <a:extLst xmlns:a="http://schemas.openxmlformats.org/drawingml/2006/main">
              <a:ext uri="{FF2B5EF4-FFF2-40B4-BE49-F238E27FC236}">
                <a16:creationId xmlns:a16="http://schemas.microsoft.com/office/drawing/2014/main" id="{2A357CD2-9207-4BC7-BC49-F4E24589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813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B73A3A"/>
                </a:solidFill>
              </a:defRPr>
            </a:pPr>
            <a:r>
              <a:rPr sz="2700" b="1">
                <a:solidFill>
                  <a:srgbClr val="B73A3A"/>
                </a:solidFill>
              </a:rPr>
              <a:t>3</a:t>
            </a:r>
          </a:p>
        </p:txBody>
      </p:sp>
      <p:sp>
        <p:nvSpPr>
          <p:cNvPr id="35" name="migration-skipped-copy">
            <a:extLst xmlns:a="http://schemas.openxmlformats.org/drawingml/2006/main">
              <a:ext uri="{FF2B5EF4-FFF2-40B4-BE49-F238E27FC236}">
                <a16:creationId xmlns:a16="http://schemas.microsoft.com/office/drawing/2014/main" id="{7ADC17F3-E564-433B-9B8F-C6A2D616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57500"/>
            <a:ext cx="102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51C2C"/>
                </a:solidFill>
              </a:defRPr>
            </a:pPr>
            <a:r>
              <a:rPr sz="1200" b="1">
                <a:solidFill>
                  <a:srgbClr val="051C2C"/>
                </a:solidFill>
              </a:rPr>
              <a:t>1 stale hash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051C2C"/>
                </a:solidFill>
              </a:defRPr>
            </a:pPr>
            <a:r>
              <a:rPr sz="1200" b="1">
                <a:solidFill>
                  <a:srgbClr val="051C2C"/>
                </a:solidFill>
              </a:rPr>
              <a:t>2 unadmitted</a:t>
            </a:r>
          </a:p>
        </p:txBody>
      </p:sp>
      <p:sp>
        <p:nvSpPr>
          <p:cNvPr id="36" name="migration-skipped-rights">
            <a:extLst xmlns:a="http://schemas.openxmlformats.org/drawingml/2006/main">
              <a:ext uri="{FF2B5EF4-FFF2-40B4-BE49-F238E27FC236}">
                <a16:creationId xmlns:a16="http://schemas.microsoft.com/office/drawing/2014/main" id="{527B7F63-D15D-44F7-B904-665BBC7F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9090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B73A3A"/>
                </a:solidFill>
              </a:defRPr>
            </a:pPr>
            <a:r>
              <a:rPr sz="975" b="1">
                <a:solidFill>
                  <a:srgbClr val="B73A3A"/>
                </a:solidFill>
              </a:rPr>
              <a:t>all reasons reported</a:t>
            </a:r>
          </a:p>
        </p:txBody>
      </p:sp>
      <p:sp>
        <p:nvSpPr>
          <p:cNvPr id="37" name="readiness-kicker">
            <a:extLst xmlns:a="http://schemas.openxmlformats.org/drawingml/2006/main">
              <a:ext uri="{FF2B5EF4-FFF2-40B4-BE49-F238E27FC236}">
                <a16:creationId xmlns:a16="http://schemas.microsoft.com/office/drawing/2014/main" id="{65ED976F-83F9-4E01-8B99-6BE0D229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00500"/>
            <a:ext cx="396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26A00"/>
                </a:solidFill>
              </a:defRPr>
            </a:pPr>
            <a:r>
              <a:rPr sz="1050" b="1">
                <a:solidFill>
                  <a:srgbClr val="B26A00"/>
                </a:solidFill>
              </a:rPr>
              <a:t>RELEASE READINESS ≠ RELEASE AUTHORITY</a:t>
            </a:r>
          </a:p>
        </p:txBody>
      </p:sp>
      <p:sp>
        <p:nvSpPr>
          <p:cNvPr id="38" name="readiness-lock">
            <a:extLst xmlns:a="http://schemas.openxmlformats.org/drawingml/2006/main">
              <a:ext uri="{FF2B5EF4-FFF2-40B4-BE49-F238E27FC236}">
                <a16:creationId xmlns:a16="http://schemas.microsoft.com/office/drawing/2014/main" id="{C2B73D38-0D79-4F46-8886-CC3137B6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05300"/>
            <a:ext cx="39624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1DB"/>
          </a:solidFill>
          <a:ln xmlns:a="http://schemas.openxmlformats.org/drawingml/2006/main" w="13335">
            <a:solidFill>
              <a:srgbClr val="B26A00"/>
            </a:solidFill>
            <a:prstDash val="solid"/>
          </a:ln>
        </p:spPr>
      </p:sp>
      <p:sp>
        <p:nvSpPr>
          <p:cNvPr id="39" name="readiness-version">
            <a:extLst xmlns:a="http://schemas.openxmlformats.org/drawingml/2006/main">
              <a:ext uri="{FF2B5EF4-FFF2-40B4-BE49-F238E27FC236}">
                <a16:creationId xmlns:a16="http://schemas.microsoft.com/office/drawing/2014/main" id="{5683FCA7-D77A-49D5-9EB5-064329F4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767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26A00"/>
                </a:solidFill>
              </a:defRPr>
            </a:pPr>
            <a:r>
              <a:rPr sz="1425" b="1">
                <a:solidFill>
                  <a:srgbClr val="B26A00"/>
                </a:solidFill>
              </a:rPr>
              <a:t>VERSION 0.3.0</a:t>
            </a:r>
          </a:p>
        </p:txBody>
      </p:sp>
      <p:sp>
        <p:nvSpPr>
          <p:cNvPr id="40" name="readiness-actions">
            <a:extLst xmlns:a="http://schemas.openxmlformats.org/drawingml/2006/main">
              <a:ext uri="{FF2B5EF4-FFF2-40B4-BE49-F238E27FC236}">
                <a16:creationId xmlns:a16="http://schemas.microsoft.com/office/drawing/2014/main" id="{7F7FA814-B203-4DD9-B371-0C86DDBD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386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051C2C"/>
                </a:solidFill>
              </a:defRPr>
            </a:pPr>
            <a:r>
              <a:rPr sz="1125" b="1">
                <a:solidFill>
                  <a:srgbClr val="051C2C"/>
                </a:solidFill>
              </a:rPr>
              <a:t>merge ×   tag ×   publish ×</a:t>
            </a:r>
          </a:p>
          <a:p xmlns:a="http://schemas.openxmlformats.org/drawingml/2006/main">
            <a:pPr algn="r">
              <a:buNone/>
              <a:defRPr sz="1125" b="1">
                <a:solidFill>
                  <a:srgbClr val="051C2C"/>
                </a:solidFill>
              </a:defRPr>
            </a:pPr>
            <a:r>
              <a:rPr sz="1125" b="1">
                <a:solidFill>
                  <a:srgbClr val="051C2C"/>
                </a:solidFill>
              </a:rPr>
              <a:t>Experience Center update ×</a:t>
            </a:r>
          </a:p>
        </p:txBody>
      </p:sp>
      <p:sp>
        <p:nvSpPr>
          <p:cNvPr id="41" name="footer-rule-two">
            <a:extLst xmlns:a="http://schemas.openxmlformats.org/drawingml/2006/main">
              <a:ext uri="{FF2B5EF4-FFF2-40B4-BE49-F238E27FC236}">
                <a16:creationId xmlns:a16="http://schemas.microsoft.com/office/drawing/2014/main" id="{FA404A0C-5062-437C-AB59-685D9887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45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42" name="test-stage">
            <a:extLst xmlns:a="http://schemas.openxmlformats.org/drawingml/2006/main">
              <a:ext uri="{FF2B5EF4-FFF2-40B4-BE49-F238E27FC236}">
                <a16:creationId xmlns:a16="http://schemas.microsoft.com/office/drawing/2014/main" id="{82DE6C5D-15F0-47D9-82FF-09E8984A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251FF"/>
                </a:solidFill>
              </a:defRPr>
            </a:pPr>
            <a:r>
              <a:rPr sz="1200" b="1">
                <a:solidFill>
                  <a:srgbClr val="2251FF"/>
                </a:solidFill>
              </a:rPr>
              <a:t>11 STAGE 5 TESTS</a:t>
            </a:r>
          </a:p>
        </p:txBody>
      </p:sp>
      <p:sp>
        <p:nvSpPr>
          <p:cNvPr id="43" name="test-suite">
            <a:extLst xmlns:a="http://schemas.openxmlformats.org/drawingml/2006/main">
              <a:ext uri="{FF2B5EF4-FFF2-40B4-BE49-F238E27FC236}">
                <a16:creationId xmlns:a16="http://schemas.microsoft.com/office/drawing/2014/main" id="{99E18EEA-82DD-49EE-9885-DBCD2FC6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10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7C91"/>
                </a:solidFill>
              </a:defRPr>
            </a:pPr>
            <a:r>
              <a:rPr sz="1200" b="1">
                <a:solidFill>
                  <a:srgbClr val="007C91"/>
                </a:solidFill>
              </a:rPr>
              <a:t>59 SUITE TESTS</a:t>
            </a:r>
          </a:p>
        </p:txBody>
      </p:sp>
      <p:sp>
        <p:nvSpPr>
          <p:cNvPr id="44" name="asset-stat">
            <a:extLst xmlns:a="http://schemas.openxmlformats.org/drawingml/2006/main">
              <a:ext uri="{FF2B5EF4-FFF2-40B4-BE49-F238E27FC236}">
                <a16:creationId xmlns:a16="http://schemas.microsoft.com/office/drawing/2014/main" id="{BBC3D636-BDEF-4AF9-87C7-5CFB78E1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810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7C91"/>
                </a:solidFill>
              </a:defRPr>
            </a:pPr>
            <a:r>
              <a:rPr sz="1200" b="1">
                <a:solidFill>
                  <a:srgbClr val="007C91"/>
                </a:solidFill>
              </a:rPr>
              <a:t>0 EMBEDDED ASSETS</a:t>
            </a:r>
          </a:p>
        </p:txBody>
      </p:sp>
      <p:sp>
        <p:nvSpPr>
          <p:cNvPr id="45" name="pause-stat">
            <a:extLst xmlns:a="http://schemas.openxmlformats.org/drawingml/2006/main">
              <a:ext uri="{FF2B5EF4-FFF2-40B4-BE49-F238E27FC236}">
                <a16:creationId xmlns:a16="http://schemas.microsoft.com/office/drawing/2014/main" id="{EAD3CCE4-6157-496D-B9BB-1C2E540D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8102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770"/>
                </a:solidFill>
              </a:defRPr>
            </a:pPr>
            <a:r>
              <a:rPr sz="1050" b="0">
                <a:solidFill>
                  <a:srgbClr val="5B6770"/>
                </a:solidFill>
              </a:rPr>
              <a:t>DRAFT REVIEW · PAUSE AFTER STAGE 5</a:t>
            </a:r>
          </a:p>
        </p:txBody>
      </p:sp>
    </p:spTree>
    <p:extLst>
      <p:ext uri="{BB962C8B-B14F-4D97-AF65-F5344CB8AC3E}">
        <p14:creationId xmlns:p14="http://schemas.microsoft.com/office/powerpoint/2010/main" val="74180863"/>
      </p:ext>
    </p:extLst>
  </p:cSld>
</p:sld>
</file>

<file path=ppt/theme/theme1.xml><?xml version="1.0" encoding="utf-8"?>
<a:theme xmlns:a="http://schemas.openxmlformats.org/drawingml/2006/main" name="WPS">
  <a:themeElements>
    <a:clrScheme name="Consulting Blue">
      <a:dk1>
        <a:srgbClr val="051C2C"/>
      </a:dk1>
      <a:lt1>
        <a:srgbClr val="FFFFFF"/>
      </a:lt1>
      <a:dk2>
        <a:srgbClr val="153E5C"/>
      </a:dk2>
      <a:lt2>
        <a:srgbClr val="D6DEE3"/>
      </a:lt2>
      <a:accent1>
        <a:srgbClr val="2251FF"/>
      </a:accent1>
      <a:accent2>
        <a:srgbClr val="00A9F4"/>
      </a:accent2>
      <a:accent3>
        <a:srgbClr val="007C91"/>
      </a:accent3>
      <a:accent4>
        <a:srgbClr val="B26A00"/>
      </a:accent4>
      <a:accent5>
        <a:srgbClr val="B73A3A"/>
      </a:accent5>
      <a:accent6>
        <a:srgbClr val="5B6770"/>
      </a:accent6>
      <a:hlink>
        <a:srgbClr val="2251FF"/>
      </a:hlink>
      <a:folHlink>
        <a:srgbClr val="007C91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nsulting Blue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2026-08-23T10:06:10.8890000Z</dcterms:created>
  <dcterms:modified xsi:type="dcterms:W3CDTF">2026-08-23T10:06:10.8890000Z</dcterms:modified>
</coreProperties>
</file>