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769f2ae9ece84f3d" /><ns0:Relationship Type="http://schemas.openxmlformats.org/officeDocument/2006/relationships/extended-properties" Target="/docProps/app.xml" Id="Rb5119dd6428b4e0f" /><ns0:Relationship Type="http://schemas.openxmlformats.org/officeDocument/2006/relationships/officeDocument" Target="/ppt/presentation.xml" Id="R64750c31dd6f4bbf" /><ns0:Relationship Id="rId1" Type="http://schemas.openxmlformats.org/officeDocument/2006/relationships/custom-properties" Target="docProps/custom.xml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6f641aaac1401f"/>
  </p:sldMasterIdLst>
  <p:notesMasterIdLst>
    <p:notesMasterId xmlns:r="http://schemas.openxmlformats.org/officeDocument/2006/relationships" r:id="R83afff28b33f428c"/>
  </p:notesMasterIdLst>
  <p:sldIdLst>
    <p:sldId xmlns:r="http://schemas.openxmlformats.org/officeDocument/2006/relationships" id="256" r:id="Rb4c6b24a349641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dbf3f922ff45e2" /><Relationship Type="http://schemas.openxmlformats.org/officeDocument/2006/relationships/slideMaster" Target="/ppt/slideMasters/slideMaster1.xml" Id="R496f641aaac1401f" /><Relationship Type="http://schemas.openxmlformats.org/officeDocument/2006/relationships/notesMaster" Target="/ppt/notesMasters/notesMaster1.xml" Id="R83afff28b33f428c" /><Relationship Type="http://schemas.openxmlformats.org/officeDocument/2006/relationships/presProps" Target="/ppt/presProps.xml" Id="R548cb3c850494915" /><Relationship Type="http://schemas.openxmlformats.org/officeDocument/2006/relationships/tableStyles" Target="/ppt/tableStyles.xml" Id="Rbf076b4ed3a041b8" /><Relationship Type="http://schemas.openxmlformats.org/officeDocument/2006/relationships/slide" Target="/ppt/slides/slide1.xml" Id="Rb4c6b24a349641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4c2da63be4c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A96215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51a0b89a414e3b" /><Relationship Type="http://schemas.openxmlformats.org/officeDocument/2006/relationships/notesMaster" Target="/ppt/notesMasters/notesMaster1.xml" Id="R9d1f7fc856f14c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本页为一页式 ChatBI 企业认知架构房子图。</a:t>
            </a:r>
          </a:p>
          <a:p xmlns:a="http://schemas.openxmlformats.org/drawingml/2006/main">
            <a:r>
              <a:t>研究方式：以官方架构中心、参考架构、设计指南为样本池，覆盖 60+ 份材料；只抽取结构语法，不复制品牌视觉、产品图标或坐标。</a:t>
            </a:r>
          </a:p>
          <a:p xmlns:a="http://schemas.openxmlformats.org/drawingml/2006/main">
            <a:r>
              <a:t>归纳结论：1) 业务结果置顶；2) 数据到消费形成清晰主路径；3) 治理、安全、可观测性必须横切；4) ChatBI 需要独立的调查编排层；5) 反馈必须进入受控版本流程；6) 人的责任不可让渡给模型。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https://www.ibm.com/think/architectures/patterns/data-fabric</a:t>
            </a:r>
          </a:p>
          <a:p xmlns:a="http://schemas.openxmlformats.org/drawingml/2006/main">
            <a:r>
              <a:t>- https://www.ibm.com/think/architectures/patterns/data-lakehouse</a:t>
            </a:r>
          </a:p>
          <a:p xmlns:a="http://schemas.openxmlformats.org/drawingml/2006/main">
            <a:r>
              <a:t>- https://www.ibm.com/think/architectures/patterns/ai-governance</a:t>
            </a:r>
          </a:p>
          <a:p xmlns:a="http://schemas.openxmlformats.org/drawingml/2006/main">
            <a:r>
              <a:t>- https://www.ibm.com/think/architectures/patterns/agentic-ai</a:t>
            </a:r>
          </a:p>
          <a:p xmlns:a="http://schemas.openxmlformats.org/drawingml/2006/main">
            <a:r>
              <a:t>- https://learn.microsoft.com/en-us/azure/architecture/analytics/analytics-get-started</a:t>
            </a:r>
          </a:p>
          <a:p xmlns:a="http://schemas.openxmlformats.org/drawingml/2006/main">
            <a:r>
              <a:t>- https://learn.microsoft.com/en-us/azure/architecture/ai-ml/architecture/baseline-microsoft-foundry-chat</a:t>
            </a:r>
          </a:p>
          <a:p xmlns:a="http://schemas.openxmlformats.org/drawingml/2006/main">
            <a:r>
              <a:t>- https://learn.microsoft.com/en-us/azure/architecture/ai-ml/guide/ai-agent-design-patterns</a:t>
            </a:r>
          </a:p>
          <a:p xmlns:a="http://schemas.openxmlformats.org/drawingml/2006/main">
            <a:r>
              <a:t>- https://learn.microsoft.com/en-us/azure/architecture/example-scenario/dataplate2e/data-platform-end-to-end</a:t>
            </a:r>
          </a:p>
          <a:p xmlns:a="http://schemas.openxmlformats.org/drawingml/2006/main">
            <a:r>
              <a:t>- https://docs.oracle.com/solutions/?cType=reference-architectures&amp;lang=en&amp;q=&amp;sort=date-desc</a:t>
            </a:r>
          </a:p>
          <a:p xmlns:a="http://schemas.openxmlformats.org/drawingml/2006/main">
            <a:r>
              <a:t>- https://docs.oracle.com/en/solutions/oac-ai-assist/index.html</a:t>
            </a:r>
          </a:p>
          <a:p xmlns:a="http://schemas.openxmlformats.org/drawingml/2006/main">
            <a:r>
              <a:t>- https://docs.aws.amazon.com/solutions/latest/modern-data-architecture-accelerator/architecture-details.html</a:t>
            </a:r>
          </a:p>
          <a:p xmlns:a="http://schemas.openxmlformats.org/drawingml/2006/main">
            <a:r>
              <a:t>- https://docs.aws.amazon.com/wellarchitected/latest/analytics-lens/data-mesh-reference-architecture.html</a:t>
            </a:r>
          </a:p>
          <a:p xmlns:a="http://schemas.openxmlformats.org/drawingml/2006/main">
            <a:r>
              <a:t>- https://docs.aws.amazon.com/wellarchitected/latest/analytics-lens/reference-architecture-2.html</a:t>
            </a:r>
          </a:p>
          <a:p xmlns:a="http://schemas.openxmlformats.org/drawingml/2006/main">
            <a:r>
              <a:t>- https://docs.cloud.google.com/architecture/blueprints/deploy_enterprise_data_mesh</a:t>
            </a:r>
          </a:p>
          <a:p xmlns:a="http://schemas.openxmlformats.org/drawingml/2006/main">
            <a:r>
              <a:t>- https://docs.nvidia.com/enterprise-reference-architectures/ai-q-research-agent-blueprint/latest/system-overview-and-architecture.html</a:t>
            </a:r>
          </a:p>
          <a:p xmlns:a="http://schemas.openxmlformats.org/drawingml/2006/main">
            <a:r>
              <a:t>- https://help.sap.com/docs/sap-btp-guidance-framework/sap-integration-solution-advisory-methodology/create-your-architecture-blueprints</a:t>
            </a:r>
          </a:p>
          <a:p xmlns:a="http://schemas.openxmlformats.org/drawingml/2006/main">
            <a:r>
              <a:t>- https://support.apple.com/guide/security/intro-to-apple-platform-security-seccd5016d31/web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9e44ce42a45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4da08c2e794d22" /><Relationship Type="http://schemas.openxmlformats.org/officeDocument/2006/relationships/slideLayout" Target="/ppt/slideLayouts/slideLayout1.xml" Id="Rf9a8bcb357b84a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a8bcb357b84a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A96215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4570012b2d410b" /><Relationship Type="http://schemas.openxmlformats.org/officeDocument/2006/relationships/notesSlide" Target="/ppt/notesSlides/notesSlide1.xml" Id="Rd713966bd23a4d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COPY::S01-C01">
            <a:extLst xmlns:a="http://schemas.openxmlformats.org/drawingml/2006/main">
              <a:ext uri="{FF2B5EF4-FFF2-40B4-BE49-F238E27FC236}">
                <a16:creationId xmlns:a16="http://schemas.microsoft.com/office/drawing/2014/main" id="{8D5C2A02-134E-4BC0-B22B-3AD857B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ChatBI 企业认知架构</a:t>
            </a:r>
          </a:p>
        </p:txBody>
      </p:sp>
      <p:sp>
        <p:nvSpPr>
          <p:cNvPr id="2" name="COPY::S01-C02">
            <a:extLst xmlns:a="http://schemas.openxmlformats.org/drawingml/2006/main">
              <a:ext uri="{FF2B5EF4-FFF2-40B4-BE49-F238E27FC236}">
                <a16:creationId xmlns:a16="http://schemas.microsoft.com/office/drawing/2014/main" id="{B682A0AA-3530-4141-BC1E-1303AF20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把“问一句”升级为可验证、可行动、会修正的经营闭环</a:t>
            </a:r>
          </a:p>
        </p:txBody>
      </p:sp>
      <p:sp>
        <p:nvSpPr>
          <p:cNvPr id="3" name="COPY::S01-C03">
            <a:extLst xmlns:a="http://schemas.openxmlformats.org/drawingml/2006/main">
              <a:ext uri="{FF2B5EF4-FFF2-40B4-BE49-F238E27FC236}">
                <a16:creationId xmlns:a16="http://schemas.microsoft.com/office/drawing/2014/main" id="{53C4C31B-9896-49BE-B83E-A316800A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"/>
            <a:ext cx="2466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60+ 份官方参考架构归纳</a:t>
            </a:r>
          </a:p>
        </p:txBody>
      </p:sp>
      <p:sp>
        <p:nvSpPr>
          <p:cNvPr id="4" name="COPY::S01-C04">
            <a:extLst xmlns:a="http://schemas.openxmlformats.org/drawingml/2006/main">
              <a:ext uri="{FF2B5EF4-FFF2-40B4-BE49-F238E27FC236}">
                <a16:creationId xmlns:a16="http://schemas.microsoft.com/office/drawing/2014/main" id="{188B146C-D832-4F76-9A3B-DBBD3CB9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05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结构借鉴，不复制厂商产品栈</a:t>
            </a:r>
          </a:p>
        </p:txBody>
      </p:sp>
      <p:sp>
        <p:nvSpPr>
          <p:cNvPr id="5" name="CHROME::TOP-RULE">
            <a:extLst xmlns:a="http://schemas.openxmlformats.org/drawingml/2006/main">
              <a:ext uri="{FF2B5EF4-FFF2-40B4-BE49-F238E27FC236}">
                <a16:creationId xmlns:a16="http://schemas.microsoft.com/office/drawing/2014/main" id="{401F1CFE-AA82-41A9-AD24-8A56E491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01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6" name="HOUSE::LEFT-JOINT">
            <a:extLst xmlns:a="http://schemas.openxmlformats.org/drawingml/2006/main">
              <a:ext uri="{FF2B5EF4-FFF2-40B4-BE49-F238E27FC236}">
                <a16:creationId xmlns:a16="http://schemas.microsoft.com/office/drawing/2014/main" id="{333A5F8F-80BF-4338-BA40-FF86EC7C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669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B4C5"/>
            </a:solidFill>
            <a:prstDash val="solid"/>
          </a:ln>
        </p:spPr>
      </p:sp>
      <p:sp>
        <p:nvSpPr>
          <p:cNvPr id="7" name="HOUSE::RIGHT-JOINT">
            <a:extLst xmlns:a="http://schemas.openxmlformats.org/drawingml/2006/main">
              <a:ext uri="{FF2B5EF4-FFF2-40B4-BE49-F238E27FC236}">
                <a16:creationId xmlns:a16="http://schemas.microsoft.com/office/drawing/2014/main" id="{006A22C2-94F2-45B3-A873-E17BE537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669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B4C5"/>
            </a:solidFill>
            <a:prstDash val="solid"/>
          </a:ln>
        </p:spPr>
      </p:sp>
      <p:sp>
        <p:nvSpPr>
          <p:cNvPr id="8" name="HOUSE::LEFT-BASE-JOINT">
            <a:extLst xmlns:a="http://schemas.openxmlformats.org/drawingml/2006/main">
              <a:ext uri="{FF2B5EF4-FFF2-40B4-BE49-F238E27FC236}">
                <a16:creationId xmlns:a16="http://schemas.microsoft.com/office/drawing/2014/main" id="{21D88285-AA0E-4257-95C5-404F5C4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197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B4C5"/>
            </a:solidFill>
            <a:prstDash val="solid"/>
          </a:ln>
        </p:spPr>
      </p:sp>
      <p:sp>
        <p:nvSpPr>
          <p:cNvPr id="9" name="HOUSE::RIGHT-BASE-JOINT">
            <a:extLst xmlns:a="http://schemas.openxmlformats.org/drawingml/2006/main">
              <a:ext uri="{FF2B5EF4-FFF2-40B4-BE49-F238E27FC236}">
                <a16:creationId xmlns:a16="http://schemas.microsoft.com/office/drawing/2014/main" id="{DF528CBF-59FF-46BF-9F6B-B2666C4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819775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DB4C5"/>
            </a:solidFill>
            <a:prstDash val="solid"/>
          </a:ln>
        </p:spPr>
      </p:sp>
      <p:sp>
        <p:nvSpPr>
          <p:cNvPr id="10" name="LOOP::RETURN-SPINE">
            <a:extLst xmlns:a="http://schemas.openxmlformats.org/drawingml/2006/main">
              <a:ext uri="{FF2B5EF4-FFF2-40B4-BE49-F238E27FC236}">
                <a16:creationId xmlns:a16="http://schemas.microsoft.com/office/drawing/2014/main" id="{9312A059-D602-4B80-A29B-098DE75A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1809750"/>
            <a:ext cx="0" cy="3571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66D"/>
            </a:solidFill>
            <a:prstDash val="solid"/>
          </a:ln>
        </p:spPr>
      </p:sp>
      <p:sp>
        <p:nvSpPr>
          <p:cNvPr id="11" name="LOOP::RETURN-INTO-HOUSE">
            <a:extLst xmlns:a="http://schemas.openxmlformats.org/drawingml/2006/main">
              <a:ext uri="{FF2B5EF4-FFF2-40B4-BE49-F238E27FC236}">
                <a16:creationId xmlns:a16="http://schemas.microsoft.com/office/drawing/2014/main" id="{95D510BB-7277-4339-9157-510EE22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9982200" y="5381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66D"/>
            </a:solidFill>
            <a:prstDash val="solid"/>
          </a:ln>
        </p:spPr>
      </p:sp>
      <p:sp>
        <p:nvSpPr>
          <p:cNvPr id="12" name="LOOP::RETURN-ARROW">
            <a:extLst xmlns:a="http://schemas.openxmlformats.org/drawingml/2006/main">
              <a:ext uri="{FF2B5EF4-FFF2-40B4-BE49-F238E27FC236}">
                <a16:creationId xmlns:a16="http://schemas.microsoft.com/office/drawing/2014/main" id="{9CCAD8AC-6983-496E-A3D6-EADBEE2C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5248275"/>
            <a:ext cx="323850" cy="2667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OP::DOWN-ARROW">
            <a:extLst xmlns:a="http://schemas.openxmlformats.org/drawingml/2006/main">
              <a:ext uri="{FF2B5EF4-FFF2-40B4-BE49-F238E27FC236}">
                <a16:creationId xmlns:a16="http://schemas.microsoft.com/office/drawing/2014/main" id="{FF6B032F-1C70-43F4-A429-9B49DCE2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1714500"/>
            <a:ext cx="285750" cy="342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LOW::UP-SPINE">
            <a:extLst xmlns:a="http://schemas.openxmlformats.org/drawingml/2006/main">
              <a:ext uri="{FF2B5EF4-FFF2-40B4-BE49-F238E27FC236}">
                <a16:creationId xmlns:a16="http://schemas.microsoft.com/office/drawing/2014/main" id="{C6C5F50A-84D1-4D5B-A41B-AD75438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96450" y="2143125"/>
            <a:ext cx="0" cy="3400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5BD6"/>
            </a:solidFill>
            <a:prstDash val="solid"/>
          </a:ln>
        </p:spPr>
      </p:sp>
      <p:sp>
        <p:nvSpPr>
          <p:cNvPr id="15" name="FLOW::UP-ARROW">
            <a:extLst xmlns:a="http://schemas.openxmlformats.org/drawingml/2006/main">
              <a:ext uri="{FF2B5EF4-FFF2-40B4-BE49-F238E27FC236}">
                <a16:creationId xmlns:a16="http://schemas.microsoft.com/office/drawing/2014/main" id="{03C26D44-8985-43BD-8FE1-6D65C7D3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00250"/>
            <a:ext cx="247650" cy="3238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OUSE::ROOF">
            <a:extLst xmlns:a="http://schemas.openxmlformats.org/drawingml/2006/main">
              <a:ext uri="{FF2B5EF4-FFF2-40B4-BE49-F238E27FC236}">
                <a16:creationId xmlns:a16="http://schemas.microsoft.com/office/drawing/2014/main" id="{E78F455C-D4F2-4963-834E-2B63118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33475"/>
            <a:ext cx="10401300" cy="7143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1A2B"/>
          </a:solidFill>
          <a:ln xmlns:a="http://schemas.openxmlformats.org/drawingml/2006/main" w="9525">
            <a:solidFill>
              <a:srgbClr val="171A2B"/>
            </a:solidFill>
            <a:prstDash val="solid"/>
          </a:ln>
        </p:spPr>
      </p:sp>
      <p:sp>
        <p:nvSpPr>
          <p:cNvPr id="17" name="HOUSE::ROOF-TITLE">
            <a:extLst xmlns:a="http://schemas.openxmlformats.org/drawingml/2006/main">
              <a:ext uri="{FF2B5EF4-FFF2-40B4-BE49-F238E27FC236}">
                <a16:creationId xmlns:a16="http://schemas.microsoft.com/office/drawing/2014/main" id="{25491B11-F66D-47F9-9411-F12A7A5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285875"/>
            <a:ext cx="238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经营决策闭环</a:t>
            </a:r>
          </a:p>
        </p:txBody>
      </p:sp>
      <p:sp>
        <p:nvSpPr>
          <p:cNvPr id="18" name="HOUSE::ROOF-FLOW">
            <a:extLst xmlns:a="http://schemas.openxmlformats.org/drawingml/2006/main">
              <a:ext uri="{FF2B5EF4-FFF2-40B4-BE49-F238E27FC236}">
                <a16:creationId xmlns:a16="http://schemas.microsoft.com/office/drawing/2014/main" id="{6EB8A02C-2F65-4432-AE0A-C04705CD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04925"/>
            <a:ext cx="680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D8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8D9E7"/>
                </a:solidFill>
                <a:latin typeface="Microsoft YaHei"/>
                <a:ea typeface="Microsoft YaHei"/>
                <a:cs typeface="Microsoft YaHei"/>
              </a:rPr>
              <a:t>监测  →  诊断  →  预测  →  建议  →  行动  →  复盘</a:t>
            </a:r>
          </a:p>
        </p:txBody>
      </p:sp>
      <p:sp>
        <p:nvSpPr>
          <p:cNvPr id="19" name="HOUSE::LEFT-PILLAR">
            <a:extLst xmlns:a="http://schemas.openxmlformats.org/drawingml/2006/main">
              <a:ext uri="{FF2B5EF4-FFF2-40B4-BE49-F238E27FC236}">
                <a16:creationId xmlns:a16="http://schemas.microsoft.com/office/drawing/2014/main" id="{7E145DC0-7A60-4C9D-AACE-712F27F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1409700" cy="3952875"/>
          </a:xfrm>
          <a:prstGeom xmlns:a="http://schemas.openxmlformats.org/drawingml/2006/main" prst="roundRect">
            <a:avLst>
              <a:gd name="adj" fmla="val 4730"/>
            </a:avLst>
          </a:prstGeom>
          <a:solidFill xmlns:a="http://schemas.openxmlformats.org/drawingml/2006/main">
            <a:srgbClr val="3D3D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369E9C-A0B1-4AD5-8FEA-09D6B54B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治理与责任</a:t>
            </a:r>
          </a:p>
        </p:txBody>
      </p:sp>
      <p:sp>
        <p:nvSpPr>
          <p:cNvPr id="21" name="GOV::RULE">
            <a:extLst xmlns:a="http://schemas.openxmlformats.org/drawingml/2006/main">
              <a:ext uri="{FF2B5EF4-FFF2-40B4-BE49-F238E27FC236}">
                <a16:creationId xmlns:a16="http://schemas.microsoft.com/office/drawing/2014/main" id="{E51D73B2-D8FF-48A5-8C41-2A29C939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7C7C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B0503B-1322-4BE6-88A7-93445424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146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对象与身份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CEDD1E-9E83-4DD8-8C12-758D02C4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rPr>
              <a:t>主数据 / 归属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05551-E0AE-459B-8D0F-4704EDB5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口径与契约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FFFC0-0DEF-43D0-9400-154722AE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623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rPr>
              <a:t>定义 / 粒度 / 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7172C-5655-473F-8BA3-EDB4C55F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权限与隐私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B0088B-5732-4151-ACD3-454F4D2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rPr>
              <a:t>最小授权 / 合规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1DCB32-4F51-40D6-9D58-8BCA5ED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434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质量与血缘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3D12C1-37D6-4626-8B2E-82C79D0D3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rPr>
              <a:t>SLA / 可追溯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7FEC21-A89D-4ED2-97B0-6D6B19EC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审批与问责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6C37A-F242-405E-A93F-EDB9C532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7D7FF"/>
                </a:solidFill>
                <a:latin typeface="Microsoft YaHei"/>
                <a:ea typeface="Microsoft YaHei"/>
                <a:cs typeface="Microsoft YaHei"/>
              </a:rPr>
              <a:t>人来裁决并担责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077BB6-BD94-48E5-B044-8CA52557D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E4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E4E8"/>
                </a:solidFill>
                <a:latin typeface="Microsoft YaHei"/>
                <a:ea typeface="Microsoft YaHei"/>
                <a:cs typeface="Microsoft YaHei"/>
              </a:rPr>
              <a:t>模型不能接管责任</a:t>
            </a:r>
          </a:p>
        </p:txBody>
      </p:sp>
      <p:sp>
        <p:nvSpPr>
          <p:cNvPr id="33" name="HOUSE::RIGHT-PILLAR">
            <a:extLst xmlns:a="http://schemas.openxmlformats.org/drawingml/2006/main">
              <a:ext uri="{FF2B5EF4-FFF2-40B4-BE49-F238E27FC236}">
                <a16:creationId xmlns:a16="http://schemas.microsoft.com/office/drawing/2014/main" id="{F1973A14-B25A-4284-BCB4-CA2E5DC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66900"/>
            <a:ext cx="1562100" cy="3952875"/>
          </a:xfrm>
          <a:prstGeom xmlns:a="http://schemas.openxmlformats.org/drawingml/2006/main" prst="roundRect">
            <a:avLst>
              <a:gd name="adj" fmla="val 4268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15240">
            <a:solidFill>
              <a:srgbClr val="1486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3DEBCD-D2A8-451C-8540-2181B1F1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09775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反馈与演化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D9D8E-DAD0-4661-BED6-164E0BED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05050"/>
            <a:ext cx="1295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不是“再训练一下”</a:t>
            </a:r>
          </a:p>
        </p:txBody>
      </p:sp>
      <p:sp>
        <p:nvSpPr>
          <p:cNvPr id="36" name="FEEDBACK::1">
            <a:extLst xmlns:a="http://schemas.openxmlformats.org/drawingml/2006/main">
              <a:ext uri="{FF2B5EF4-FFF2-40B4-BE49-F238E27FC236}">
                <a16:creationId xmlns:a16="http://schemas.microsoft.com/office/drawing/2014/main" id="{834C7DAF-9B2F-4ADC-9E32-78203714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纠正 / 质疑</a:t>
            </a:r>
          </a:p>
        </p:txBody>
      </p:sp>
      <p:sp>
        <p:nvSpPr>
          <p:cNvPr id="37" name="FEEDBACK::ARROW-1">
            <a:extLst xmlns:a="http://schemas.openxmlformats.org/drawingml/2006/main">
              <a:ext uri="{FF2B5EF4-FFF2-40B4-BE49-F238E27FC236}">
                <a16:creationId xmlns:a16="http://schemas.microsoft.com/office/drawing/2014/main" id="{D844FD6A-B57F-4B4E-8040-7E2FDEF1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90512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EEDBACK::2">
            <a:extLst xmlns:a="http://schemas.openxmlformats.org/drawingml/2006/main">
              <a:ext uri="{FF2B5EF4-FFF2-40B4-BE49-F238E27FC236}">
                <a16:creationId xmlns:a16="http://schemas.microsoft.com/office/drawing/2014/main" id="{57390759-6552-47FE-A6C6-90B8795E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76575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证据归因</a:t>
            </a:r>
          </a:p>
        </p:txBody>
      </p:sp>
      <p:sp>
        <p:nvSpPr>
          <p:cNvPr id="39" name="FEEDBACK::ARROW-2">
            <a:extLst xmlns:a="http://schemas.openxmlformats.org/drawingml/2006/main">
              <a:ext uri="{FF2B5EF4-FFF2-40B4-BE49-F238E27FC236}">
                <a16:creationId xmlns:a16="http://schemas.microsoft.com/office/drawing/2014/main" id="{EA6D8397-C261-43D2-BA3E-6F03AFB5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37185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EEDBACK::3">
            <a:extLst xmlns:a="http://schemas.openxmlformats.org/drawingml/2006/main">
              <a:ext uri="{FF2B5EF4-FFF2-40B4-BE49-F238E27FC236}">
                <a16:creationId xmlns:a16="http://schemas.microsoft.com/office/drawing/2014/main" id="{43AED58D-336B-4B59-AF05-849EB090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43300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专家裁决</a:t>
            </a:r>
          </a:p>
        </p:txBody>
      </p:sp>
      <p:sp>
        <p:nvSpPr>
          <p:cNvPr id="41" name="FEEDBACK::ARROW-3">
            <a:extLst xmlns:a="http://schemas.openxmlformats.org/drawingml/2006/main">
              <a:ext uri="{FF2B5EF4-FFF2-40B4-BE49-F238E27FC236}">
                <a16:creationId xmlns:a16="http://schemas.microsoft.com/office/drawing/2014/main" id="{5DDDC668-299B-47EE-BC9B-F6D3B48C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83857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EEDBACK::4">
            <a:extLst xmlns:a="http://schemas.openxmlformats.org/drawingml/2006/main">
              <a:ext uri="{FF2B5EF4-FFF2-40B4-BE49-F238E27FC236}">
                <a16:creationId xmlns:a16="http://schemas.microsoft.com/office/drawing/2014/main" id="{04CED336-5A9E-47FF-AFDF-96325B6C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10025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回归验证</a:t>
            </a:r>
          </a:p>
        </p:txBody>
      </p:sp>
      <p:sp>
        <p:nvSpPr>
          <p:cNvPr id="43" name="FEEDBACK::ARROW-4">
            <a:extLst xmlns:a="http://schemas.openxmlformats.org/drawingml/2006/main">
              <a:ext uri="{FF2B5EF4-FFF2-40B4-BE49-F238E27FC236}">
                <a16:creationId xmlns:a16="http://schemas.microsoft.com/office/drawing/2014/main" id="{CAAE4F73-35C2-4956-A155-C11B21F2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305300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EEDBACK::5">
            <a:extLst xmlns:a="http://schemas.openxmlformats.org/drawingml/2006/main">
              <a:ext uri="{FF2B5EF4-FFF2-40B4-BE49-F238E27FC236}">
                <a16:creationId xmlns:a16="http://schemas.microsoft.com/office/drawing/2014/main" id="{BE4DFD26-5401-49B1-A538-1855562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版本发布</a:t>
            </a:r>
          </a:p>
        </p:txBody>
      </p:sp>
      <p:sp>
        <p:nvSpPr>
          <p:cNvPr id="45" name="FEEDBACK::ARROW-5">
            <a:extLst xmlns:a="http://schemas.openxmlformats.org/drawingml/2006/main">
              <a:ext uri="{FF2B5EF4-FFF2-40B4-BE49-F238E27FC236}">
                <a16:creationId xmlns:a16="http://schemas.microsoft.com/office/drawing/2014/main" id="{45990A50-1CB2-4FBA-9FC8-1583ABE8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772025"/>
            <a:ext cx="133350" cy="1619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EEDBACK::6">
            <a:extLst xmlns:a="http://schemas.openxmlformats.org/drawingml/2006/main">
              <a:ext uri="{FF2B5EF4-FFF2-40B4-BE49-F238E27FC236}">
                <a16:creationId xmlns:a16="http://schemas.microsoft.com/office/drawing/2014/main" id="{79F7BE26-28D2-47AB-9334-6677481A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43475"/>
            <a:ext cx="1143000" cy="28575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866D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回滚 / 效果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50C359-72ED-4525-810A-2B08E3BA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54768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每次修订可审计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839FFC-674A-404D-83E5-59A60752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943100"/>
            <a:ext cx="7810500" cy="704850"/>
          </a:xfrm>
          <a:prstGeom xmlns:a="http://schemas.openxmlformats.org/drawingml/2006/main" prst="roundRect">
            <a:avLst>
              <a:gd name="adj" fmla="val 6757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B74770-BD48-4D56-A3D9-1359C869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383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CE0BE7-3C41-42B8-B391-64789F8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977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经营入口与动作</a:t>
            </a:r>
          </a:p>
        </p:txBody>
      </p:sp>
      <p:sp>
        <p:nvSpPr>
          <p:cNvPr id="51" name="APPS::1">
            <a:extLst xmlns:a="http://schemas.openxmlformats.org/drawingml/2006/main">
              <a:ext uri="{FF2B5EF4-FFF2-40B4-BE49-F238E27FC236}">
                <a16:creationId xmlns:a16="http://schemas.microsoft.com/office/drawing/2014/main" id="{9D5B5ED8-21AA-4B1D-A3A7-9658875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05025"/>
            <a:ext cx="933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对话分析</a:t>
            </a:r>
          </a:p>
        </p:txBody>
      </p:sp>
      <p:sp>
        <p:nvSpPr>
          <p:cNvPr id="52" name="APPS::2">
            <a:extLst xmlns:a="http://schemas.openxmlformats.org/drawingml/2006/main">
              <a:ext uri="{FF2B5EF4-FFF2-40B4-BE49-F238E27FC236}">
                <a16:creationId xmlns:a16="http://schemas.microsoft.com/office/drawing/2014/main" id="{B742838F-ED90-444A-8025-AED97A2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05025"/>
            <a:ext cx="10668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管理驾驶舱</a:t>
            </a:r>
          </a:p>
        </p:txBody>
      </p:sp>
      <p:sp>
        <p:nvSpPr>
          <p:cNvPr id="53" name="APPS::3">
            <a:extLst xmlns:a="http://schemas.openxmlformats.org/drawingml/2006/main">
              <a:ext uri="{FF2B5EF4-FFF2-40B4-BE49-F238E27FC236}">
                <a16:creationId xmlns:a16="http://schemas.microsoft.com/office/drawing/2014/main" id="{BB52E155-4349-4923-989F-BCF72AF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05025"/>
            <a:ext cx="933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主动预警</a:t>
            </a:r>
          </a:p>
        </p:txBody>
      </p:sp>
      <p:sp>
        <p:nvSpPr>
          <p:cNvPr id="54" name="APPS::4">
            <a:extLst xmlns:a="http://schemas.openxmlformats.org/drawingml/2006/main">
              <a:ext uri="{FF2B5EF4-FFF2-40B4-BE49-F238E27FC236}">
                <a16:creationId xmlns:a16="http://schemas.microsoft.com/office/drawing/2014/main" id="{F71A644C-AF9E-43E2-8CD0-7E32E991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05025"/>
            <a:ext cx="9334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情景推演</a:t>
            </a:r>
          </a:p>
        </p:txBody>
      </p:sp>
      <p:sp>
        <p:nvSpPr>
          <p:cNvPr id="55" name="APPS::5">
            <a:extLst xmlns:a="http://schemas.openxmlformats.org/drawingml/2006/main">
              <a:ext uri="{FF2B5EF4-FFF2-40B4-BE49-F238E27FC236}">
                <a16:creationId xmlns:a16="http://schemas.microsoft.com/office/drawing/2014/main" id="{403D21CC-9A8D-4D28-9284-7D68B2E3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05025"/>
            <a:ext cx="10096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BD6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Agent 执行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DF292B-A02C-4830-B282-4EA0C3E9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5124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答案必须能落到：看见问题 · 形成判断 · 触发动作 · 追踪结果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F756F1-F685-44BB-B7CD-D339C10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24150"/>
            <a:ext cx="7810500" cy="1000125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18FB46B-E90B-4574-8D0C-9B6392DA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19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0C1E36-ED0B-4812-AAF9-E2BBA167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90825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认知调查编排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0031DAD-58EA-42D8-8B72-F8F551DD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05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理解情境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129FD2-62E7-4A1A-AA80-992191E2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71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对象 · 决策 · 约束</a:t>
            </a:r>
          </a:p>
        </p:txBody>
      </p:sp>
      <p:sp>
        <p:nvSpPr>
          <p:cNvPr id="62" name="COGNITION::ARROW-1">
            <a:extLst xmlns:a="http://schemas.openxmlformats.org/drawingml/2006/main">
              <a:ext uri="{FF2B5EF4-FFF2-40B4-BE49-F238E27FC236}">
                <a16:creationId xmlns:a16="http://schemas.microsoft.com/office/drawing/2014/main" id="{F4AB5F9D-68D3-4BAF-B5A0-FCAC0D1D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9337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1ED1E8-B7B7-41EB-859C-3AD1F1C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05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形成假设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941702-A257-4C48-9C33-17DB85B5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171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问题树 · 优先级</a:t>
            </a:r>
          </a:p>
        </p:txBody>
      </p:sp>
      <p:sp>
        <p:nvSpPr>
          <p:cNvPr id="65" name="COGNITION::ARROW-2">
            <a:extLst xmlns:a="http://schemas.openxmlformats.org/drawingml/2006/main">
              <a:ext uri="{FF2B5EF4-FFF2-40B4-BE49-F238E27FC236}">
                <a16:creationId xmlns:a16="http://schemas.microsoft.com/office/drawing/2014/main" id="{D752DE42-A9EE-4E06-9525-75215689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337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F7F074E-1889-4761-84CF-4A12267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05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调度工具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516CFDA-4140-47CD-BD68-5EED7B79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71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 · SQL · 检索</a:t>
            </a:r>
          </a:p>
        </p:txBody>
      </p:sp>
      <p:sp>
        <p:nvSpPr>
          <p:cNvPr id="68" name="COGNITION::ARROW-3">
            <a:extLst xmlns:a="http://schemas.openxmlformats.org/drawingml/2006/main">
              <a:ext uri="{FF2B5EF4-FFF2-40B4-BE49-F238E27FC236}">
                <a16:creationId xmlns:a16="http://schemas.microsoft.com/office/drawing/2014/main" id="{EB0D3368-BF88-4575-90BB-D004E9D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9337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15603E-ABA4-441F-8B2A-7448A966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05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核验反证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00F7812-900C-409E-99AA-D9E47B99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71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冲突 · 旁证 · 置信</a:t>
            </a:r>
          </a:p>
        </p:txBody>
      </p:sp>
      <p:sp>
        <p:nvSpPr>
          <p:cNvPr id="71" name="COGNITION::ARROW-4">
            <a:extLst xmlns:a="http://schemas.openxmlformats.org/drawingml/2006/main">
              <a:ext uri="{FF2B5EF4-FFF2-40B4-BE49-F238E27FC236}">
                <a16:creationId xmlns:a16="http://schemas.microsoft.com/office/drawing/2014/main" id="{03B53709-DD6D-4DB6-A838-C752FBB2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33700"/>
            <a:ext cx="1333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AABB6B1-C4F6-4592-83C5-20469410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905125"/>
            <a:ext cx="97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解释与建议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EA65B8D-B1ED-485B-BEBB-53CF547C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7182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未知 · 边界 · 动作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1DCF4E-E91B-4BFB-B23E-8A4A7F3D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438525"/>
            <a:ext cx="5219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循环条件：证据不足就继续调查；证据冲突就升级裁决；无法确认就明确标记未知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528575E-7A85-4557-92E1-EEC046D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00475"/>
            <a:ext cx="7810500" cy="10668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1A5307-A7C3-45D5-A3BD-8ACBC6A1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895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24D71E-BF01-4639-BF9F-81EF211A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867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企业语义 · 知识 · 证据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01CCB1-1F50-407C-A45A-492C689D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9572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可计算的业务现实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BCF460C-8FA0-43BF-B7B2-88E8F3A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719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现实对象图谱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3E75187-4F0B-45AD-8D76-F5540682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291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客户 · 产品 · 组织 · 角色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事件 · 关系 · 状态</a:t>
            </a:r>
          </a:p>
        </p:txBody>
      </p:sp>
      <p:sp>
        <p:nvSpPr>
          <p:cNvPr id="81" name="TRUTH::DIVIDER-1">
            <a:extLst xmlns:a="http://schemas.openxmlformats.org/drawingml/2006/main">
              <a:ext uri="{FF2B5EF4-FFF2-40B4-BE49-F238E27FC236}">
                <a16:creationId xmlns:a16="http://schemas.microsoft.com/office/drawing/2014/main" id="{81B37FC0-0122-4402-A271-A5185BF3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124325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4C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8FDBE8-CBB3-4908-860D-DAA56D50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3DB8"/>
                </a:solidFill>
                <a:latin typeface="Microsoft YaHei"/>
                <a:ea typeface="Microsoft YaHei"/>
                <a:cs typeface="Microsoft YaHei"/>
              </a:rPr>
              <a:t>语义与口径时态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539AE6-59D4-4528-BCA8-4DBD636A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 · 维度 · 粒度 · 标签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定义 · 版本 · 生效区间</a:t>
            </a:r>
          </a:p>
        </p:txBody>
      </p:sp>
      <p:sp>
        <p:nvSpPr>
          <p:cNvPr id="84" name="TRUTH::DIVIDER-2">
            <a:extLst xmlns:a="http://schemas.openxmlformats.org/drawingml/2006/main">
              <a:ext uri="{FF2B5EF4-FFF2-40B4-BE49-F238E27FC236}">
                <a16:creationId xmlns:a16="http://schemas.microsoft.com/office/drawing/2014/main" id="{9F69548D-B1AC-4B37-B7A1-A70180B9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24325"/>
            <a:ext cx="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DB4C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B625A62-1508-4104-9907-0DFC4133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71950"/>
            <a:ext cx="1657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证据与责任账本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8B92892-2726-4852-B95D-3D33B2FE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165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来源 · 血缘 · 质量 · 责任人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主张 · 依据 · 裁决记录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AA5C7CD-D7DC-48CB-ADD9-F5A748BB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43475"/>
            <a:ext cx="7810500" cy="647700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E754AF7-3DA0-4504-89D3-475DC2E8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38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3D1EA31-A0A3-4D32-85A0-06C9D1CA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0101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数据与计算织物</a:t>
            </a:r>
          </a:p>
        </p:txBody>
      </p:sp>
      <p:sp>
        <p:nvSpPr>
          <p:cNvPr id="90" name="DATA::1">
            <a:extLst xmlns:a="http://schemas.openxmlformats.org/drawingml/2006/main">
              <a:ext uri="{FF2B5EF4-FFF2-40B4-BE49-F238E27FC236}">
                <a16:creationId xmlns:a16="http://schemas.microsoft.com/office/drawing/2014/main" id="{64ADE962-88F9-44D1-8A48-1AEC6CC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133975"/>
            <a:ext cx="9525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B4C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湖仓 / 数仓</a:t>
            </a:r>
          </a:p>
        </p:txBody>
      </p:sp>
      <p:sp>
        <p:nvSpPr>
          <p:cNvPr id="91" name="DATA::2">
            <a:extLst xmlns:a="http://schemas.openxmlformats.org/drawingml/2006/main">
              <a:ext uri="{FF2B5EF4-FFF2-40B4-BE49-F238E27FC236}">
                <a16:creationId xmlns:a16="http://schemas.microsoft.com/office/drawing/2014/main" id="{50EB5804-38D5-4EE8-AEE8-43498097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33975"/>
            <a:ext cx="10287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B4C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实时 / 批处理</a:t>
            </a:r>
          </a:p>
        </p:txBody>
      </p:sp>
      <p:sp>
        <p:nvSpPr>
          <p:cNvPr id="92" name="DATA::3">
            <a:extLst xmlns:a="http://schemas.openxmlformats.org/drawingml/2006/main">
              <a:ext uri="{FF2B5EF4-FFF2-40B4-BE49-F238E27FC236}">
                <a16:creationId xmlns:a16="http://schemas.microsoft.com/office/drawing/2014/main" id="{63D7EAA0-9CCF-4C3B-9004-D4B961A0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33975"/>
            <a:ext cx="8382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B4C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指标引擎</a:t>
            </a:r>
          </a:p>
        </p:txBody>
      </p:sp>
      <p:sp>
        <p:nvSpPr>
          <p:cNvPr id="93" name="DATA::4">
            <a:extLst xmlns:a="http://schemas.openxmlformats.org/drawingml/2006/main">
              <a:ext uri="{FF2B5EF4-FFF2-40B4-BE49-F238E27FC236}">
                <a16:creationId xmlns:a16="http://schemas.microsoft.com/office/drawing/2014/main" id="{AE9E7872-98DE-4562-BE29-2CB22C2D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133975"/>
            <a:ext cx="1162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B4C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图 / 向量 / 检索</a:t>
            </a:r>
          </a:p>
        </p:txBody>
      </p:sp>
      <p:sp>
        <p:nvSpPr>
          <p:cNvPr id="94" name="DATA::5">
            <a:extLst xmlns:a="http://schemas.openxmlformats.org/drawingml/2006/main">
              <a:ext uri="{FF2B5EF4-FFF2-40B4-BE49-F238E27FC236}">
                <a16:creationId xmlns:a16="http://schemas.microsoft.com/office/drawing/2014/main" id="{B07E461A-3F34-4508-B722-F4FCFA33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33975"/>
            <a:ext cx="106680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DB4C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SQL / 模型 / 规则</a:t>
            </a:r>
          </a:p>
        </p:txBody>
      </p:sp>
      <p:sp>
        <p:nvSpPr>
          <p:cNvPr id="95" name="HOUSE::FOUNDATION">
            <a:extLst xmlns:a="http://schemas.openxmlformats.org/drawingml/2006/main">
              <a:ext uri="{FF2B5EF4-FFF2-40B4-BE49-F238E27FC236}">
                <a16:creationId xmlns:a16="http://schemas.microsoft.com/office/drawing/2014/main" id="{EA25F4D1-3EE6-4A63-BCCF-C02E8EBC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95975"/>
            <a:ext cx="110871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8C2049-D497-4226-8BAF-C2B2E18F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运行基础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36A7119-BE9A-438A-82FA-1E4D7BC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62650"/>
            <a:ext cx="935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D4D7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4D7E2"/>
                </a:solidFill>
                <a:latin typeface="Microsoft YaHei"/>
                <a:ea typeface="Microsoft YaHei"/>
                <a:cs typeface="Microsoft YaHei"/>
              </a:rPr>
              <a:t>混合部署  ·  算力 / 存储 / 网络  ·  模型平台  ·  MLOps / LLMOps  ·  可观测性  ·  成本与弹性</a:t>
            </a:r>
          </a:p>
        </p:txBody>
      </p:sp>
      <p:sp>
        <p:nvSpPr>
          <p:cNvPr id="98" name="BOUNDARY::BANNER">
            <a:extLst xmlns:a="http://schemas.openxmlformats.org/drawingml/2006/main">
              <a:ext uri="{FF2B5EF4-FFF2-40B4-BE49-F238E27FC236}">
                <a16:creationId xmlns:a16="http://schemas.microsoft.com/office/drawing/2014/main" id="{8219A226-AA26-4CBF-BD26-8B175244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81750"/>
            <a:ext cx="9105900" cy="295275"/>
          </a:xfrm>
          <a:prstGeom xmlns:a="http://schemas.openxmlformats.org/drawingml/2006/main" prst="roundRect">
            <a:avLst>
              <a:gd name="adj" fmla="val 48387"/>
            </a:avLst>
          </a:prstGeom>
          <a:solidFill xmlns:a="http://schemas.openxmlformats.org/drawingml/2006/main">
            <a:srgbClr val="FBE7EB"/>
          </a:solidFill>
          <a:ln xmlns:a="http://schemas.openxmlformats.org/drawingml/2006/main" w="9525">
            <a:solidFill>
              <a:srgbClr val="C24156"/>
            </a:solidFill>
            <a:prstDash val="solid"/>
          </a:ln>
        </p:spPr>
      </p:sp>
      <p:sp>
        <p:nvSpPr>
          <p:cNvPr id="99" name="COPY::S01-C20">
            <a:extLst xmlns:a="http://schemas.openxmlformats.org/drawingml/2006/main">
              <a:ext uri="{FF2B5EF4-FFF2-40B4-BE49-F238E27FC236}">
                <a16:creationId xmlns:a16="http://schemas.microsoft.com/office/drawing/2014/main" id="{7A217197-FA29-4D9F-AB7B-0B917045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419850"/>
            <a:ext cx="874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边界：模型负责提出候选；证据负责支撑结论；人和制度负责裁决、发布与后果。</a:t>
            </a:r>
          </a:p>
        </p:txBody>
      </p:sp>
    </p:spTree>
    <p:extLst>
      <p:ext uri="{BB962C8B-B14F-4D97-AF65-F5344CB8AC3E}">
        <p14:creationId xmlns:p14="http://schemas.microsoft.com/office/powerpoint/2010/main" val="391014094"/>
      </p:ext>
    </p:extLst>
  </p:cSld>
</p:sld>
</file>

<file path=ppt/theme/theme1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A96215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2026-08-22T06:58:59.5750000Z</dcterms:created>
  <dcterms:modified xsi:type="dcterms:W3CDTF">2026-08-22T06:58:59.5750000Z</dcterms:modified>
</coreProperties>
</file>

<file path=docProps/custom.xml><?xml version="1.0" encoding="utf-8"?>
<ns0:Properties xmlns:ns0="http://schemas.openxmlformats.org/officeDocument/2006/custom-properties" xmlns:vt="http://schemas.openxmlformats.org/officeDocument/2006/docPropsVTypes">
  <ns0:property fmtid="{D5CDD505-2E9C-101B-9397-08002B2CF9AE}" pid="2" name="ClayzGenerator">
    <vt:lpwstr>clayz-presentation-skills</vt:lpwstr>
  </ns0:property>
  <ns0:property fmtid="{D5CDD505-2E9C-101B-9397-08002B2CF9AE}" pid="3" name="ClayzVersion">
    <vt:lpwstr>0.3.0</vt:lpwstr>
  </ns0:property>
  <ns0:property fmtid="{D5CDD505-2E9C-101B-9397-08002B2CF9AE}" pid="4" name="ClayzOriginalArchitecture">
    <vt:lpwstr>clayz</vt:lpwstr>
  </ns0:property>
  <ns0:property fmtid="{D5CDD505-2E9C-101B-9397-08002B2CF9AE}" pid="5" name="ClayzBrand">
    <vt:lpwstr>clayz</vt:lpwstr>
  </ns0:property>
  <ns0:property fmtid="{D5CDD505-2E9C-101B-9397-08002B2CF9AE}" pid="6" name="ClayzNamespace">
    <vt:lpwstr>io.clayz.presentation</vt:lpwstr>
  </ns0:property>
</ns0:Properties>
</file>