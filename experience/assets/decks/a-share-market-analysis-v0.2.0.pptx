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24a09eabf48cb" /><Relationship Type="http://schemas.openxmlformats.org/officeDocument/2006/relationships/extended-properties" Target="/docProps/app.xml" Id="Re28ef251439a40d6" /><Relationship Type="http://schemas.openxmlformats.org/officeDocument/2006/relationships/officeDocument" Target="/ppt/presentation.xml" Id="R53cc72a396a9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e66f94566e4abc"/>
  </p:sldMasterIdLst>
  <p:notesMasterIdLst>
    <p:notesMasterId xmlns:r="http://schemas.openxmlformats.org/officeDocument/2006/relationships" r:id="Rfaa9a77f73414a7c"/>
  </p:notesMasterIdLst>
  <p:sldIdLst>
    <p:sldId xmlns:r="http://schemas.openxmlformats.org/officeDocument/2006/relationships" id="256" r:id="Re1c7a8ee5bfe4a0b"/>
    <p:sldId xmlns:r="http://schemas.openxmlformats.org/officeDocument/2006/relationships" id="257" r:id="R76f19e97bc1d486f"/>
    <p:sldId xmlns:r="http://schemas.openxmlformats.org/officeDocument/2006/relationships" id="258" r:id="Rff04d6b95f4144fb"/>
    <p:sldId xmlns:r="http://schemas.openxmlformats.org/officeDocument/2006/relationships" id="259" r:id="R19ce9ebe89734348"/>
    <p:sldId xmlns:r="http://schemas.openxmlformats.org/officeDocument/2006/relationships" id="260" r:id="R6977b98723a24be1"/>
    <p:sldId xmlns:r="http://schemas.openxmlformats.org/officeDocument/2006/relationships" id="261" r:id="R6405cb6fce734197"/>
    <p:sldId xmlns:r="http://schemas.openxmlformats.org/officeDocument/2006/relationships" id="262" r:id="Rdca38a0c68d44454"/>
    <p:sldId xmlns:r="http://schemas.openxmlformats.org/officeDocument/2006/relationships" id="263" r:id="Rca325f920b8a457b"/>
    <p:sldId xmlns:r="http://schemas.openxmlformats.org/officeDocument/2006/relationships" id="264" r:id="Ra950d083121b4d9e"/>
    <p:sldId xmlns:r="http://schemas.openxmlformats.org/officeDocument/2006/relationships" id="265" r:id="R0aea2ae4a1354650"/>
    <p:sldId xmlns:r="http://schemas.openxmlformats.org/officeDocument/2006/relationships" id="266" r:id="R28794f1bfd804bed"/>
    <p:sldId xmlns:r="http://schemas.openxmlformats.org/officeDocument/2006/relationships" id="267" r:id="R8fd4e7a38ebe46bc"/>
    <p:sldId xmlns:r="http://schemas.openxmlformats.org/officeDocument/2006/relationships" id="268" r:id="R2b140cf7b40a4b22"/>
    <p:sldId xmlns:r="http://schemas.openxmlformats.org/officeDocument/2006/relationships" id="269" r:id="Rf627b6e1dd654c97"/>
    <p:sldId xmlns:r="http://schemas.openxmlformats.org/officeDocument/2006/relationships" id="270" r:id="R61a0542c3d524e65"/>
    <p:sldId xmlns:r="http://schemas.openxmlformats.org/officeDocument/2006/relationships" id="271" r:id="R0af1a5611bb744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351e6b51c4e85" /><Relationship Type="http://schemas.openxmlformats.org/officeDocument/2006/relationships/slideMaster" Target="/ppt/slideMasters/slideMaster1.xml" Id="R93e66f94566e4abc" /><Relationship Type="http://schemas.openxmlformats.org/officeDocument/2006/relationships/notesMaster" Target="/ppt/notesMasters/notesMaster1.xml" Id="Rfaa9a77f73414a7c" /><Relationship Type="http://schemas.openxmlformats.org/officeDocument/2006/relationships/presProps" Target="/ppt/presProps.xml" Id="R7b56670e9c54498a" /><Relationship Type="http://schemas.openxmlformats.org/officeDocument/2006/relationships/tableStyles" Target="/ppt/tableStyles.xml" Id="Ra44058c1bcec4aba" /><Relationship Type="http://schemas.openxmlformats.org/officeDocument/2006/relationships/slide" Target="/ppt/slides/slide1.xml" Id="Re1c7a8ee5bfe4a0b" /><Relationship Type="http://schemas.openxmlformats.org/officeDocument/2006/relationships/slide" Target="/ppt/slides/slide2.xml" Id="R76f19e97bc1d486f" /><Relationship Type="http://schemas.openxmlformats.org/officeDocument/2006/relationships/slide" Target="/ppt/slides/slide3.xml" Id="Rff04d6b95f4144fb" /><Relationship Type="http://schemas.openxmlformats.org/officeDocument/2006/relationships/slide" Target="/ppt/slides/slide4.xml" Id="R19ce9ebe89734348" /><Relationship Type="http://schemas.openxmlformats.org/officeDocument/2006/relationships/slide" Target="/ppt/slides/slide5.xml" Id="R6977b98723a24be1" /><Relationship Type="http://schemas.openxmlformats.org/officeDocument/2006/relationships/slide" Target="/ppt/slides/slide6.xml" Id="R6405cb6fce734197" /><Relationship Type="http://schemas.openxmlformats.org/officeDocument/2006/relationships/slide" Target="/ppt/slides/slide7.xml" Id="Rdca38a0c68d44454" /><Relationship Type="http://schemas.openxmlformats.org/officeDocument/2006/relationships/slide" Target="/ppt/slides/slide8.xml" Id="Rca325f920b8a457b" /><Relationship Type="http://schemas.openxmlformats.org/officeDocument/2006/relationships/slide" Target="/ppt/slides/slide9.xml" Id="Ra950d083121b4d9e" /><Relationship Type="http://schemas.openxmlformats.org/officeDocument/2006/relationships/slide" Target="/ppt/slides/slide10.xml" Id="R0aea2ae4a1354650" /><Relationship Type="http://schemas.openxmlformats.org/officeDocument/2006/relationships/slide" Target="/ppt/slides/slide11.xml" Id="R28794f1bfd804bed" /><Relationship Type="http://schemas.openxmlformats.org/officeDocument/2006/relationships/slide" Target="/ppt/slides/slide12.xml" Id="R8fd4e7a38ebe46bc" /><Relationship Type="http://schemas.openxmlformats.org/officeDocument/2006/relationships/slide" Target="/ppt/slides/slide13.xml" Id="R2b140cf7b40a4b22" /><Relationship Type="http://schemas.openxmlformats.org/officeDocument/2006/relationships/slide" Target="/ppt/slides/slide14.xml" Id="Rf627b6e1dd654c97" /><Relationship Type="http://schemas.openxmlformats.org/officeDocument/2006/relationships/slide" Target="/ppt/slides/slide15.xml" Id="R61a0542c3d524e65" /><Relationship Type="http://schemas.openxmlformats.org/officeDocument/2006/relationships/slide" Target="/ppt/slides/slide16.xml" Id="R0af1a5611bb7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0b32e8589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7b2dee5294072" /><Relationship Type="http://schemas.openxmlformats.org/officeDocument/2006/relationships/notesMaster" Target="/ppt/notesMasters/notesMaster1.xml" Id="Rffc30666bbea4b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2a987e8f2a4929" /><Relationship Type="http://schemas.openxmlformats.org/officeDocument/2006/relationships/notesMaster" Target="/ppt/notesMasters/notesMaster1.xml" Id="R854b90fcfac4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2f4e76b44a40ef" /><Relationship Type="http://schemas.openxmlformats.org/officeDocument/2006/relationships/notesMaster" Target="/ppt/notesMasters/notesMaster1.xml" Id="Rbe20325495f4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89f89bea1b4004" /><Relationship Type="http://schemas.openxmlformats.org/officeDocument/2006/relationships/notesMaster" Target="/ppt/notesMasters/notesMaster1.xml" Id="R696d09f3521b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f3b9b0d8dd4319" /><Relationship Type="http://schemas.openxmlformats.org/officeDocument/2006/relationships/notesMaster" Target="/ppt/notesMasters/notesMaster1.xml" Id="R84e748bc174e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1c28df3f9465b" /><Relationship Type="http://schemas.openxmlformats.org/officeDocument/2006/relationships/notesMaster" Target="/ppt/notesMasters/notesMaster1.xml" Id="R0e3bc77989f545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27a1ec69a407b" /><Relationship Type="http://schemas.openxmlformats.org/officeDocument/2006/relationships/notesMaster" Target="/ppt/notesMasters/notesMaster1.xml" Id="R0c33b31d393247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c89732d93a40cf" /><Relationship Type="http://schemas.openxmlformats.org/officeDocument/2006/relationships/notesMaster" Target="/ppt/notesMasters/notesMaster1.xml" Id="R77dca9f1f53d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5b8d1a0fdf47f2" /><Relationship Type="http://schemas.openxmlformats.org/officeDocument/2006/relationships/notesMaster" Target="/ppt/notesMasters/notesMaster1.xml" Id="R1f7bc020d8194b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a4da27a34641df" /><Relationship Type="http://schemas.openxmlformats.org/officeDocument/2006/relationships/notesMaster" Target="/ppt/notesMasters/notesMaster1.xml" Id="R2212316707c143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cb743d36674439" /><Relationship Type="http://schemas.openxmlformats.org/officeDocument/2006/relationships/notesMaster" Target="/ppt/notesMasters/notesMaster1.xml" Id="R0206b5b4729545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0ab15b35ab4920" /><Relationship Type="http://schemas.openxmlformats.org/officeDocument/2006/relationships/notesMaster" Target="/ppt/notesMasters/notesMaster1.xml" Id="R599f184b49594a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1a75e2281a49d5" /><Relationship Type="http://schemas.openxmlformats.org/officeDocument/2006/relationships/notesMaster" Target="/ppt/notesMasters/notesMaster1.xml" Id="R6597c708905b4b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71c86fc32d42dd" /><Relationship Type="http://schemas.openxmlformats.org/officeDocument/2006/relationships/notesMaster" Target="/ppt/notesMasters/notesMaster1.xml" Id="R30294ad942f24b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8af124339c4b24" /><Relationship Type="http://schemas.openxmlformats.org/officeDocument/2006/relationships/notesMaster" Target="/ppt/notesMasters/notesMaster1.xml" Id="R02a2ae5c732842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f709282184202" /><Relationship Type="http://schemas.openxmlformats.org/officeDocument/2006/relationships/notesMaster" Target="/ppt/notesMasters/notesMaster1.xml" Id="Rdbd3db48bccf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附件工作簿｜1_市场总览、2_六月主题、3_七月暴跌、4_八月反弹转弱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附件工作簿｜1_市场总览（结论区、阶段收益区）</a:t>
            </a:r>
          </a:p>
          <a:p xmlns:a="http://schemas.openxmlformats.org/drawingml/2006/main">
            <a:r>
              <a:t>- 附件工作簿｜4_八月反弹转弱（结论区）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附件工作簿｜1_市场总览（阶段收益与市场广度）</a:t>
            </a:r>
          </a:p>
          <a:p xmlns:a="http://schemas.openxmlformats.org/drawingml/2006/main">
            <a:r>
              <a:t>- 附件工作簿｜2_六月主题、3_七月暴跌、4_八月反弹转弱（结论区）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附件工作簿｜1_市场总览（四个代表指数、阶段收益与市场广度）</a:t>
            </a:r>
          </a:p>
          <a:p xmlns:a="http://schemas.openxmlformats.org/drawingml/2006/main">
            <a:r>
              <a:t>- 行情底表：Tushare（见附件工作簿来源区）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附件工作簿｜1_市场总览（结论区、四市场成交额底表）</a:t>
            </a:r>
          </a:p>
          <a:p xmlns:a="http://schemas.openxmlformats.org/drawingml/2006/main">
            <a:r>
              <a:t>- 附件工作簿｜4_八月反弹转弱（成交额与关键拐点）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附件工作簿｜2_六月主题（结论区、行业与核心公司证据）</a:t>
            </a:r>
          </a:p>
          <a:p xmlns:a="http://schemas.openxmlformats.org/drawingml/2006/main">
            <a:r>
              <a:t>- 6月行情解释来源见附件：Tushare、香港新闻网、凤凰财经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附件工作簿｜3_七月暴跌（行业、海外指数、代表公司）</a:t>
            </a:r>
          </a:p>
          <a:p xmlns:a="http://schemas.openxmlformats.org/drawingml/2006/main">
            <a:r>
              <a:t>- 海外指数底表：Tushare（见附件工作簿来源区）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附件工作簿｜3_七月暴跌（关键交易日、结论区）</a:t>
            </a:r>
          </a:p>
          <a:p xmlns:a="http://schemas.openxmlformats.org/drawingml/2006/main">
            <a:r>
              <a:t>- 7月事件解释来源见附件：Weekly on Stock、新浪财经、四川在线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附件工作簿｜4_八月反弹转弱（指数线性走势、成交额与关键拐点）</a:t>
            </a:r>
          </a:p>
          <a:p xmlns:a="http://schemas.openxmlformats.org/drawingml/2006/main">
            <a:r>
              <a:t>- 8月外部冲击来源见附件：Reuters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附件工作簿｜4_八月反弹转弱（行业收益、代表公司）</a:t>
            </a:r>
          </a:p>
          <a:p xmlns:a="http://schemas.openxmlformats.org/drawingml/2006/main">
            <a:r>
              <a:t>- 附件工作簿｜6_核心公司（山东黄金阶段表现）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附件工作簿｜5_IPO资金占用（直接融资规模、上市后交易吸附）</a:t>
            </a:r>
          </a:p>
          <a:p xmlns:a="http://schemas.openxmlformats.org/drawingml/2006/main">
            <a:r>
              <a:t>- 长鑫科技发行公告：https://star.sse.com.cn/disclosure/listedinfo/announcement/c/new/2026-07-20/688825_20260720_V2AL.pdf</a:t>
            </a:r>
          </a:p>
          <a:p xmlns:a="http://schemas.openxmlformats.org/drawingml/2006/main">
            <a:r>
              <a:t>- 上交所网下发行规则：https://www.sse.com.cn/lawandrules/sselawsrules2025/stocks/issue/c/c_20250515_10778984.shtml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附件工作簿｜6_核心公司（价格弹性、估值与基本面快照）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附件工作簿｜6_核心公司（兆易创新、中国巨石、天孚通信）</a:t>
            </a:r>
          </a:p>
          <a:p xmlns:a="http://schemas.openxmlformats.org/drawingml/2006/main">
            <a:r>
              <a:t>- GigaDevice logo：https://www.gigadevice.com/weblogo.png</a:t>
            </a:r>
          </a:p>
          <a:p xmlns:a="http://schemas.openxmlformats.org/drawingml/2006/main">
            <a:r>
              <a:t>- China Jushi logo：https://www.jushi.com/public/uploads/image/20191024/1571878708437073.png</a:t>
            </a:r>
          </a:p>
          <a:p xmlns:a="http://schemas.openxmlformats.org/drawingml/2006/main">
            <a:r>
              <a:t>- TFC logo：https://media.jobthai.com/v1/images/logo-pic-map/335811_logo_20231009171713.jpeg?quality=90&amp;type=png&amp;width=1200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附件工作簿｜6_核心公司（中国神华、中国石油、农业银行、山东黄金）</a:t>
            </a:r>
          </a:p>
          <a:p xmlns:a="http://schemas.openxmlformats.org/drawingml/2006/main">
            <a:r>
              <a:t>- China Shenhua logo：https://logos-download.com/wp-content/uploads/2016/04/China_Shenhua_logo_logotype.png</a:t>
            </a:r>
          </a:p>
          <a:p xmlns:a="http://schemas.openxmlformats.org/drawingml/2006/main">
            <a:r>
              <a:t>- PetroChina logo：https://p4.itc.cn/q_70/images03/20200830/e277affd2e5747ff8c62bcafc9975827.png</a:t>
            </a:r>
          </a:p>
          <a:p xmlns:a="http://schemas.openxmlformats.org/drawingml/2006/main">
            <a:r>
              <a:t>- ABC logo：https://companieslogo.com/img/orig/601288.SS-29666ea6.png?t=1720244490</a:t>
            </a:r>
          </a:p>
          <a:p xmlns:a="http://schemas.openxmlformats.org/drawingml/2006/main">
            <a:r>
              <a:t>- Shandong Gold logo：https://camaltd.com/wp-content/uploads/2025/06/shandong-gold-logo.png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附件工作簿｜1_市场总览（9月宏观不确定性）</a:t>
            </a:r>
          </a:p>
          <a:p xmlns:a="http://schemas.openxmlformats.org/drawingml/2006/main">
            <a:r>
              <a:t>- Fed：https://www.federalreserve.gov/monetarypolicy/fomccalendars.htm</a:t>
            </a:r>
          </a:p>
          <a:p xmlns:a="http://schemas.openxmlformats.org/drawingml/2006/main">
            <a:r>
              <a:t>- ECB：https://www.ecb.europa.eu/press/calendars/mgcgc/html/index.en.html</a:t>
            </a:r>
          </a:p>
          <a:p xmlns:a="http://schemas.openxmlformats.org/drawingml/2006/main">
            <a:r>
              <a:t>- 中国宏观数据：https://www.stats.gov.cn/sj/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综合结论：附件工作簿全部六个命题页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bfc73cb6141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abb4153f154124" /><Relationship Type="http://schemas.openxmlformats.org/officeDocument/2006/relationships/slideLayout" Target="/ppt/slideLayouts/slideLayout1.xml" Id="R128fa0c4f67846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fa0c4f67846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9787a488482a" /><Relationship Type="http://schemas.openxmlformats.org/officeDocument/2006/relationships/chart" Target="/ppt/slides/charts/chart1.xml" Id="R30a2d46e002e4a98" /><Relationship Type="http://schemas.openxmlformats.org/officeDocument/2006/relationships/notesSlide" Target="/ppt/notesSlides/notesSlide1.xml" Id="Rcb567a78387e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ac693b8764b86" /><Relationship Type="http://schemas.openxmlformats.org/officeDocument/2006/relationships/notesSlide" Target="/ppt/notesSlides/notesSlide2.xml" Id="R6ffd34dc807a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baca6c394075" /><Relationship Type="http://schemas.openxmlformats.org/officeDocument/2006/relationships/notesSlide" Target="/ppt/notesSlides/notesSlide3.xml" Id="R72cea837245249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824fd5d324f8b" /><Relationship Type="http://schemas.openxmlformats.org/officeDocument/2006/relationships/chart" Target="/ppt/slides/charts/chart2.xml" Id="Rf8661c47961e4d1f" /><Relationship Type="http://schemas.openxmlformats.org/officeDocument/2006/relationships/notesSlide" Target="/ppt/notesSlides/notesSlide4.xml" Id="R54c15670e9e0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b7fb3d4fb4205" /><Relationship Type="http://schemas.openxmlformats.org/officeDocument/2006/relationships/chart" Target="/ppt/slides/charts/chart3.xml" Id="R9292516515b449ad" /><Relationship Type="http://schemas.openxmlformats.org/officeDocument/2006/relationships/notesSlide" Target="/ppt/notesSlides/notesSlide5.xml" Id="Rba2c1c98263d48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297859fe14c35" /><Relationship Type="http://schemas.openxmlformats.org/officeDocument/2006/relationships/chart" Target="/ppt/slides/charts/chart4.xml" Id="R1eff44e66bf34270" /><Relationship Type="http://schemas.openxmlformats.org/officeDocument/2006/relationships/notesSlide" Target="/ppt/notesSlides/notesSlide6.xml" Id="R519c13f51fdd40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dba8499d347ab" /><Relationship Type="http://schemas.openxmlformats.org/officeDocument/2006/relationships/chart" Target="/ppt/slides/charts/chart5.xml" Id="Rb81f8eedf3fd4d30" /><Relationship Type="http://schemas.openxmlformats.org/officeDocument/2006/relationships/notesSlide" Target="/ppt/notesSlides/notesSlide7.xml" Id="Rb53feaba5efd4d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6990781404331" /><Relationship Type="http://schemas.openxmlformats.org/officeDocument/2006/relationships/notesSlide" Target="/ppt/notesSlides/notesSlide8.xml" Id="R0bfaefb336ad44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9787b0b2546f4" /><Relationship Type="http://schemas.openxmlformats.org/officeDocument/2006/relationships/chart" Target="/ppt/slides/charts/chart6.xml" Id="Rea69fa4be869467e" /><Relationship Type="http://schemas.openxmlformats.org/officeDocument/2006/relationships/notesSlide" Target="/ppt/notesSlides/notesSlide9.xml" Id="R2b4c01947d7e4b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e0849b3a45ed" /><Relationship Type="http://schemas.openxmlformats.org/officeDocument/2006/relationships/notesSlide" Target="/ppt/notesSlides/notesSlide10.xml" Id="Ra8e9bc3bd55845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593c97874dd7" /><Relationship Type="http://schemas.openxmlformats.org/officeDocument/2006/relationships/notesSlide" Target="/ppt/notesSlides/notesSlide11.xml" Id="R2c6b980149d84b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6d38c65b54985" /><Relationship Type="http://schemas.openxmlformats.org/officeDocument/2006/relationships/notesSlide" Target="/ppt/notesSlides/notesSlide12.xml" Id="R615653b35dad48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bf40a4f249d0" /><Relationship Type="http://schemas.openxmlformats.org/officeDocument/2006/relationships/image" Target="/ppt/media/image.png" Id="Re728362ce78f4558" /><Relationship Type="http://schemas.openxmlformats.org/officeDocument/2006/relationships/image" Target="/ppt/media/image2.png" Id="R32a3c3c47a0746dd" /><Relationship Type="http://schemas.openxmlformats.org/officeDocument/2006/relationships/image" Target="/ppt/media/image.jpeg" Id="R6988db2a89244335" /><Relationship Type="http://schemas.openxmlformats.org/officeDocument/2006/relationships/notesSlide" Target="/ppt/notesSlides/notesSlide13.xml" Id="Rf46d58728a5b48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71b8b7dfe4346" /><Relationship Type="http://schemas.openxmlformats.org/officeDocument/2006/relationships/image" Target="/ppt/media/image3.png" Id="R121bfe76c90b43a8" /><Relationship Type="http://schemas.openxmlformats.org/officeDocument/2006/relationships/image" Target="/ppt/media/image4.png" Id="Rdecf9ee0761a4d3e" /><Relationship Type="http://schemas.openxmlformats.org/officeDocument/2006/relationships/image" Target="/ppt/media/image5.png" Id="R9e3f02e9a6244af2" /><Relationship Type="http://schemas.openxmlformats.org/officeDocument/2006/relationships/image" Target="/ppt/media/image6.png" Id="Rfa575bd5e1a44084" /><Relationship Type="http://schemas.openxmlformats.org/officeDocument/2006/relationships/notesSlide" Target="/ppt/notesSlides/notesSlide14.xml" Id="Reb5ecdcddf884f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8eb41391a42d1" /><Relationship Type="http://schemas.openxmlformats.org/officeDocument/2006/relationships/notesSlide" Target="/ppt/notesSlides/notesSlide15.xml" Id="Rd90e1c9736c245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7179281f14540" /><Relationship Type="http://schemas.openxmlformats.org/officeDocument/2006/relationships/notesSlide" Target="/ppt/notesSlides/notesSlide16.xml" Id="R7bed683dd95743b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上证</c:v>
          </c:tx>
          <c:spPr>
            <a:ln xmlns:a="http://schemas.openxmlformats.org/drawingml/2006/main" w="28575">
              <a:solidFill>
                <a:srgbClr val="252D3A"/>
              </a:solidFill>
              <a:prstDash val="solid"/>
            </a:ln>
          </c:spPr>
          <c:marker>
            <c:symbol val="none"/>
            <c:size val="2"/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99.26057854865023</c:v>
              </c:pt>
              <c:pt idx="2">
                <c:v>98.25702731076906</c:v>
              </c:pt>
              <c:pt idx="3">
                <c:v>101.24049840551639</c:v>
              </c:pt>
              <c:pt idx="4">
                <c:v>101.30795467427683</c:v>
              </c:pt>
              <c:pt idx="5">
                <c:v>100.9033895715349</c:v>
              </c:pt>
              <c:pt idx="6">
                <c:v>99.59332534859305</c:v>
              </c:pt>
              <c:pt idx="7">
                <c:v>98.48244589352694</c:v>
              </c:pt>
              <c:pt idx="8">
                <c:v>95.6791859508002</c:v>
              </c:pt>
              <c:pt idx="9">
                <c:v>95.30018187463959</c:v>
              </c:pt>
              <c:pt idx="10">
                <c:v>93.97631686603874</c:v>
              </c:pt>
              <c:pt idx="11">
                <c:v>93.88632342141192</c:v>
              </c:pt>
              <c:pt idx="12">
                <c:v>97.09929911724261</c:v>
              </c:pt>
              <c:pt idx="13">
                <c:v>96.77714195586708</c:v>
              </c:pt>
              <c:pt idx="14">
                <c:v>95.97515858581377</c:v>
              </c:pt>
              <c:pt idx="15">
                <c:v>96.2408286386018</c:v>
              </c:pt>
            </c:numLit>
          </c:val>
        </c:ser>
        <c:ser>
          <c:idx val="1"/>
          <c:order val="1"/>
          <c:tx>
            <c:v>科创50</c:v>
          </c:tx>
          <c:spPr>
            <a:ln xmlns:a="http://schemas.openxmlformats.org/drawingml/2006/main" w="38100">
              <a:solidFill>
                <a:srgbClr val="2F6BFF"/>
              </a:solidFill>
              <a:prstDash val="solid"/>
            </a:ln>
          </c:spPr>
          <c:marker>
            <c:symbol val="none"/>
            <c:size val="2"/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100.27863305350412</c:v>
              </c:pt>
              <c:pt idx="2">
                <c:v>99.92441516421142</c:v>
              </c:pt>
              <c:pt idx="3">
                <c:v>110.64664855635968</c:v>
              </c:pt>
              <c:pt idx="4">
                <c:v>119.57885872608145</c:v>
              </c:pt>
              <c:pt idx="5">
                <c:v>132.70862691956177</c:v>
              </c:pt>
              <c:pt idx="6">
                <c:v>119.98020669071556</c:v>
              </c:pt>
              <c:pt idx="7">
                <c:v>124.11995358520065</c:v>
              </c:pt>
              <c:pt idx="8">
                <c:v>111.01062785903773</c:v>
              </c:pt>
              <c:pt idx="9">
                <c:v>111.80453611197014</c:v>
              </c:pt>
              <c:pt idx="10">
                <c:v>101.79029971566275</c:v>
              </c:pt>
              <c:pt idx="11">
                <c:v>93.33992709594645</c:v>
              </c:pt>
              <c:pt idx="12">
                <c:v>104.82841941739869</c:v>
              </c:pt>
              <c:pt idx="13">
                <c:v>103.24904797668559</c:v>
              </c:pt>
              <c:pt idx="14">
                <c:v>100.22972981501701</c:v>
              </c:pt>
              <c:pt idx="15">
                <c:v>99.3906089072296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EAF2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35"/>
          <c:min val="8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EAF2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EAF2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上证综指</c:v>
          </c:tx>
          <c:spPr>
            <a:ln xmlns:a="http://schemas.openxmlformats.org/drawingml/2006/main" w="28575">
              <a:solidFill>
                <a:srgbClr val="252D3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2D3A"/>
              </a:solidFill>
            </c:spPr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99.26057854865023</c:v>
              </c:pt>
              <c:pt idx="2">
                <c:v>98.25702731076906</c:v>
              </c:pt>
              <c:pt idx="3">
                <c:v>101.24049840551639</c:v>
              </c:pt>
              <c:pt idx="4">
                <c:v>101.30795467427683</c:v>
              </c:pt>
              <c:pt idx="5">
                <c:v>100.9033895715349</c:v>
              </c:pt>
              <c:pt idx="6">
                <c:v>99.59332534859305</c:v>
              </c:pt>
              <c:pt idx="7">
                <c:v>98.48244589352694</c:v>
              </c:pt>
              <c:pt idx="8">
                <c:v>95.6791859508002</c:v>
              </c:pt>
              <c:pt idx="9">
                <c:v>95.30018187463959</c:v>
              </c:pt>
              <c:pt idx="10">
                <c:v>93.97631686603874</c:v>
              </c:pt>
              <c:pt idx="11">
                <c:v>93.88632342141192</c:v>
              </c:pt>
              <c:pt idx="12">
                <c:v>97.09929911724261</c:v>
              </c:pt>
              <c:pt idx="13">
                <c:v>96.77714195586708</c:v>
              </c:pt>
              <c:pt idx="14">
                <c:v>95.97515858581377</c:v>
              </c:pt>
              <c:pt idx="15">
                <c:v>96.2408286386018</c:v>
              </c:pt>
            </c:numLit>
          </c:val>
        </c:ser>
        <c:ser>
          <c:idx val="1"/>
          <c:order val="1"/>
          <c:tx>
            <c:v>深证成指</c:v>
          </c:tx>
          <c:spPr>
            <a:ln xmlns:a="http://schemas.openxmlformats.org/drawingml/2006/main" w="28575">
              <a:solidFill>
                <a:srgbClr val="69C7F3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69C7F3"/>
              </a:solidFill>
            </c:spPr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99.83275486132453</c:v>
              </c:pt>
              <c:pt idx="2">
                <c:v>96.81636401637141</c:v>
              </c:pt>
              <c:pt idx="3">
                <c:v>103.52400226534503</c:v>
              </c:pt>
              <c:pt idx="4">
                <c:v>104.63459316544422</c:v>
              </c:pt>
              <c:pt idx="5">
                <c:v>105.64002744603806</c:v>
              </c:pt>
              <c:pt idx="6">
                <c:v>100.4983443604784</c:v>
              </c:pt>
              <c:pt idx="7">
                <c:v>98.08552880929844</c:v>
              </c:pt>
              <c:pt idx="8">
                <c:v>94.4479639918661</c:v>
              </c:pt>
              <c:pt idx="9">
                <c:v>91.66302996275927</c:v>
              </c:pt>
              <c:pt idx="10">
                <c:v>88.06626471945938</c:v>
              </c:pt>
              <c:pt idx="11">
                <c:v>87.66607909665096</c:v>
              </c:pt>
              <c:pt idx="12">
                <c:v>93.28993155973784</c:v>
              </c:pt>
              <c:pt idx="13">
                <c:v>93.14935203395082</c:v>
              </c:pt>
              <c:pt idx="14">
                <c:v>90.54647831449964</c:v>
              </c:pt>
              <c:pt idx="15">
                <c:v>91.87640701589446</c:v>
              </c:pt>
            </c:numLit>
          </c:val>
        </c:ser>
        <c:ser>
          <c:idx val="2"/>
          <c:order val="2"/>
          <c:tx>
            <c:v>科创50</c:v>
          </c:tx>
          <c:spPr>
            <a:ln xmlns:a="http://schemas.openxmlformats.org/drawingml/2006/main" w="38100">
              <a:solidFill>
                <a:srgbClr val="2F6B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6BFF"/>
              </a:solidFill>
            </c:spPr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100.27863305350412</c:v>
              </c:pt>
              <c:pt idx="2">
                <c:v>99.92441516421142</c:v>
              </c:pt>
              <c:pt idx="3">
                <c:v>110.64664855635968</c:v>
              </c:pt>
              <c:pt idx="4">
                <c:v>119.57885872608145</c:v>
              </c:pt>
              <c:pt idx="5">
                <c:v>132.70862691956177</c:v>
              </c:pt>
              <c:pt idx="6">
                <c:v>119.98020669071556</c:v>
              </c:pt>
              <c:pt idx="7">
                <c:v>124.11995358520065</c:v>
              </c:pt>
              <c:pt idx="8">
                <c:v>111.01062785903773</c:v>
              </c:pt>
              <c:pt idx="9">
                <c:v>111.80453611197014</c:v>
              </c:pt>
              <c:pt idx="10">
                <c:v>101.79029971566275</c:v>
              </c:pt>
              <c:pt idx="11">
                <c:v>93.33992709594645</c:v>
              </c:pt>
              <c:pt idx="12">
                <c:v>104.82841941739869</c:v>
              </c:pt>
              <c:pt idx="13">
                <c:v>103.24904797668559</c:v>
              </c:pt>
              <c:pt idx="14">
                <c:v>100.22972981501701</c:v>
              </c:pt>
              <c:pt idx="15">
                <c:v>99.3906089072296</c:v>
              </c:pt>
            </c:numLit>
          </c:val>
        </c:ser>
        <c:ser>
          <c:idx val="3"/>
          <c:order val="3"/>
          <c:tx>
            <c:v>创业板指</c:v>
          </c:tx>
          <c:spPr>
            <a:ln xmlns:a="http://schemas.openxmlformats.org/drawingml/2006/main" w="28575">
              <a:solidFill>
                <a:srgbClr val="F29B3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9B38"/>
              </a:solidFill>
            </c:spPr>
          </c:marker>
          <c:cat>
            <c:strLit>
              <c:ptCount val="16"/>
              <c:pt idx="0">
                <c:v>06/01</c:v>
              </c:pt>
              <c:pt idx="1">
                <c:v>06/05</c:v>
              </c:pt>
              <c:pt idx="2">
                <c:v>06/11</c:v>
              </c:pt>
              <c:pt idx="3">
                <c:v>06/17</c:v>
              </c:pt>
              <c:pt idx="4">
                <c:v>06/24</c:v>
              </c:pt>
              <c:pt idx="5">
                <c:v>06/30</c:v>
              </c:pt>
              <c:pt idx="6">
                <c:v>07/06</c:v>
              </c:pt>
              <c:pt idx="7">
                <c:v>07/10</c:v>
              </c:pt>
              <c:pt idx="8">
                <c:v>07/16</c:v>
              </c:pt>
              <c:pt idx="9">
                <c:v>07/22</c:v>
              </c:pt>
              <c:pt idx="10">
                <c:v>07/28</c:v>
              </c:pt>
              <c:pt idx="11">
                <c:v>08/03</c:v>
              </c:pt>
              <c:pt idx="12">
                <c:v>08/07</c:v>
              </c:pt>
              <c:pt idx="13">
                <c:v>08/13</c:v>
              </c:pt>
              <c:pt idx="14">
                <c:v>08/19</c:v>
              </c:pt>
              <c:pt idx="15">
                <c:v>08/21</c:v>
              </c:pt>
            </c:strLit>
          </c:cat>
          <c:val>
            <c:numLit>
              <c:formatCode>General</c:formatCode>
              <c:ptCount val="16"/>
              <c:pt idx="0">
                <c:v>100</c:v>
              </c:pt>
              <c:pt idx="1">
                <c:v>100.17696533830201</c:v>
              </c:pt>
              <c:pt idx="2">
                <c:v>96.4642063191392</c:v>
              </c:pt>
              <c:pt idx="3">
                <c:v>105.46969645121702</c:v>
              </c:pt>
              <c:pt idx="4">
                <c:v>107.60530295651934</c:v>
              </c:pt>
              <c:pt idx="5">
                <c:v>109.91583731196135</c:v>
              </c:pt>
              <c:pt idx="6">
                <c:v>99.94727334981683</c:v>
              </c:pt>
              <c:pt idx="7">
                <c:v>97.26111476368479</c:v>
              </c:pt>
              <c:pt idx="8">
                <c:v>93.45761538662464</c:v>
              </c:pt>
              <c:pt idx="9">
                <c:v>90.27546384367156</c:v>
              </c:pt>
              <c:pt idx="10">
                <c:v>84.2084948221984</c:v>
              </c:pt>
              <c:pt idx="11">
                <c:v>83.58898705504042</c:v>
              </c:pt>
              <c:pt idx="12">
                <c:v>90.18394645612725</c:v>
              </c:pt>
              <c:pt idx="13">
                <c:v>90.76421802267367</c:v>
              </c:pt>
              <c:pt idx="14">
                <c:v>87.91554381242432</c:v>
              </c:pt>
              <c:pt idx="15">
                <c:v>89.74002714086095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2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35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9657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沪深成交额（万亿元）</c:v>
          </c:tx>
          <c:spPr>
            <a:solidFill xmlns:a="http://schemas.openxmlformats.org/drawingml/2006/main">
              <a:srgbClr val="2F6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9C7F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9C7F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cat>
            <c:strLit>
              <c:ptCount val="5"/>
              <c:pt idx="0">
                <c:v>6月日均</c:v>
              </c:pt>
              <c:pt idx="1">
                <c:v>7月日均</c:v>
              </c:pt>
              <c:pt idx="2">
                <c:v>8/3—18日均</c:v>
              </c:pt>
              <c:pt idx="3">
                <c:v>8/19</c:v>
              </c:pt>
              <c:pt idx="4">
                <c:v>8/21</c:v>
              </c:pt>
            </c:strLit>
          </c:cat>
          <c:val>
            <c:numLit>
              <c:formatCode>0.00</c:formatCode>
              <c:ptCount val="5"/>
              <c:pt idx="0">
                <c:v>3.11</c:v>
              </c:pt>
              <c:pt idx="1">
                <c:v>2.69</c:v>
              </c:pt>
              <c:pt idx="2">
                <c:v>2.38</c:v>
              </c:pt>
              <c:pt idx="3">
                <c:v>2.51</c:v>
              </c:pt>
              <c:pt idx="4">
                <c:v>1.88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2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5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万亿元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50112"/>
        <c:crossBetween val="between"/>
        <c:majorUnit val="0.6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6月收益</c:v>
          </c:tx>
          <c:spPr>
            <a:solidFill xmlns:a="http://schemas.openxmlformats.org/drawingml/2006/main">
              <a:srgbClr val="2F6B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F6B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cat>
            <c:strLit>
              <c:ptCount val="10"/>
              <c:pt idx="0">
                <c:v>电子</c:v>
              </c:pt>
              <c:pt idx="1">
                <c:v>建筑材料</c:v>
              </c:pt>
              <c:pt idx="2">
                <c:v>通信</c:v>
              </c:pt>
              <c:pt idx="3">
                <c:v>机械设备</c:v>
              </c:pt>
              <c:pt idx="4">
                <c:v>基础化工</c:v>
              </c:pt>
              <c:pt idx="5">
                <c:v>非银金融</c:v>
              </c:pt>
              <c:pt idx="6">
                <c:v>石油石化</c:v>
              </c:pt>
              <c:pt idx="7">
                <c:v>商贸零售</c:v>
              </c:pt>
              <c:pt idx="8">
                <c:v>公用事业</c:v>
              </c:pt>
              <c:pt idx="9">
                <c:v>煤炭</c:v>
              </c:pt>
            </c:strLit>
          </c:cat>
          <c:val>
            <c:numLit>
              <c:formatCode>0.0%</c:formatCode>
              <c:ptCount val="10"/>
              <c:pt idx="0">
                <c:v>0.33293755173345163</c:v>
              </c:pt>
              <c:pt idx="1">
                <c:v>0.18713793606017237</c:v>
              </c:pt>
              <c:pt idx="2">
                <c:v>0.15104047210444738</c:v>
              </c:pt>
              <c:pt idx="3">
                <c:v>0.07835966480035661</c:v>
              </c:pt>
              <c:pt idx="4">
                <c:v>0.03447959259421651</c:v>
              </c:pt>
              <c:pt idx="5">
                <c:v>0.015505915571838669</c:v>
              </c:pt>
              <c:pt idx="6">
                <c:v>-0.13757309349540792</c:v>
              </c:pt>
              <c:pt idx="7">
                <c:v>-0.14552933615462038</c:v>
              </c:pt>
              <c:pt idx="8">
                <c:v>-0.15063072864103078</c:v>
              </c:pt>
              <c:pt idx="9">
                <c:v>-0.19741528120168172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CD2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2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7月收益</c:v>
          </c:tx>
          <c:spPr>
            <a:solidFill xmlns:a="http://schemas.openxmlformats.org/drawingml/2006/main">
              <a:srgbClr val="2F6B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28A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28A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28A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28A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D94B4B"/>
              </a:solidFill>
            </c:spPr>
          </c:dPt>
          <c:cat>
            <c:strLit>
              <c:ptCount val="8"/>
              <c:pt idx="0">
                <c:v>煤炭</c:v>
              </c:pt>
              <c:pt idx="1">
                <c:v>银行</c:v>
              </c:pt>
              <c:pt idx="2">
                <c:v>石油石化</c:v>
              </c:pt>
              <c:pt idx="3">
                <c:v>食品饮料</c:v>
              </c:pt>
              <c:pt idx="4">
                <c:v>机械设备</c:v>
              </c:pt>
              <c:pt idx="5">
                <c:v>建筑材料</c:v>
              </c:pt>
              <c:pt idx="6">
                <c:v>通信</c:v>
              </c:pt>
              <c:pt idx="7">
                <c:v>电子</c:v>
              </c:pt>
            </c:strLit>
          </c:cat>
          <c:val>
            <c:numLit>
              <c:formatCode>0.0%</c:formatCode>
              <c:ptCount val="8"/>
              <c:pt idx="0">
                <c:v>0.11509733342049366</c:v>
              </c:pt>
              <c:pt idx="1">
                <c:v>0.10860919082704434</c:v>
              </c:pt>
              <c:pt idx="2">
                <c:v>0.10222892561704744</c:v>
              </c:pt>
              <c:pt idx="3">
                <c:v>0.10054554018625916</c:v>
              </c:pt>
              <c:pt idx="4">
                <c:v>-0.2168911823118862</c:v>
              </c:pt>
              <c:pt idx="5">
                <c:v>-0.27227515751917974</c:v>
              </c:pt>
              <c:pt idx="6">
                <c:v>-0.29390728593295157</c:v>
              </c:pt>
              <c:pt idx="7">
                <c:v>-0.3339011987682229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CD2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2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上证</c:v>
          </c:tx>
          <c:spPr>
            <a:ln xmlns:a="http://schemas.openxmlformats.org/drawingml/2006/main" w="28575">
              <a:solidFill>
                <a:srgbClr val="252D3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2D3A"/>
              </a:solidFill>
            </c:spPr>
          </c:marker>
          <c:cat>
            <c:strLit>
              <c:ptCount val="15"/>
              <c:pt idx="0">
                <c:v>08/03</c:v>
              </c:pt>
              <c:pt idx="1">
                <c:v>08/04</c:v>
              </c:pt>
              <c:pt idx="2">
                <c:v>08/05</c:v>
              </c:pt>
              <c:pt idx="3">
                <c:v>08/06</c:v>
              </c:pt>
              <c:pt idx="4">
                <c:v>08/07</c:v>
              </c:pt>
              <c:pt idx="5">
                <c:v>08/10</c:v>
              </c:pt>
              <c:pt idx="6">
                <c:v>08/11</c:v>
              </c:pt>
              <c:pt idx="7">
                <c:v>08/12</c:v>
              </c:pt>
              <c:pt idx="8">
                <c:v>08/13</c:v>
              </c:pt>
              <c:pt idx="9">
                <c:v>08/14</c:v>
              </c:pt>
              <c:pt idx="10">
                <c:v>08/17</c:v>
              </c:pt>
              <c:pt idx="11">
                <c:v>08/18</c:v>
              </c:pt>
              <c:pt idx="12">
                <c:v>08/19</c:v>
              </c:pt>
              <c:pt idx="13">
                <c:v>08/20</c:v>
              </c:pt>
              <c:pt idx="14">
                <c:v>08/21</c:v>
              </c:pt>
            </c:strLit>
          </c:cat>
          <c:val>
            <c:numLit>
              <c:formatCode>General</c:formatCode>
              <c:ptCount val="15"/>
              <c:pt idx="0">
                <c:v>100</c:v>
              </c:pt>
              <c:pt idx="1">
                <c:v>100.33130752854801</c:v>
              </c:pt>
              <c:pt idx="2">
                <c:v>101.80505997000418</c:v>
              </c:pt>
              <c:pt idx="3">
                <c:v>102.38050983461031</c:v>
              </c:pt>
              <c:pt idx="4">
                <c:v>103.42219780128053</c:v>
              </c:pt>
              <c:pt idx="5">
                <c:v>104.1192778500166</c:v>
              </c:pt>
              <c:pt idx="6">
                <c:v>103.26616824811457</c:v>
              </c:pt>
              <c:pt idx="7">
                <c:v>103.59644156442295</c:v>
              </c:pt>
              <c:pt idx="8">
                <c:v>103.07906245458098</c:v>
              </c:pt>
              <c:pt idx="9">
                <c:v>103.08461675178661</c:v>
              </c:pt>
              <c:pt idx="10">
                <c:v>104.54083745834835</c:v>
              </c:pt>
              <c:pt idx="11">
                <c:v>104.74164787650898</c:v>
              </c:pt>
              <c:pt idx="12">
                <c:v>102.22485564273941</c:v>
              </c:pt>
              <c:pt idx="13">
                <c:v>102.46893498109768</c:v>
              </c:pt>
              <c:pt idx="14">
                <c:v>102.507825561154</c:v>
              </c:pt>
            </c:numLit>
          </c:val>
        </c:ser>
        <c:ser>
          <c:idx val="1"/>
          <c:order val="1"/>
          <c:tx>
            <c:v>深证</c:v>
          </c:tx>
          <c:spPr>
            <a:ln xmlns:a="http://schemas.openxmlformats.org/drawingml/2006/main" w="28575">
              <a:solidFill>
                <a:srgbClr val="69C7F3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69C7F3"/>
              </a:solidFill>
            </c:spPr>
          </c:marker>
          <c:cat>
            <c:strLit>
              <c:ptCount val="15"/>
              <c:pt idx="0">
                <c:v>08/03</c:v>
              </c:pt>
              <c:pt idx="1">
                <c:v>08/04</c:v>
              </c:pt>
              <c:pt idx="2">
                <c:v>08/05</c:v>
              </c:pt>
              <c:pt idx="3">
                <c:v>08/06</c:v>
              </c:pt>
              <c:pt idx="4">
                <c:v>08/07</c:v>
              </c:pt>
              <c:pt idx="5">
                <c:v>08/10</c:v>
              </c:pt>
              <c:pt idx="6">
                <c:v>08/11</c:v>
              </c:pt>
              <c:pt idx="7">
                <c:v>08/12</c:v>
              </c:pt>
              <c:pt idx="8">
                <c:v>08/13</c:v>
              </c:pt>
              <c:pt idx="9">
                <c:v>08/14</c:v>
              </c:pt>
              <c:pt idx="10">
                <c:v>08/17</c:v>
              </c:pt>
              <c:pt idx="11">
                <c:v>08/18</c:v>
              </c:pt>
              <c:pt idx="12">
                <c:v>08/19</c:v>
              </c:pt>
              <c:pt idx="13">
                <c:v>08/20</c:v>
              </c:pt>
              <c:pt idx="14">
                <c:v>08/21</c:v>
              </c:pt>
            </c:strLit>
          </c:cat>
          <c:val>
            <c:numLit>
              <c:formatCode>General</c:formatCode>
              <c:ptCount val="15"/>
              <c:pt idx="0">
                <c:v>100</c:v>
              </c:pt>
              <c:pt idx="1">
                <c:v>103.2526257169611</c:v>
              </c:pt>
              <c:pt idx="2">
                <c:v>105.1747527908532</c:v>
              </c:pt>
              <c:pt idx="3">
                <c:v>104.92131013724214</c:v>
              </c:pt>
              <c:pt idx="4">
                <c:v>106.41508382836038</c:v>
              </c:pt>
              <c:pt idx="5">
                <c:v>106.45935265756636</c:v>
              </c:pt>
              <c:pt idx="6">
                <c:v>106.0316342998226</c:v>
              </c:pt>
              <c:pt idx="7">
                <c:v>107.18409542186511</c:v>
              </c:pt>
              <c:pt idx="8">
                <c:v>106.25472588006885</c:v>
              </c:pt>
              <c:pt idx="9">
                <c:v>106.73703854426445</c:v>
              </c:pt>
              <c:pt idx="10">
                <c:v>109.33937483555529</c:v>
              </c:pt>
              <c:pt idx="11">
                <c:v>108.73126921545587</c:v>
              </c:pt>
              <c:pt idx="12">
                <c:v>103.2856485057043</c:v>
              </c:pt>
              <c:pt idx="13">
                <c:v>103.90006422229717</c:v>
              </c:pt>
              <c:pt idx="14">
                <c:v>104.80268761033746</c:v>
              </c:pt>
            </c:numLit>
          </c:val>
        </c:ser>
        <c:ser>
          <c:idx val="2"/>
          <c:order val="2"/>
          <c:tx>
            <c:v>科创50</c:v>
          </c:tx>
          <c:spPr>
            <a:ln xmlns:a="http://schemas.openxmlformats.org/drawingml/2006/main" w="38100">
              <a:solidFill>
                <a:srgbClr val="2F6BFF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6BFF"/>
              </a:solidFill>
            </c:spPr>
          </c:marker>
          <c:cat>
            <c:strLit>
              <c:ptCount val="15"/>
              <c:pt idx="0">
                <c:v>08/03</c:v>
              </c:pt>
              <c:pt idx="1">
                <c:v>08/04</c:v>
              </c:pt>
              <c:pt idx="2">
                <c:v>08/05</c:v>
              </c:pt>
              <c:pt idx="3">
                <c:v>08/06</c:v>
              </c:pt>
              <c:pt idx="4">
                <c:v>08/07</c:v>
              </c:pt>
              <c:pt idx="5">
                <c:v>08/10</c:v>
              </c:pt>
              <c:pt idx="6">
                <c:v>08/11</c:v>
              </c:pt>
              <c:pt idx="7">
                <c:v>08/12</c:v>
              </c:pt>
              <c:pt idx="8">
                <c:v>08/13</c:v>
              </c:pt>
              <c:pt idx="9">
                <c:v>08/14</c:v>
              </c:pt>
              <c:pt idx="10">
                <c:v>08/17</c:v>
              </c:pt>
              <c:pt idx="11">
                <c:v>08/18</c:v>
              </c:pt>
              <c:pt idx="12">
                <c:v>08/19</c:v>
              </c:pt>
              <c:pt idx="13">
                <c:v>08/20</c:v>
              </c:pt>
              <c:pt idx="14">
                <c:v>08/21</c:v>
              </c:pt>
            </c:strLit>
          </c:cat>
          <c:val>
            <c:numLit>
              <c:formatCode>General</c:formatCode>
              <c:ptCount val="15"/>
              <c:pt idx="0">
                <c:v>100</c:v>
              </c:pt>
              <c:pt idx="1">
                <c:v>104.08708200444035</c:v>
              </c:pt>
              <c:pt idx="2">
                <c:v>109.06550836205236</c:v>
              </c:pt>
              <c:pt idx="3">
                <c:v>109.55645740075781</c:v>
              </c:pt>
              <c:pt idx="4">
                <c:v>112.30822937074176</c:v>
              </c:pt>
              <c:pt idx="5">
                <c:v>111.90576050349468</c:v>
              </c:pt>
              <c:pt idx="6">
                <c:v>110.08521335988769</c:v>
              </c:pt>
              <c:pt idx="7">
                <c:v>111.8553705950768</c:v>
              </c:pt>
              <c:pt idx="8">
                <c:v>110.61616522429175</c:v>
              </c:pt>
              <c:pt idx="9">
                <c:v>110.61176053453357</c:v>
              </c:pt>
              <c:pt idx="10">
                <c:v>115.1948853051629</c:v>
              </c:pt>
              <c:pt idx="11">
                <c:v>115.32522934813875</c:v>
              </c:pt>
              <c:pt idx="12">
                <c:v>107.38141000687556</c:v>
              </c:pt>
              <c:pt idx="13">
                <c:v>106.44487250644814</c:v>
              </c:pt>
              <c:pt idx="14">
                <c:v>106.4824154030713</c:v>
              </c:pt>
            </c:numLit>
          </c:val>
        </c:ser>
        <c:ser>
          <c:idx val="3"/>
          <c:order val="3"/>
          <c:tx>
            <c:v>创业板</c:v>
          </c:tx>
          <c:spPr>
            <a:ln xmlns:a="http://schemas.openxmlformats.org/drawingml/2006/main" w="28575">
              <a:solidFill>
                <a:srgbClr val="F29B3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9B38"/>
              </a:solidFill>
            </c:spPr>
          </c:marker>
          <c:cat>
            <c:strLit>
              <c:ptCount val="15"/>
              <c:pt idx="0">
                <c:v>08/03</c:v>
              </c:pt>
              <c:pt idx="1">
                <c:v>08/04</c:v>
              </c:pt>
              <c:pt idx="2">
                <c:v>08/05</c:v>
              </c:pt>
              <c:pt idx="3">
                <c:v>08/06</c:v>
              </c:pt>
              <c:pt idx="4">
                <c:v>08/07</c:v>
              </c:pt>
              <c:pt idx="5">
                <c:v>08/10</c:v>
              </c:pt>
              <c:pt idx="6">
                <c:v>08/11</c:v>
              </c:pt>
              <c:pt idx="7">
                <c:v>08/12</c:v>
              </c:pt>
              <c:pt idx="8">
                <c:v>08/13</c:v>
              </c:pt>
              <c:pt idx="9">
                <c:v>08/14</c:v>
              </c:pt>
              <c:pt idx="10">
                <c:v>08/17</c:v>
              </c:pt>
              <c:pt idx="11">
                <c:v>08/18</c:v>
              </c:pt>
              <c:pt idx="12">
                <c:v>08/19</c:v>
              </c:pt>
              <c:pt idx="13">
                <c:v>08/20</c:v>
              </c:pt>
              <c:pt idx="14">
                <c:v>08/21</c:v>
              </c:pt>
            </c:strLit>
          </c:cat>
          <c:val>
            <c:numLit>
              <c:formatCode>General</c:formatCode>
              <c:ptCount val="15"/>
              <c:pt idx="0">
                <c:v>100</c:v>
              </c:pt>
              <c:pt idx="1">
                <c:v>105.64450827653538</c:v>
              </c:pt>
              <c:pt idx="2">
                <c:v>107.04272336671377</c:v>
              </c:pt>
              <c:pt idx="3">
                <c:v>106.44976399170413</c:v>
              </c:pt>
              <c:pt idx="4">
                <c:v>107.88974676382222</c:v>
              </c:pt>
              <c:pt idx="5">
                <c:v>107.10541728106502</c:v>
              </c:pt>
              <c:pt idx="6">
                <c:v>107.46727365559025</c:v>
              </c:pt>
              <c:pt idx="7">
                <c:v>109.06965198503681</c:v>
              </c:pt>
              <c:pt idx="8">
                <c:v>108.58394295759156</c:v>
              </c:pt>
              <c:pt idx="9">
                <c:v>109.80281196967171</c:v>
              </c:pt>
              <c:pt idx="10">
                <c:v>113.25045644984878</c:v>
              </c:pt>
              <c:pt idx="11">
                <c:v>112.20301540014464</c:v>
              </c:pt>
              <c:pt idx="12">
                <c:v>105.17598897870964</c:v>
              </c:pt>
              <c:pt idx="13">
                <c:v>105.84502887977527</c:v>
              </c:pt>
              <c:pt idx="14">
                <c:v>107.3586728378109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2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965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7"/>
          <c:min val="9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579"/>
                </a:solidFill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9657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E74F2-63DD-4A24-8587-6C199C08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A-SHARE MARKET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6DA7B-BB43-4245-94A5-FAA989FC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A股6月至今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量价与板块轮动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7D4BC-8391-49EE-B3E0-99B82BF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四次风险因子切换下的市场路径、流动性与核心公司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1C4FD-12F9-47E9-B2ED-498BE9B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2026.06.01 — 2026.08.21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148A-3549-4239-B397-471F545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34025" cy="5600700"/>
          </a:xfrm>
          <a:prstGeom xmlns:a="http://schemas.openxmlformats.org/drawingml/2006/main" prst="roundRect">
            <a:avLst>
              <a:gd name="adj" fmla="val 13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572250" y="1066800"/>
          <a:ext xmlns:a="http://schemas.openxmlformats.org/drawingml/2006/main" cx="49053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a2d46e002e4a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C48C4-4745-410C-B7D4-5310BAD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838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科技集中拉升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FF82C-AEE2-4088-967C-D343515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去杠杆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A04EA-6EAD-40CA-8648-1C4BA9A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成长修复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4B0D2-DCBF-4BC3-9146-37F6C4B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AE7B2-A34B-4580-A199-07B0627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 6月 +32.7%｜7月 -24.0%｜8月3—18日 +15.3%</a:t>
            </a:r>
          </a:p>
        </p:txBody>
      </p:sp>
    </p:spTree>
    <p:extLst>
      <p:ext uri="{BB962C8B-B14F-4D97-AF65-F5344CB8AC3E}">
        <p14:creationId xmlns:p14="http://schemas.microsoft.com/office/powerpoint/2010/main" val="933543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09E16-BE21-44C6-9634-2CA59D0A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A股市场深度分析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B122D-5C2C-4AAB-973D-9D093C6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一句话结论：不是一轮趋势牛，而是四次风险因子切换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989D-94DC-4879-A93A-DE59D578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440B6-728A-41BC-B825-B8D8921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035E8-2D7A-4E15-962B-ED93EBD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449AA-90FA-406C-A065-6879E299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指数终点掩盖了路径风险：</a:t>
            </a:r>
            <a:r>
              <a: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科创50截至8月21日仅较6月初-0.6%，期间最大回撤却接近30%。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决定9月持续性的不是单日反弹，而是量能与上涨家数能否同步修复。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0F460-2D51-4AB4-9675-129DA2DA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3D17E-7A92-484D-9156-154607FD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+32.7%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12B0D-9DD7-4C0B-8DF9-5F3BA94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科创50｜6月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25349-7031-4321-8DCA-309F2522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科技集中拉升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2F0A2-B945-4D48-B863-6BFE92D1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432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0938A-7374-4675-8429-D037FB1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57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-24.0%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3430D-5939-4F97-B08A-13C4C41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886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科创50｜7月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CB3C7-B6D5-41CB-8DAE-10ED5E06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10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全球科技去杠杆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AFCCB-EED5-4291-9383-608145D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A453B-2A3A-48F8-80A6-EF3A582C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72.6%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18691-BD70-4DEF-A75F-66701EF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个股上涨占比｜8月反弹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07122-2BDD-4501-9529-7A679227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广度显著修复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29E48-6EE3-4A8A-913D-3477A99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432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D1526-BEA8-454B-BB60-0C41DAD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rPr>
              <a:t>3.11→1.88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7F947-4DAA-4E9B-90E4-91F14E67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86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沪深成交额｜万亿元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8A5CB-5584-46B5-A58E-57551ECF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10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量能中枢下移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F76A8-9381-400E-A198-23475F3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D3A"/>
          </a:solidFill>
          <a:ln xmlns:a="http://schemas.openxmlformats.org/drawingml/2006/main" w="0">
            <a:solidFill>
              <a:srgbClr val="252D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6C086-7A38-451C-8967-127B1F1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核心判断｜成长的弹性仍在，但风险预算必须与流动性、广度和海外长端利率绑定。</a:t>
            </a:r>
          </a:p>
        </p:txBody>
      </p:sp>
    </p:spTree>
    <p:extLst>
      <p:ext uri="{BB962C8B-B14F-4D97-AF65-F5344CB8AC3E}">
        <p14:creationId xmlns:p14="http://schemas.microsoft.com/office/powerpoint/2010/main" val="1694784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A2668-15CD-46C3-BCEF-0691F689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A股市场深度分析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6C20B-CEDA-49E9-A1A2-DFF6CE2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四段行情依次切换：科技集中、去杠杆、广度修复、利率再压制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09EA7-5835-403C-9350-889DEAD9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59C4-A599-4BEA-9E13-52EB205F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59E6C-913A-42F8-BA5C-BD5FDE2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AF661-C2B6-4C17-84A2-3964DC0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D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24D8-A1F9-4759-884F-1CD9C12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1181-6DBB-4548-81CB-481332EA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E1FD8-BE75-47DD-9BEC-F80D141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05B"/>
          </a:solidFill>
          <a:ln xmlns:a="http://schemas.openxmlformats.org/drawingml/2006/main" w="0">
            <a:solidFill>
              <a:srgbClr val="168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DBD56-1D44-4FE8-AE6C-B21BB19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8A00"/>
          </a:solidFill>
          <a:ln xmlns:a="http://schemas.openxmlformats.org/drawingml/2006/main" w="0">
            <a:solidFill>
              <a:srgbClr val="C28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3C607-7E82-4AF2-9273-514042B5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06/01—06/30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4E21E-A97B-4E8B-AB4E-0DD68937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科技集中拉升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E3070-F5C2-4A08-B276-EC05AC0E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科创50 +32.7%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007A3-E2FB-401E-9393-F5F504CB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电子 +33.3%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上涨股票仅23.7%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个股中位数 -12.7%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F6EE5-E2A6-40E3-9E40-8666CB4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D2BC5-65CE-4A25-8E4D-5061738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07/01—07/31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C18A7-0862-464C-8AC4-5DAF0449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81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成长去杠杆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9978F-3B10-4860-9E43-EB34AF0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00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科创50 -24.0%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C90E0-E4AD-4CAA-B91F-8CB8269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电子 -33.4%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煤炭/银行约+11%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资金快速切防御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3C5AA-2DDE-4AFF-A91C-AC8A68A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D039B-8163-4CC3-A15A-305B9FD4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08/03—08/18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31C13-14AA-4E9A-A826-8678594B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广度型修复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70769-4DBA-4ECC-A5E6-D42DAD8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00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上涨家数72.6%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6AC4B-D809-4BA9-BB6A-A4622C9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科创50 +15.3%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电子 +23.2%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中位数 +4.8%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A0E0E-90B6-4718-B9FD-930E05A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CD2D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EA194-402B-4D36-8A67-AB377F1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08/19—08/21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1D608-A73F-4EC0-978B-FC0626F0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利率与油价再压制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3F1B4-1B73-4A47-AE9D-A633992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00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科创50 -7.7%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773B1-803F-4BC9-B1EE-68F25E5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仅16.7%个股上涨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成交缩至1.88万亿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防御重新占优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B6A7A-C401-434A-B986-8FF75C1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B27F2-D39F-49A9-9E28-6AAEA21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贯穿变量：量能中枢逐月下移；风格切换越来越快，单一阶段收益不能直接外推。</a:t>
            </a:r>
          </a:p>
        </p:txBody>
      </p:sp>
    </p:spTree>
    <p:extLst>
      <p:ext uri="{BB962C8B-B14F-4D97-AF65-F5344CB8AC3E}">
        <p14:creationId xmlns:p14="http://schemas.microsoft.com/office/powerpoint/2010/main" val="319069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7E40B-3BFC-48F5-9E34-86A1942D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A股市场深度分析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4C93F-6376-47BB-9D83-5CC1874C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指数终点看似平静，科创50的路径风险却最极端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76019-668F-4279-960F-536E85E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0BEE-195A-428C-A4E8-1C0311CD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C6EC-B3A1-4A18-9E03-78136C5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1466850"/>
          <a:ext xmlns:a="http://schemas.openxmlformats.org/drawingml/2006/main" cx="7524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661c47961e4d1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FE324-4004-4D2F-A572-077AAFA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2026-06-01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2C1F-5283-44BB-A7C3-D70EC93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3BDA8-FC01-423D-8289-DFEF343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5735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-0.6%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FFCC2-9588-445E-BB49-A6EE4D5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科创50｜6月至今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905A3-6F50-40FD-8341-E1F74E48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终点几乎回到原位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5A410-7021-4551-BF55-4B6F628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-29.7%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4F6CC-CED9-4F71-A1F4-96DB4DC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科创50｜期间最大回撤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A1C7B-2CC7-44DA-AC87-767FC47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四个指数中回撤最深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367F6-2722-42DC-B091-8AB40B0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1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含义：</a:t>
            </a:r>
            <a:r>
              <a:rPr sz="12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高弹性并没有消失，但其收益高度依赖风险偏好和估值环境。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对比：</a:t>
            </a:r>
            <a:r>
              <a:rPr sz="1275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截至8月21日，上证-3.8%、深证-8.1%、创业板-10.3%。</a:t>
            </a:r>
          </a:p>
        </p:txBody>
      </p:sp>
    </p:spTree>
    <p:extLst>
      <p:ext uri="{BB962C8B-B14F-4D97-AF65-F5344CB8AC3E}">
        <p14:creationId xmlns:p14="http://schemas.microsoft.com/office/powerpoint/2010/main" val="790435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D90AB-4B73-4EB1-8695-2CDD806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rPr>
              <a:t>流动性证据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83033-160A-44B4-86C4-38E3A130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量能中枢连续下移，反弹缺少稳定增量资金确认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C83FF-B03A-486C-9431-C67BCED6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F3363-9043-4180-A2B5-04EA7C26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06CD2-622B-427F-8504-4814AB8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92516515b449a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92C55-E5A4-4DD3-B0DF-1C33E89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48E87-346E-4B82-8A4B-7D4A4566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-13.5%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E678A-357D-4AB8-B457-C09B2B75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6月→7月日均成交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281D2-BD4C-421B-9CC9-7BE3ED6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28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3.11万亿降至2.69万亿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0F4A4-208D-4E80-8BB8-80B791F0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2.67万亿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F891-73F3-4469-9F12-53E7450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8月反弹期量能峰值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210C9-D511-4E96-AE18-27238CF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8月7日见顶，领先指数转弱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62A18-23BE-47EF-A636-2AE115A7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1.88万亿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20BFA-FDBE-4838-B78D-50C7301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24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8月21日沪深成交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A1F68-D4F9-4E46-9D84-0BC5432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48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承接与风险偏好尚未恢复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30B32-018B-4AAA-B6A3-35BA2FA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8C94E-43AF-4E56-AFA3-6427747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验证标准：反弹若要延续，成交额回升必须与上涨家数改善同时出现。</a:t>
            </a:r>
          </a:p>
        </p:txBody>
      </p:sp>
    </p:spTree>
    <p:extLst>
      <p:ext uri="{BB962C8B-B14F-4D97-AF65-F5344CB8AC3E}">
        <p14:creationId xmlns:p14="http://schemas.microsoft.com/office/powerpoint/2010/main" val="846086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0F797-0B83-4256-884E-A929B645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6月主题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F7D1B-DFF4-427E-B7F8-2B97A515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6月的涨不是普涨：科技与材料吸走了大部分增量资金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CF2AC-084D-4AB9-9A06-2A23C2A8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75E6A-0771-4662-88A7-A7386B6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53084-7459-486F-A9BB-61DE87E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6572250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ff44e66bf3427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C8742-68A3-4A66-9BF8-990A0A3F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81150"/>
            <a:ext cx="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01A0F-424C-45CB-99D9-0EC7D085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23.7%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1C69-F4B5-4B0F-BA8D-9B426DA7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上涨股票占比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15B12-DA4E-4949-92D8-2F214D65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81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-12.7%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7239A-15D5-4995-A257-166DFBA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个股收益中位数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314B3-2666-4DE8-8609-A1A1609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代表公司｜6月涨幅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2C8DD-3126-4535-9A36-9D095EB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有研新材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6BEE1-2E2A-4CF2-89CB-14B7E36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76625"/>
            <a:ext cx="20606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0307C-1CBD-48B9-AF1D-43400638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29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+144.2%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49A67-FA58-40BC-9FBD-3A3115DC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正帆科技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04174-B530-40DA-8CF9-44D6F9BE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153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4367A-8F8A-401A-AD36-CE0F3364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57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+107.5%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C37BF-1866-4421-8877-2469654B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中国巨石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5C1B1-3BC0-4248-A51A-9715AAB4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33875"/>
            <a:ext cx="12885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2732A-F7E7-4DD8-BBFE-74A1D903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+90.2%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B7868-0B72-4403-905E-7B13B0B3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兆易创新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D18A1-5B10-4702-B6A0-03F5F5C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05935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804C1-F59A-4E6A-BD26-2CE6F5B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14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+74.1%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215BC-3ED5-4448-9976-5CB6A0F4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亨通光电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22ED9-627D-494B-ABC8-5D31EE35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6387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11319-EB0A-4736-83D1-58105DF5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+44.7%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99FA3-7597-448A-A1AE-C70B4CE8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科创板月末5日均成交额较月初扩大36.3%，创业板扩大20.5%。</a:t>
            </a:r>
          </a:p>
        </p:txBody>
      </p:sp>
    </p:spTree>
    <p:extLst>
      <p:ext uri="{BB962C8B-B14F-4D97-AF65-F5344CB8AC3E}">
        <p14:creationId xmlns:p14="http://schemas.microsoft.com/office/powerpoint/2010/main" val="1376316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29B36-E446-40F7-8262-46818E0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7月暴跌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B5205-AB92-4B14-8B3C-4E32E40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7月是科技拥挤交易的逆转，而不是所有中国资产同步下跌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FFA69-573B-4158-B8E6-5713A479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C593-E907-4A70-8E12-A2ADA87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8ACF0-0C04-4FE7-BE73-A00CBD8D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66675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1f8eedf3fd4d3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91C43-BAB4-41AA-888E-82CB456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81150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5327-FBDF-4F44-B3B8-F57B0042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海外市场｜7月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E46B6-3287-4824-A426-A802307C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16BE6-0E32-437B-B7DA-A125CCCA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韩国综合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F830B-12B9-4260-85D4-2363F6DB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-20.6%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F974C-B8C9-4262-BBC4-B5D56FF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5B174-7F9E-403B-A12C-E31A829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622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日经225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13AA4-A5B8-407B-BFBD-965556B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-8.7%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AC1E4-250C-403E-B964-763705C0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432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D705C-0F74-4CE5-90BE-CF963C9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台湾加权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08337-BA8D-4249-8CA1-D8071AC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9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-8.3%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1E708-6CCF-4CF7-8A9D-81ACF49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44AC5-4DD6-4558-BB2F-4065E1F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575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纳斯达克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EB023-55DE-4E5D-BDB8-0515751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57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-2.6%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77548-12A3-43A5-8FC8-47D2D216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38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587D6-7F8E-408F-BEE9-CE6F5ADB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恒生科技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1B668-5A87-47A1-86E6-D3DB0FA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+8.4%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71CED-6330-43B4-8058-D7C7F1FF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D4DB7-4388-46CA-8F08-D1F886AA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52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恒生指数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0E2FF-AEBE-4F0B-97C5-B42CC03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+12.3%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31F66-6FE8-4B21-8AEC-AC9EEFDF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3524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A36D3-7EFC-47F2-8CEE-C0F1BDE1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86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恒生指数 +12.3%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E8EFB-52FD-4B85-89BE-9DCE398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10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冲击集中在全球AI/芯片链，而非所有中国资产。</a:t>
            </a:r>
          </a:p>
        </p:txBody>
      </p:sp>
    </p:spTree>
    <p:extLst>
      <p:ext uri="{BB962C8B-B14F-4D97-AF65-F5344CB8AC3E}">
        <p14:creationId xmlns:p14="http://schemas.microsoft.com/office/powerpoint/2010/main" val="1716783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8FB92-DAA5-4611-8E4C-328CB47E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7月交易机制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CB5DB-0E9C-489B-9D90-03AD2850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两次“暴跌”不是一回事：7·17杀广度，7·28杀权重成长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A1931-60D9-4680-8A6F-BA0E47BB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96FF-B497-48BE-B1AD-8208ACF0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63EEC-62D9-4ABA-9CD4-F48DD5D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57C93-1D51-4568-8662-02371CD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D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6C705-C7CC-4273-9710-6D8C08F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1F485-FE0D-47A3-89DB-240449A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337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D3CF4-1105-4DD4-B157-1E10CA4C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772AE-DF18-47C1-808A-59E861A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07/17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2CC41-8801-4526-BA5D-29E9F3F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广度型风险释放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131BF-12FF-4A20-923B-42E2CF0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上证 -3.05%｜深成 -5.40%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3C7D6-B0E4-46A6-B277-C671485C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海外半导体抛售、交易去杠杆与获利兑现共振；风险从成长扩散到大盘。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ACE1A-CF57-4305-9569-98EA83D5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07/28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86931-41ED-4F20-B71E-269EF41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权重科技集中踩踏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CDBB2-3BBD-4F13-A329-94FCEB9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86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创业板 -7.35%｜科创50 -6.33%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FCAC9-5C32-4A99-878C-A7FABBAC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148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上涨与下跌家数接近，说明指数暴跌主要由权重成长拖动，而非全市场同幅下杀。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8BA0E-A6B8-443F-9ADD-0E647E2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07/30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1F2CF-DC52-4715-A8DB-1619EF2B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防御与消费承接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D53B5-96DC-4203-A683-FCD0DB18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86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成交额回升至2.35万亿元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3AECD-A739-41CE-AF51-47FB754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资金发生快速换仓，但随后量能再度走弱，增量资金没有形成稳定回流。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E8F37-BB0E-4A55-8E73-85F9BF96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6946F-FA3B-491A-99FB-6BAADD6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成交额从7月1日3.66万亿元降至7月24日1.93万亿元：下跌同时伴随增量资金撤退。</a:t>
            </a:r>
          </a:p>
        </p:txBody>
      </p:sp>
    </p:spTree>
    <p:extLst>
      <p:ext uri="{BB962C8B-B14F-4D97-AF65-F5344CB8AC3E}">
        <p14:creationId xmlns:p14="http://schemas.microsoft.com/office/powerpoint/2010/main" val="1326854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CDEA5-5A55-48C5-8CB4-2E2CC40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8月反弹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DA885-13B4-415A-861F-86DBF8E5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8月反弹广度更健康，但量能峰值领先于指数见顶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D3440-0440-4C60-B7A1-19CCF4D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CDC9B-073C-4C20-A75F-EF426DBA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49F17-53DA-4FED-99D2-879E206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7524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69fa4be869467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5E204-9073-458F-B80E-2174AF1A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8月3日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B723-43DE-4FFE-880B-0B1DC8D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12573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9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D4E99-CDE2-4A23-AFD3-70332A4E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002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8/19 成长集中下杀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8A58A-C9F3-4B2F-BFBD-45D51B5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DCA8E-678A-44B5-961C-58C793F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72.6%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AAC01-104E-4851-A748-6A1A73AA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反弹期上涨家数占比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1C68-47B9-4FE3-8E6C-A7FA1E11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个股中位数 +4.8%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526ED-8A86-49AE-9035-8B19F6F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2.67万亿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13BE0-6871-43DB-9E92-D261CD0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反弹期成交额峰值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4F7CC-9D67-4F93-9860-8D3DCEA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8月7日出现，随后未抬升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E3525-0E59-4C50-8F83-5D9384D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-6.89%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324D7-2B8A-4760-A8D6-7976D7A4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387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科创50｜8月19日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22581-40D9-42C6-82F4-150C825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62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海外半导体与长端利率冲击传入</a:t>
            </a:r>
          </a:p>
        </p:txBody>
      </p:sp>
    </p:spTree>
    <p:extLst>
      <p:ext uri="{BB962C8B-B14F-4D97-AF65-F5344CB8AC3E}">
        <p14:creationId xmlns:p14="http://schemas.microsoft.com/office/powerpoint/2010/main" val="1531396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D7F8B-8B79-48AE-B142-618E50A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8月风格切换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0BA87-A586-4A29-85C0-B2B1A71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8月19日后，风险偏好重新让位于油气、银行、煤炭和黄金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081B-480F-4375-BC0F-EBC838C0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1421B-8437-45EB-AF17-B12E0371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BB565-E628-44B9-8213-059269A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62865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1905000"/>
                <a:gridCol w="1905000"/>
              </a:tblGrid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8/3—18反弹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8/18—21转弱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+23.2%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-6.7%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+17.9%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-4.0%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机械设备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+13.8%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-5.1%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建筑材料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+13.5%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-4.9%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医药生物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+8.8%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石油石化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+2.7%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+2.4%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-3.7%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+1.9%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煤炭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+5.9%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</a:tr>
              <a:tr h="419100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有色金属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+9.7%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1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E1A1E-C646-4CC1-A4B7-BD5FB77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6ADD2-1646-4570-B3F2-27B57F5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573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风险传导链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9CE4D-5873-4054-A84D-0D35636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7177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28EAD-F710-4A49-8A4C-816579A8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C28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C8C65-4422-4FD9-A6F7-38F17BE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油价 / 地缘上行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29BB9-08D4-4919-B81B-447A72E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输入型通胀压力增强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659BA-DDFC-4718-84B6-6CA454CA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40AF1-E428-4D06-8145-4E0EE88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F29B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55CA1-C280-4A66-ACA2-F10D827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rPr>
              <a:t>通胀预期抬升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FF41F-4EFA-4396-B9E9-0E986CD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降息路径分歧扩大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0D5CC-78E7-4FF9-A6D1-6C1BB156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6885D-AF15-494F-8666-12318063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D94B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E0392-B29F-48E7-8E7F-1921A98D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长端利率上行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1CAA9-D416-45DA-8E8F-D9391E54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全球成长估值受压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A7318-05C1-4866-B300-DE4A1764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81550"/>
            <a:ext cx="381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9050">
            <a:solidFill>
              <a:srgbClr val="1680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22B6E-5792-4EC9-B953-5430C25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76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防御资产接棒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5092C-A7CC-40B2-98FC-CD2F25C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76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油气、银行、煤炭、黄金相对占优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B8C88-073E-4CBF-B8B9-0D673DE7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81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山东黄金在8月转弱段 +21.0%，显著强于宽基指数。</a:t>
            </a:r>
          </a:p>
        </p:txBody>
      </p:sp>
    </p:spTree>
    <p:extLst>
      <p:ext uri="{BB962C8B-B14F-4D97-AF65-F5344CB8AC3E}">
        <p14:creationId xmlns:p14="http://schemas.microsoft.com/office/powerpoint/2010/main" val="1308253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0891A-1941-43FB-B020-2FBF480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IPO资金占用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F5CBF-0459-4697-881F-3F853AE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IPO不是7月下跌的根因，但大型科技IPO会吸附同赛道流动性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C6163-689B-401F-A1CF-85513AB6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C3A77-C003-4E90-ACB5-73909FC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E5FF7-E36E-47E7-97A1-B373F6B9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619125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238250"/>
                <a:gridCol w="1809750"/>
                <a:gridCol w="1714500"/>
              </a:tblGrid>
              <a:tr h="547688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月份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新股数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募集资金/亿元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募资÷市场成交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</a:tr>
              <a:tr h="547688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+0.057%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2026-07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810.4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+0.131%</a:t>
                      </a:r>
                    </a:p>
                  </a:txBody>
                  <a:tcPr marL="91440" marR="91440" marT="45720" marB="45720" anchor="ctr">
                    <a:solidFill>
                      <a:srgbClr val="F2F4F7"/>
                    </a:solidFill>
                  </a:tcPr>
                </a:tc>
              </a:tr>
              <a:tr h="547688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200" b="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+0.043%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F59FA-8606-44B1-BA57-0DF16C9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直接融资规模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50BCF-277F-4A4D-95AE-EC57F50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0.131%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C2EB-9B36-4D53-B83F-ACB18496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7月IPO募资 / 当月沪深成交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30DAC-9313-47F2-94D0-37E4973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直接融资不足以单独解释暴跌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3995E-7CFB-4085-86A1-0D7A0CB8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811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D2CFF-0FD3-4DB9-BB0F-B81586D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57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长鑫科技｜注意力与换手吸附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38C51-E2A6-4983-AA94-A330897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666.1亿元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442A6-4D2F-4135-B3E5-48C8CDD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募集资金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16636-CB8D-4580-B7B8-AEFEEDA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占7月IPO募资82.2%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081D2-CD92-4C2A-B950-44AD8C78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1,411.9亿元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91E56-F965-49B6-A032-EC3B2D5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首日成交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53E19-29C1-4571-B91A-BF6A98B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占当日全市场6.8%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DD1DA-FB5A-4926-9F3A-F87F4FE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62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9B38"/>
                </a:solidFill>
                <a:latin typeface="Microsoft YaHei"/>
                <a:ea typeface="Microsoft YaHei"/>
                <a:cs typeface="Microsoft YaHei"/>
              </a:rPr>
              <a:t>3,254.7亿元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5948A-B1E8-42B0-ACA1-BB4FE32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前5日累计成交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E4750-87CF-416F-BDDF-A8D65C3B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交易吸附远大于直接募资占比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1F02E-E4BE-4C82-B072-D9767C80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7F802-4913-416C-BE62-028EFEC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006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T日无需预缴 → T+2仅中签/获配资金缴款 → 募集资金离开二级市场 → 上市后高换手吸附注意力</a:t>
            </a:r>
          </a:p>
        </p:txBody>
      </p:sp>
    </p:spTree>
    <p:extLst>
      <p:ext uri="{BB962C8B-B14F-4D97-AF65-F5344CB8AC3E}">
        <p14:creationId xmlns:p14="http://schemas.microsoft.com/office/powerpoint/2010/main" val="1009480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44050-BB6D-4ABC-84D3-EC751D69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核心公司热力图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D4DF9-7E8F-4F2F-9227-34B442D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同一家公司跨阶段反向波动，轮动本质是风险因子切换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9FC25-DBB8-4EBD-B00D-C9977A73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73807-00B7-4E08-86F7-C5A97EE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B3D5D-67B2-4EB7-877E-54541A4D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12FC8-EA49-4FB6-87DE-2185931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蓝/绿＝正收益｜橙/红＝负收益；成长组与防御组按阶段角色重新排序。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428750"/>
                <a:gridCol w="1428750"/>
                <a:gridCol w="1619250"/>
                <a:gridCol w="1619250"/>
                <a:gridCol w="1524000"/>
                <a:gridCol w="1581150"/>
              </a:tblGrid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8月反弹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8月转弱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6月至今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marL="91440" marR="91440" marT="45720" marB="45720" anchor="ctr">
                    <a:solidFill>
                      <a:srgbClr val="252D3A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兆易创新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+74.1%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-51.0%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+28.2%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-12.6%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-59.4%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有研新材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+144.2%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-41.0%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+74.1%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-6.0%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+98.9%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-50.2%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中国巨石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+90.2%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-46.2%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+31.9%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-6.4%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+9.7%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-54.0%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亨通光电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+44.7%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-53.3%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+38.1%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-4.9%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-17.7%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-61.6%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正帆科技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+107.5%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-40.6%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+63.1%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-6.6%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+74.0%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-50.0%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天孚通信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-29.4%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-40.0%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+61.5%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-36.3%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-67.8%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中材科技</a:t>
                      </a:r>
                    </a:p>
                  </a:txBody>
                  <a:tcPr marL="91440" marR="91440" marT="45720" marB="45720" anchor="ctr">
                    <a:solidFill>
                      <a:srgbClr val="EAF2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+40.5%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-51.4%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2F6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+49.0%</a:t>
                      </a:r>
                    </a:p>
                  </a:txBody>
                  <a:tcPr marL="91440" marR="91440" marT="45720" marB="45720" anchor="ctr">
                    <a:solidFill>
                      <a:srgbClr val="D9E6F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-15.8%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-58.7%</a:t>
                      </a:r>
                    </a:p>
                  </a:txBody>
                  <a:tcPr marL="91440" marR="91440" marT="45720" marB="45720" anchor="ctr">
                    <a:solidFill>
                      <a:srgbClr val="F6D6D6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C28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中国神华</a:t>
                      </a:r>
                    </a:p>
                  </a:txBody>
                  <a:tcPr marL="91440" marR="91440" marT="45720" marB="45720" anchor="ctr">
                    <a:solidFill>
                      <a:srgbClr val="FFF4C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+15.7%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+4.5%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+1.6%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-5.3%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-23.1%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C28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农业银行</a:t>
                      </a:r>
                    </a:p>
                  </a:txBody>
                  <a:tcPr marL="91440" marR="91440" marT="45720" marB="45720" anchor="ctr">
                    <a:solidFill>
                      <a:srgbClr val="FFF4C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-6.5%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+14.0%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+2.7%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+4.5%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-13.2%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C28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中国石油</a:t>
                      </a:r>
                    </a:p>
                  </a:txBody>
                  <a:tcPr marL="91440" marR="91440" marT="45720" marB="45720" anchor="ctr">
                    <a:solidFill>
                      <a:srgbClr val="FFF4C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-19.8%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+26.9%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+2.6%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+3.5%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-20.7%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C28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泸州老窖</a:t>
                      </a:r>
                    </a:p>
                  </a:txBody>
                  <a:tcPr marL="91440" marR="91440" marT="45720" marB="45720" anchor="ctr">
                    <a:solidFill>
                      <a:srgbClr val="FFF4C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-14.2%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+16.6%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-1.6%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-5.8%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-17.1%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  <a:tr h="331177"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C28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山东黄金</a:t>
                      </a:r>
                    </a:p>
                  </a:txBody>
                  <a:tcPr marL="91440" marR="91440" marT="45720" marB="45720" anchor="ctr">
                    <a:solidFill>
                      <a:srgbClr val="FFF4C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-21.5%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+21.6%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+10.6%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+21.0%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1680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+26.0%</a:t>
                      </a:r>
                    </a:p>
                  </a:txBody>
                  <a:tcPr marL="91440" marR="91440" marT="45720" marB="45720" anchor="ctr">
                    <a:solidFill>
                      <a:srgbClr val="E9F6F0"/>
                    </a:solidFill>
                  </a:tcPr>
                </a:tc>
                <a:tc>
                  <a:txBody>
                    <a:bodyPr lIns="57150" tIns="28575" rIns="57150" bIns="28575">
                      <a:normAutofit/>
                    </a:bodyPr>
                    <a:lstStyle/>
                    <a:p>
                      <a:pPr algn="r"/>
                      <a:r>
                        <a:rPr sz="1125" b="0">
                          <a:solidFill>
                            <a:srgbClr val="D94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-23.2%</a:t>
                      </a:r>
                    </a:p>
                  </a:txBody>
                  <a:tcPr marL="91440" marR="91440" marT="45720" marB="45720" anchor="ctr">
                    <a:solidFill>
                      <a:srgbClr val="FFF1D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6564A-0E81-435D-A6B6-1A64AE2D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391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06063-78F6-4394-8A7D-41DA640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352550"/>
            <a:ext cx="66675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成长组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E208C-8708-4501-8B17-618C3B6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52550"/>
            <a:ext cx="66675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防御组</a:t>
            </a:r>
          </a:p>
        </p:txBody>
      </p:sp>
    </p:spTree>
    <p:extLst>
      <p:ext uri="{BB962C8B-B14F-4D97-AF65-F5344CB8AC3E}">
        <p14:creationId xmlns:p14="http://schemas.microsoft.com/office/powerpoint/2010/main" val="322264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E8FCD3-49E0-4623-AEDC-70D6175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公司深描｜成长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6CAD3-DCA7-4962-A20B-9C0185E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成长组：业绩弹性并未消除估值与拥挤度风险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215E1-598A-4C52-95E3-04EB46FF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F836B-B394-4458-85E6-73B13AF8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2278B-5644-4CCF-BBF2-182E87B7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362ce78f4558"/>
          <a:stretch xmlns:a="http://schemas.openxmlformats.org/drawingml/2006/main"/>
        </p:blipFill>
        <p:spPr>
          <a:xfrm xmlns:a="http://schemas.openxmlformats.org/drawingml/2006/main">
            <a:off x="819150" y="15240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B33B4-9DE3-4DC3-813E-BB6B191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兆易创新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E963D-95C9-4D87-9F20-158F6D59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存储器、MCU、传感器与模拟芯片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138C3-048E-447C-A58F-69497A73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+74.1% → -51.0%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52995-50FC-4D52-8900-1A2C6AF4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6月 → 7月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FDC6E-B771-4B30-AB2E-0D0E8B1F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68BE-B0E8-4443-8792-8818E28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36.2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8E04C-43DE-43CC-A434-1244C83C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BCF97-F81B-461F-BB08-914B5E62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3BD0D-74D9-4299-B66E-B49ACCA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+229.2%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D9482-EEA5-42AF-96CF-057B250E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3EEA9-B743-4EBA-9E02-6A2C3E2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6AE4A-6976-4492-B26E-5BE8D154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62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+1483.0%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B7A29-8677-493F-800D-419D510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D2E3F-87CA-4412-90E2-47D7EF5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41B97-C40B-4101-AB18-94CDE211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86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-59.4%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F3DC0-EFDD-4C87-9954-907F58CC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C440D-987B-4FCB-A2F8-E3870933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3c3c47a0746dd"/>
          <a:stretch xmlns:a="http://schemas.openxmlformats.org/drawingml/2006/main"/>
        </p:blipFill>
        <p:spPr>
          <a:xfrm xmlns:a="http://schemas.openxmlformats.org/drawingml/2006/main">
            <a:off x="4238625" y="1713672"/>
            <a:ext cx="1524000" cy="306457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14843-7EF0-4932-8223-F230FD6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中国巨石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FB3A0-82B7-4350-8628-78A6B58E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玻璃纤维及制品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D8BE3-092F-40C4-A243-4028102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575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+90.2% / +31.9%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638C3-D47F-4013-86D7-A323B74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86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6月 / 8月反弹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5A2D0-52F9-4A63-AFD2-52DDDCFF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26AA0-42C3-4943-AA9B-176B2D72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37.1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B67D9-C9D4-4CE0-BE5A-66E4CF84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815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D0938-2891-47BE-8549-81D22280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F89ADF-A94F-4AAB-A81C-0715D223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38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+26.9%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627DC7-AD66-45EC-9455-C8CDF0B2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DD3F0-A630-42CB-BA65-B3596114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62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773AE7-6FC4-4E55-A96F-CFC9FE9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+74.2%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DC0842-6EE7-4036-9918-BF0CE47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292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69E1BD-FC98-4040-B257-61EF48C0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50CB7F-8CF8-441A-AC40-B5B5F3FC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86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-54.0%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F42276-E7AA-4BEF-814A-FD41D06B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753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AF7E4B-F314-4804-AE17-6AAECEE0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8db2a89244335"/>
          <a:stretch xmlns:a="http://schemas.openxmlformats.org/drawingml/2006/main"/>
        </p:blipFill>
        <p:spPr>
          <a:xfrm xmlns:a="http://schemas.openxmlformats.org/drawingml/2006/main">
            <a:off x="8496300" y="15240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F481C2-FBD6-48EA-82D2-6D18756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天孚通信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CD553D-D5F2-4B66-B78B-597599BC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光通信无源器件与高速光引擎部件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BA6069-88F1-45FA-A093-A25F0A2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+61.5% / -36.3%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E7B315-C053-484F-B3C4-3CAA0BD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8月反弹 / 6月至今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161C55-AEF6-40CA-AC27-1BBAE7D1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FFFFEC-BED3-460C-BFA0-AD1B24A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14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128.3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6DC063-AA64-429B-89F6-E72F9416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25E938-52CC-4933-9767-F4758ED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8075F-C01C-4B0C-8FC7-7D9E1282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38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-0.9%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23A7CA-0BF9-4836-BBB6-5C231DFF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F5D573-3220-407E-BC29-A907F48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2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204E36-0869-466C-A1B7-D334954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62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+26.8%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8ABD20-7730-4678-8B8F-0260C2B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292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86EFBD-8A47-45FE-AC05-C51695A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0DF5E0-2ACB-42E8-A0C0-3BD341E5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486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-67.8%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A3EFA8-65B5-4ADF-BB7E-CF36E88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8E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892AD0-FCAA-4164-BED5-75715351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D3A"/>
          </a:solidFill>
          <a:ln xmlns:a="http://schemas.openxmlformats.org/drawingml/2006/main" w="0">
            <a:solidFill>
              <a:srgbClr val="252D3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76BB00-77AF-422D-803C-0CA7949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共同风险：估值、拥挤度、海外AI资本开支与长端利率；盈利改善并不等于回撤风险下降。</a:t>
            </a:r>
          </a:p>
        </p:txBody>
      </p:sp>
    </p:spTree>
    <p:extLst>
      <p:ext uri="{BB962C8B-B14F-4D97-AF65-F5344CB8AC3E}">
        <p14:creationId xmlns:p14="http://schemas.microsoft.com/office/powerpoint/2010/main" val="10372854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CB577B-D0F1-4C2C-8BDA-05D6871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公司深描｜防御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5BECB-3B45-4DA5-A4DA-1425DDB0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防御组不是同一笔交易：红利、油价、低估值与金价分别定价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FFA7F-1C88-494F-A8AC-E74D2E7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30C95-8306-4A24-A3CA-9F91599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7142F-B8F3-4094-A6A9-EAE4109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bfe76c90b43a8"/>
          <a:stretch xmlns:a="http://schemas.openxmlformats.org/drawingml/2006/main"/>
        </p:blipFill>
        <p:spPr>
          <a:xfrm xmlns:a="http://schemas.openxmlformats.org/drawingml/2006/main">
            <a:off x="611619" y="1524000"/>
            <a:ext cx="719862" cy="781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CBEE-B9B4-4B7B-8256-B43D77F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中国神华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5C278-1681-49ED-B25D-B97866E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7月煤炭/红利防御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472FD-33B0-422F-814E-B1AF99E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+15.7%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F8CB4-F426-40CB-9021-6CCAAF63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1476-7BEE-4705-9BC8-D5BDA897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9FF27-7810-4790-8E24-A5D830E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19.5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9AF71-945F-4789-9E16-4B582EA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7B15C-E3A9-4D4F-9422-71AB78A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+1.2%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10EBD-8DB9-4E18-A2D0-3401044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0C642-B0D2-4979-AB30-AB90C50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-10.7%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58F56-F81C-4962-A28C-F7DF7C7A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6月至今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F5D04-44F5-4D8C-89E8-9FD748B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48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-5.3%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88B08-5DE1-4637-AC24-DF4FD8A9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f9ee0761a4d3e"/>
          <a:stretch xmlns:a="http://schemas.openxmlformats.org/drawingml/2006/main"/>
        </p:blipFill>
        <p:spPr>
          <a:xfrm xmlns:a="http://schemas.openxmlformats.org/drawingml/2006/main">
            <a:off x="3429000" y="15240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74D35-1B29-4A7E-A98B-61E7189F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193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中国石油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32868-6E9C-4B50-A826-832B941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813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7月油气与地缘映射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553A1-7909-4592-97AF-6A3C77F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+26.9%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80C30-9E17-44FA-985A-22924556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62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A2BC2-BCD0-4D96-B65E-5F833832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33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E079B-4888-4307-8C85-D2EE455A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13.0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5B31D-BC06-4118-9849-B031BED3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38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7ED1F-BBC1-4145-BD7A-277932F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-2.2%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0CC93-4DAF-4DBD-8D66-A27827B5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143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61786-0DB2-433B-866D-0962CB0D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+1.9%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AA2CE-2252-494A-82A9-D868C6A7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448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6月至今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D8F5C-9169-468C-8C5C-9C365F7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48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+3.5%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A7158A-60FD-4C07-BADD-1DAE384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f02e9a6244af2"/>
          <a:stretch xmlns:a="http://schemas.openxmlformats.org/drawingml/2006/main"/>
        </p:blipFill>
        <p:spPr>
          <a:xfrm xmlns:a="http://schemas.openxmlformats.org/drawingml/2006/main">
            <a:off x="6276975" y="15240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57D49-519D-4F02-9407-5A84CF1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农业银行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7D8FA-80B4-488B-AFD9-25A38E4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7月银行防御/指数稳定器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318D2A-4505-45E0-ABDD-A5E68DD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805B"/>
                </a:solidFill>
                <a:latin typeface="Microsoft YaHei"/>
                <a:ea typeface="Microsoft YaHei"/>
                <a:cs typeface="Microsoft YaHei"/>
              </a:rPr>
              <a:t>+14.0%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7D28DB-585A-4907-B86E-D8B9DE3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7月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471155-EAE8-48E9-AD60-ECFDB3B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BCE22-EF17-4760-A988-BCB511D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8.1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E87EDB-3DEB-4F1E-B4E8-BC051B1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A4059A-F80A-4D72-AC5C-75ABD7FD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+10.5%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A9478A-366B-4865-A6DB-F2667D7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CE285C-797F-4478-9748-AA36EB6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B4039C-7FCD-42DD-8817-8E1A949B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6月至今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3A8F2A-8048-4643-9FE1-E2649EFA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48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+4.5%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7DE135-B32B-4F2A-A488-C87F1BD0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75bd5e1a44084"/>
          <a:stretch xmlns:a="http://schemas.openxmlformats.org/drawingml/2006/main"/>
        </p:blipFill>
        <p:spPr>
          <a:xfrm xmlns:a="http://schemas.openxmlformats.org/drawingml/2006/main">
            <a:off x="8943975" y="1615916"/>
            <a:ext cx="1143000" cy="597218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78B488-C415-49D3-8C3B-06B5803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193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山东黄金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39198D-5512-4DCD-B958-7E69B0D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813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8月转弱后的黄金防御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87BB2C-340F-48F9-B3BE-D8F24B2B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28A00"/>
                </a:solidFill>
                <a:latin typeface="Microsoft YaHei"/>
                <a:ea typeface="Microsoft YaHei"/>
                <a:cs typeface="Microsoft YaHei"/>
              </a:rPr>
              <a:t>+21.0%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AAB52E-D608-4BF4-8F2F-F3D8D785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962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8月转弱段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6F6D32-2492-46BF-82B3-DBD3540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33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PE(TTM)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2CCB4E-84E1-4DD5-8AD0-DB5D535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33.1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40256B-7FC3-48AA-BEC5-4E27172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838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营收同比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FF1548-B4D8-4D36-A74B-609F799D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+25.4%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779B2A-360F-4541-9272-20B27D4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43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净利同比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B33C5B-2462-4C65-92EC-0267B83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143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+40.9%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EE5E1F-526D-44B9-9AE2-25D67B9E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48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6月至今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6FFABD-CF56-4147-B8ED-3605742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48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+26.0%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2A4058-3762-4646-9F3A-6A2DDB6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F"/>
          </a:solidFill>
          <a:ln xmlns:a="http://schemas.openxmlformats.org/drawingml/2006/main" w="9525">
            <a:solidFill>
              <a:srgbClr val="C28A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940159-F0B1-4504-8508-87D2EBC5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选择防御资产时仍需区分驱动：煤炭看现金流与分红，油气看商品价格，银行看净息差与资产质量，黄金看金价与成本。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343428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8768C2-54F1-4C37-8B1B-ED2E221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9月观察框架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BEDE9-ED30-4D83-AEF7-7109D242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9月不必先猜方向，只需确认量能、广度与外部利率是否同向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3F2CA-FB48-471D-9E72-FAA3D4FD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29B56-3FBA-479F-B245-F61C1CA5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65CE5-06E2-4D54-A40D-24C283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数据截至 2026-08-21｜来源：附件工作簿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6BC21-5826-4906-B94B-533E21F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9/9—10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0D00D-34C7-4B54-91D3-C3D48DE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ECB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E5DC-86AF-4289-B298-0740CBCB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能源冲击与通胀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欧债收益率 / 欧元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B45DC-D18A-45E1-AE5B-B7BD6480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D3D84-73C4-4D74-9FA7-5AF96E7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9/15—16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D6856-E195-4663-8E68-7FEE896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19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Fed + SEP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081F7-E3DE-460A-AE37-9E88A879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908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利率路径分歧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美元 / 美债 / 科技估值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B7BB0-4DC1-4F7D-916E-A720301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88958-32CF-4432-9AB4-5C122B8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9/17—18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A34AC-116E-408E-BFD5-CEA011EE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BOJ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FB1E4-E557-439F-9862-203E87C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加息路径与套息交易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日元 / 日债 / 亚洲风险偏好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DE3FE-1920-4677-849E-DC519B1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240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13967-4360-48B7-87FA-E408A47A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19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9月中旬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B5B31-C9B4-48C0-A0BC-D0207C5A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19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中国8月数据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9DB76-2590-49A6-B3DB-632F668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908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消费、投资、地产、工业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顺周期需求验证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D5E93-6D15-4487-AB28-B796D9B6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D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7A9A3-52E3-4CF8-822C-FFF000F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四个确认问题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2DF9E-AAC1-4B11-905D-C915311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61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F6ECE-1BA4-446C-BD47-D80EC3AE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量能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9B942-2A4D-40B2-AFDB-854921E3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沪深成交额能否重新接近8月反弹期2.38万亿元中枢？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9FF7B-080A-4AA3-9B5A-4AD929B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361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019B8-1EC8-4E93-ABCF-00EA4A6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广度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BE73A-3ADB-457E-A1F9-FE89F99C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上涨家数能否持续超过半数，而非仅由权重托举？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B2754-9AF7-4DF9-B62D-3302334B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361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7E6FA-3E19-4CDD-BEFB-79ED2F9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风格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7A8EA0-327C-475D-AACD-E8661F80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电子/通信能否重新领先，还是油气/银行/煤炭继续占优？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BD259-A812-4864-A75C-6153EBCF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361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39A82-000A-4DB5-9EA4-D660D17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外部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76F3E-1E4F-4AF4-8690-D6FA22D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油价与长端美债收益率是否回落，解除成长估值压力？</a:t>
            </a:r>
          </a:p>
        </p:txBody>
      </p:sp>
    </p:spTree>
    <p:extLst>
      <p:ext uri="{BB962C8B-B14F-4D97-AF65-F5344CB8AC3E}">
        <p14:creationId xmlns:p14="http://schemas.microsoft.com/office/powerpoint/2010/main" val="1546606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387A7-0147-4E9E-AE1A-82A81DF6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EA41C-0A12-494C-9157-AFEBE5A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057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真正的分水岭不是指数涨跌，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而是量能与上涨家数能否同时修复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B9733-FA51-48F2-886B-67DF01A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2D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B812-F509-4D49-A11C-3E49492A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不把反弹当趋势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F15C7-0AD0-4C9B-B126-C5F1B64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确认增量资金是否持续回归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104B9-83E1-4654-B450-404221ED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00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65CF-7C8E-4A43-9D34-640B6A8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24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不把防御当永续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BCD0F-3F1D-4E38-B724-4C1E8CF1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577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区分红利、油价、低估值与金价驱动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CBC14-BE44-4057-9884-7F12077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2FA5C-87E0-4709-BC0A-4F5658C3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把风险预算绑定证据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27101-A473-4873-863C-E7A6415C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量能、广度、外部利率三者同向才提升胜率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C59C6-2253-4905-B8E3-DBF3606C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A股6月至今量价与板块轮动深度分析｜2026-08-21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38760-7A5E-4213-9B69-3A0C7A1D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946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2026-08-21T14:32:24.9150000Z</dcterms:created>
  <dcterms:modified xsi:type="dcterms:W3CDTF">2026-08-21T14:32:24.9150000Z</dcterms:modified>
</coreProperties>
</file>